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(Aisha, 30 sec). Do not read the title. Say: 'Nike sells a swoosh. Gully Labs sells a street in Delhi. Same category, different strategy question - can culture be a defensible advantage?' Point at the photo: two founders, one manifesto. Hand to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Aisha, 45 sec. Run the show of hands FIRST, count out loud - that gap is the case. Then the four sections and who speaks when; do not read the syllabus line, say it is mapped in the written study. End on the italic question, read slowly.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Aisha, 60 sec. Three claims, not a node-by-node timeline: (1) 20 lakh to 2.9 crore to 16 crore expected - 80x in two years off a tiny base; (2) they own factory AND store, against everyone's advice; (3) their X following is 3,640 - reach is reels and word of mouth, which matters later. Flag the bestseller price Rs 8,900 - Air Force 1 territory.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Aisha, 60 sec. Framing line: 'A mission is a statement; a policy is the rule that stops you breaking it.' Give one example per policy type, do not read all four. Land the culture point: the manifesto does the work an SOP manual does at a big firm - and slide 13 shows the day that stopped being enough.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Aisha, 60 sec. Do not read the rows. Deliver only the implication column for P, E and L. The killer fact is GST: Sep 2025 cut footwear under Rs 2,500 to 5% but left everything above at 18%, and 100% of Gully Labs' range is above. End on the italic net read.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Rohan, 55 sec. Walk the five steps once, then the ladder: '100 rupees in, 11 left - the whole business case on one line.' Two claims: 56% gross proves pricing works; 35% marketing proves the brand doesn't pull. Remember-line: they ran out of karigars before they ran out of demand.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Rohan, 80 sec. Move 1 - the orange-underline fact: they are the most expensive Indian sneaker company that is not a volume player. Move 2 - ask the room which force is strongest, wait, reveal buyer power: switching cost is literally zero. Close on the italic verdict.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Rohan, 80 sec. 4Ps in one breath: premium product, premium price, owned place, community promotion - four Ps pointing the same way is what consistency looks like. SWOT: one item per quadrant out loud - factory; 11%; diaspora; Comet's balance sheet. Hand to Meera.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Meera, 55 sec. One idea: three growth strategies at once and one refused - read the red row aloud. Levels in one breath: where / how / who. Finish on the tension box; it sets up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Meera, 65 sec. Quiz first: 'Where do socks and jerseys sit?' - question mark now, dog if unfocused; accessories only work if they lift AOV. Then the marks-line about BCG vs GE. Don't explain the matrices; the room knows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Meera, 65 sec. Three beats: name two challenges (craft scaling, Rs 85 lakh); design thinking - first product was a Rs 1,000 prototype of a Rs 6,000 shoe; blue ocean - read the four actions. If long, skip the bars and say 'capacity first, brand second'.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Kabir, 55 sec. Open with the why-BSC line. Read one row per quadrant. Be explicit: disclosed baselines vs our proposed targets - examiners reward that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Kabir, 65 sec. Open with the fraud story - true and memorable. Syllabus point: that was an operational-control failure; the strategic question is whether trust-culture survives 150 employees - you need both at different frequencies. Skim the audit; land the triggers 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Kabir, 60 sec. Vote first, count, say 'yes, conditionally'. One sentence per recommendation. Closing argument from the verdict column: culture is a moat only because of factory + karigars + store. That is the line the examiner remembers.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Kabir, 15 sec + Q&amp;A. Thank the room, invite questions; if silent, ask the verdict question yourself. Keep the five backups ready - funding and GST are the likeliest probes.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v3_cover.jpg"/>
          <p:cNvPicPr>
            <a:picLocks noChangeAspect="1"/>
          </p:cNvPicPr>
          <p:nvPr/>
        </p:nvPicPr>
        <p:blipFill>
          <a:blip r:embed="rId2"/>
          <a:stretch>
            <a:fillRect/>
          </a:stretch>
        </p:blipFill>
        <p:spPr>
          <a:xfrm>
            <a:off x="6309360" y="0"/>
            <a:ext cx="5882609" cy="6858000"/>
          </a:xfrm>
          <a:prstGeom prst="rect">
            <a:avLst/>
          </a:prstGeom>
        </p:spPr>
      </p:pic>
      <p:sp>
        <p:nvSpPr>
          <p:cNvPr id="4" name="Rectangle 3"/>
          <p:cNvSpPr/>
          <p:nvPr/>
        </p:nvSpPr>
        <p:spPr>
          <a:xfrm>
            <a:off x="6382512" y="73152"/>
            <a:ext cx="5733288" cy="6711696"/>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868680"/>
            <a:ext cx="512064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A BRAND STUDY &amp; STRATEGIC ANALYSIS · BUSINESS POLICY</a:t>
            </a:r>
          </a:p>
        </p:txBody>
      </p:sp>
      <p:sp>
        <p:nvSpPr>
          <p:cNvPr id="6" name="TextBox 5"/>
          <p:cNvSpPr txBox="1"/>
          <p:nvPr/>
        </p:nvSpPr>
        <p:spPr>
          <a:xfrm>
            <a:off x="822960" y="1280160"/>
            <a:ext cx="5486400" cy="1463040"/>
          </a:xfrm>
          <a:prstGeom prst="rect">
            <a:avLst/>
          </a:prstGeom>
          <a:noFill/>
        </p:spPr>
        <p:txBody>
          <a:bodyPr wrap="square" anchor="t" lIns="0" rIns="0" tIns="0" bIns="0">
            <a:spAutoFit/>
          </a:bodyPr>
          <a:lstStyle/>
          <a:p>
            <a:pPr algn="l">
              <a:lnSpc>
                <a:spcPct val="115000"/>
              </a:lnSpc>
              <a:spcAft>
                <a:spcPts val="0"/>
              </a:spcAft>
            </a:pPr>
            <a:r>
              <a:rPr sz="4400" b="0" i="0">
                <a:solidFill>
                  <a:srgbClr val="221B15"/>
                </a:solidFill>
                <a:latin typeface="Georgia"/>
              </a:rPr>
              <a:t>Culture as capital.</a:t>
            </a:r>
          </a:p>
        </p:txBody>
      </p:sp>
      <p:sp>
        <p:nvSpPr>
          <p:cNvPr id="7" name="TextBox 6"/>
          <p:cNvSpPr txBox="1"/>
          <p:nvPr/>
        </p:nvSpPr>
        <p:spPr>
          <a:xfrm>
            <a:off x="822960" y="2514600"/>
            <a:ext cx="5120640" cy="1097280"/>
          </a:xfrm>
          <a:prstGeom prst="rect">
            <a:avLst/>
          </a:prstGeom>
          <a:noFill/>
        </p:spPr>
        <p:txBody>
          <a:bodyPr wrap="square" anchor="t" lIns="0" rIns="0" tIns="0" bIns="0">
            <a:spAutoFit/>
          </a:bodyPr>
          <a:lstStyle/>
          <a:p>
            <a:pPr algn="l">
              <a:lnSpc>
                <a:spcPct val="130000"/>
              </a:lnSpc>
              <a:spcAft>
                <a:spcPts val="0"/>
              </a:spcAft>
            </a:pPr>
            <a:r>
              <a:rPr sz="1250" b="0" i="0">
                <a:solidFill>
                  <a:srgbClr val="8A8177"/>
                </a:solidFill>
                <a:latin typeface="Georgia"/>
              </a:rPr>
              <a:t>How Gully Labs is trying to build India’s first globally aspirational sneaker house — </a:t>
            </a:r>
            <a:r>
              <a:rPr sz="1250" b="0" i="1">
                <a:solidFill>
                  <a:srgbClr val="8A8177"/>
                </a:solidFill>
                <a:latin typeface="Georgia"/>
              </a:rPr>
              <a:t>and whether the strategy can survive scale, cash and competition.</a:t>
            </a:r>
          </a:p>
        </p:txBody>
      </p:sp>
      <p:sp>
        <p:nvSpPr>
          <p:cNvPr id="8" name="Rectangle 7"/>
          <p:cNvSpPr/>
          <p:nvPr/>
        </p:nvSpPr>
        <p:spPr>
          <a:xfrm>
            <a:off x="822960" y="3931920"/>
            <a:ext cx="512064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4069080"/>
            <a:ext cx="2468880" cy="365760"/>
          </a:xfrm>
          <a:prstGeom prst="rect">
            <a:avLst/>
          </a:prstGeom>
          <a:noFill/>
        </p:spPr>
        <p:txBody>
          <a:bodyPr wrap="square" anchor="t" lIns="0" rIns="0" tIns="0" bIns="0">
            <a:spAutoFit/>
          </a:bodyPr>
          <a:lstStyle/>
          <a:p>
            <a:pPr algn="l">
              <a:lnSpc>
                <a:spcPct val="115000"/>
              </a:lnSpc>
              <a:spcAft>
                <a:spcPts val="0"/>
              </a:spcAft>
            </a:pPr>
            <a:r>
              <a:rPr sz="1900" b="0" i="0">
                <a:solidFill>
                  <a:srgbClr val="221B15"/>
                </a:solidFill>
                <a:latin typeface="Georgia"/>
              </a:rPr>
              <a:t>Aug 2023</a:t>
            </a:r>
          </a:p>
        </p:txBody>
      </p:sp>
      <p:sp>
        <p:nvSpPr>
          <p:cNvPr id="10" name="TextBox 9"/>
          <p:cNvSpPr txBox="1"/>
          <p:nvPr/>
        </p:nvSpPr>
        <p:spPr>
          <a:xfrm>
            <a:off x="822960" y="4434840"/>
            <a:ext cx="2468880" cy="274320"/>
          </a:xfrm>
          <a:prstGeom prst="rect">
            <a:avLst/>
          </a:prstGeom>
          <a:noFill/>
        </p:spPr>
        <p:txBody>
          <a:bodyPr wrap="square" anchor="t" lIns="0" rIns="0" tIns="0" bIns="0">
            <a:spAutoFit/>
          </a:bodyPr>
          <a:lstStyle/>
          <a:p>
            <a:pPr algn="l">
              <a:lnSpc>
                <a:spcPct val="115000"/>
              </a:lnSpc>
              <a:spcAft>
                <a:spcPts val="0"/>
              </a:spcAft>
            </a:pPr>
            <a:r>
              <a:rPr sz="830" b="0" i="0">
                <a:solidFill>
                  <a:srgbClr val="8A8177"/>
                </a:solidFill>
                <a:latin typeface="Calibri"/>
              </a:rPr>
              <a:t>founded, Delhi NCR</a:t>
            </a:r>
          </a:p>
        </p:txBody>
      </p:sp>
      <p:sp>
        <p:nvSpPr>
          <p:cNvPr id="11" name="TextBox 10"/>
          <p:cNvSpPr txBox="1"/>
          <p:nvPr/>
        </p:nvSpPr>
        <p:spPr>
          <a:xfrm>
            <a:off x="3474720" y="4069080"/>
            <a:ext cx="2468880" cy="365760"/>
          </a:xfrm>
          <a:prstGeom prst="rect">
            <a:avLst/>
          </a:prstGeom>
          <a:noFill/>
        </p:spPr>
        <p:txBody>
          <a:bodyPr wrap="square" anchor="t" lIns="0" rIns="0" tIns="0" bIns="0">
            <a:spAutoFit/>
          </a:bodyPr>
          <a:lstStyle/>
          <a:p>
            <a:pPr algn="l">
              <a:lnSpc>
                <a:spcPct val="115000"/>
              </a:lnSpc>
              <a:spcAft>
                <a:spcPts val="0"/>
              </a:spcAft>
            </a:pPr>
            <a:r>
              <a:rPr sz="1900" b="0" i="0">
                <a:solidFill>
                  <a:srgbClr val="221B15"/>
                </a:solidFill>
                <a:latin typeface="Georgia"/>
              </a:rPr>
              <a:t>₹4k–15k</a:t>
            </a:r>
          </a:p>
        </p:txBody>
      </p:sp>
      <p:sp>
        <p:nvSpPr>
          <p:cNvPr id="12" name="TextBox 11"/>
          <p:cNvSpPr txBox="1"/>
          <p:nvPr/>
        </p:nvSpPr>
        <p:spPr>
          <a:xfrm>
            <a:off x="3474720" y="4434840"/>
            <a:ext cx="2468880" cy="274320"/>
          </a:xfrm>
          <a:prstGeom prst="rect">
            <a:avLst/>
          </a:prstGeom>
          <a:noFill/>
        </p:spPr>
        <p:txBody>
          <a:bodyPr wrap="square" anchor="t" lIns="0" rIns="0" tIns="0" bIns="0">
            <a:spAutoFit/>
          </a:bodyPr>
          <a:lstStyle/>
          <a:p>
            <a:pPr algn="l">
              <a:lnSpc>
                <a:spcPct val="115000"/>
              </a:lnSpc>
              <a:spcAft>
                <a:spcPts val="0"/>
              </a:spcAft>
            </a:pPr>
            <a:r>
              <a:rPr sz="830" b="0" i="0">
                <a:solidFill>
                  <a:srgbClr val="8A8177"/>
                </a:solidFill>
                <a:latin typeface="Calibri"/>
              </a:rPr>
              <a:t>price band / pair</a:t>
            </a:r>
          </a:p>
        </p:txBody>
      </p:sp>
      <p:sp>
        <p:nvSpPr>
          <p:cNvPr id="13" name="TextBox 12"/>
          <p:cNvSpPr txBox="1"/>
          <p:nvPr/>
        </p:nvSpPr>
        <p:spPr>
          <a:xfrm>
            <a:off x="822960" y="4782312"/>
            <a:ext cx="2468880" cy="365760"/>
          </a:xfrm>
          <a:prstGeom prst="rect">
            <a:avLst/>
          </a:prstGeom>
          <a:noFill/>
        </p:spPr>
        <p:txBody>
          <a:bodyPr wrap="square" anchor="t" lIns="0" rIns="0" tIns="0" bIns="0">
            <a:spAutoFit/>
          </a:bodyPr>
          <a:lstStyle/>
          <a:p>
            <a:pPr algn="l">
              <a:lnSpc>
                <a:spcPct val="115000"/>
              </a:lnSpc>
              <a:spcAft>
                <a:spcPts val="0"/>
              </a:spcAft>
            </a:pPr>
            <a:r>
              <a:rPr sz="1900" b="0" i="0">
                <a:solidFill>
                  <a:srgbClr val="221B15"/>
                </a:solidFill>
                <a:latin typeface="Georgia"/>
              </a:rPr>
              <a:t>₹175 Cr</a:t>
            </a:r>
          </a:p>
        </p:txBody>
      </p:sp>
      <p:sp>
        <p:nvSpPr>
          <p:cNvPr id="14" name="TextBox 13"/>
          <p:cNvSpPr txBox="1"/>
          <p:nvPr/>
        </p:nvSpPr>
        <p:spPr>
          <a:xfrm>
            <a:off x="822960" y="5148072"/>
            <a:ext cx="2468880" cy="274320"/>
          </a:xfrm>
          <a:prstGeom prst="rect">
            <a:avLst/>
          </a:prstGeom>
          <a:noFill/>
        </p:spPr>
        <p:txBody>
          <a:bodyPr wrap="square" anchor="t" lIns="0" rIns="0" tIns="0" bIns="0">
            <a:spAutoFit/>
          </a:bodyPr>
          <a:lstStyle/>
          <a:p>
            <a:pPr algn="l">
              <a:lnSpc>
                <a:spcPct val="115000"/>
              </a:lnSpc>
              <a:spcAft>
                <a:spcPts val="0"/>
              </a:spcAft>
            </a:pPr>
            <a:r>
              <a:rPr sz="830" b="0" i="0">
                <a:solidFill>
                  <a:srgbClr val="8A8177"/>
                </a:solidFill>
                <a:latin typeface="Calibri"/>
              </a:rPr>
              <a:t>Shark Tank valuation</a:t>
            </a:r>
          </a:p>
        </p:txBody>
      </p:sp>
      <p:sp>
        <p:nvSpPr>
          <p:cNvPr id="15" name="TextBox 14"/>
          <p:cNvSpPr txBox="1"/>
          <p:nvPr/>
        </p:nvSpPr>
        <p:spPr>
          <a:xfrm>
            <a:off x="3474720" y="4782312"/>
            <a:ext cx="2468880" cy="365760"/>
          </a:xfrm>
          <a:prstGeom prst="rect">
            <a:avLst/>
          </a:prstGeom>
          <a:noFill/>
        </p:spPr>
        <p:txBody>
          <a:bodyPr wrap="square" anchor="t" lIns="0" rIns="0" tIns="0" bIns="0">
            <a:spAutoFit/>
          </a:bodyPr>
          <a:lstStyle/>
          <a:p>
            <a:pPr algn="l">
              <a:lnSpc>
                <a:spcPct val="115000"/>
              </a:lnSpc>
              <a:spcAft>
                <a:spcPts val="0"/>
              </a:spcAft>
            </a:pPr>
            <a:r>
              <a:rPr sz="1900" b="0" i="0">
                <a:solidFill>
                  <a:srgbClr val="221B15"/>
                </a:solidFill>
                <a:latin typeface="Georgia"/>
              </a:rPr>
              <a:t>~25%</a:t>
            </a:r>
          </a:p>
        </p:txBody>
      </p:sp>
      <p:sp>
        <p:nvSpPr>
          <p:cNvPr id="16" name="TextBox 15"/>
          <p:cNvSpPr txBox="1"/>
          <p:nvPr/>
        </p:nvSpPr>
        <p:spPr>
          <a:xfrm>
            <a:off x="3474720" y="5148072"/>
            <a:ext cx="2468880" cy="274320"/>
          </a:xfrm>
          <a:prstGeom prst="rect">
            <a:avLst/>
          </a:prstGeom>
          <a:noFill/>
        </p:spPr>
        <p:txBody>
          <a:bodyPr wrap="square" anchor="t" lIns="0" rIns="0" tIns="0" bIns="0">
            <a:spAutoFit/>
          </a:bodyPr>
          <a:lstStyle/>
          <a:p>
            <a:pPr algn="l">
              <a:lnSpc>
                <a:spcPct val="115000"/>
              </a:lnSpc>
              <a:spcAft>
                <a:spcPts val="0"/>
              </a:spcAft>
            </a:pPr>
            <a:r>
              <a:rPr sz="830" b="0" i="0">
                <a:solidFill>
                  <a:srgbClr val="8A8177"/>
                </a:solidFill>
                <a:latin typeface="Calibri"/>
              </a:rPr>
              <a:t>revenue from exports</a:t>
            </a:r>
          </a:p>
        </p:txBody>
      </p:sp>
      <p:sp>
        <p:nvSpPr>
          <p:cNvPr id="17" name="Rectangle 16"/>
          <p:cNvSpPr/>
          <p:nvPr/>
        </p:nvSpPr>
        <p:spPr>
          <a:xfrm>
            <a:off x="822960" y="5532120"/>
            <a:ext cx="512064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2960" y="5623560"/>
            <a:ext cx="5120640" cy="274320"/>
          </a:xfrm>
          <a:prstGeom prst="rect">
            <a:avLst/>
          </a:prstGeom>
          <a:noFill/>
        </p:spPr>
        <p:txBody>
          <a:bodyPr wrap="square" anchor="t" lIns="0" rIns="0" tIns="0" bIns="0">
            <a:spAutoFit/>
          </a:bodyPr>
          <a:lstStyle/>
          <a:p>
            <a:pPr algn="l">
              <a:lnSpc>
                <a:spcPct val="115000"/>
              </a:lnSpc>
              <a:spcAft>
                <a:spcPts val="0"/>
              </a:spcAft>
            </a:pPr>
            <a:r>
              <a:rPr sz="950" b="0" i="0" spc="200">
                <a:solidFill>
                  <a:srgbClr val="4A443C"/>
                </a:solidFill>
                <a:latin typeface="Calibri"/>
              </a:rPr>
              <a:t>AISHA · ROHAN · MEERA · KABIR</a:t>
            </a:r>
          </a:p>
        </p:txBody>
      </p:sp>
      <p:sp>
        <p:nvSpPr>
          <p:cNvPr id="19" name="TextBox 18"/>
          <p:cNvSpPr txBox="1"/>
          <p:nvPr/>
        </p:nvSpPr>
        <p:spPr>
          <a:xfrm>
            <a:off x="822960" y="5897880"/>
            <a:ext cx="5120640" cy="274320"/>
          </a:xfrm>
          <a:prstGeom prst="rect">
            <a:avLst/>
          </a:prstGeom>
          <a:noFill/>
        </p:spPr>
        <p:txBody>
          <a:bodyPr wrap="square" anchor="t" lIns="0" rIns="0" tIns="0" bIns="0">
            <a:spAutoFit/>
          </a:bodyPr>
          <a:lstStyle/>
          <a:p>
            <a:pPr algn="l">
              <a:lnSpc>
                <a:spcPct val="115000"/>
              </a:lnSpc>
              <a:spcAft>
                <a:spcPts val="0"/>
              </a:spcAft>
            </a:pPr>
            <a:r>
              <a:rPr sz="830" b="0" i="0">
                <a:solidFill>
                  <a:srgbClr val="8A8177"/>
                </a:solidFill>
                <a:latin typeface="Calibri"/>
              </a:rPr>
              <a:t>September 2026 · 15 slides · 11 minutes · sources on the final slide</a:t>
            </a:r>
          </a:p>
        </p:txBody>
      </p:sp>
      <p:sp>
        <p:nvSpPr>
          <p:cNvPr id="20" name="TextBox 19"/>
          <p:cNvSpPr txBox="1"/>
          <p:nvPr/>
        </p:nvSpPr>
        <p:spPr>
          <a:xfrm>
            <a:off x="822960" y="6199632"/>
            <a:ext cx="5120640" cy="228600"/>
          </a:xfrm>
          <a:prstGeom prst="rect">
            <a:avLst/>
          </a:prstGeom>
          <a:noFill/>
        </p:spPr>
        <p:txBody>
          <a:bodyPr wrap="square" anchor="t" lIns="0" rIns="0" tIns="0" bIns="0">
            <a:spAutoFit/>
          </a:bodyPr>
          <a:lstStyle/>
          <a:p>
            <a:pPr algn="l">
              <a:lnSpc>
                <a:spcPct val="115000"/>
              </a:lnSpc>
              <a:spcAft>
                <a:spcPts val="0"/>
              </a:spcAft>
            </a:pPr>
            <a:r>
              <a:rPr sz="750" b="0" i="0">
                <a:solidFill>
                  <a:srgbClr val="8A8177"/>
                </a:solidFill>
                <a:latin typeface="Calibri"/>
              </a:rPr>
              <a:t>Founders Arjun Singh &amp; Animesh Mishra — “unapologetically Indian” (Inc42).</a:t>
            </a:r>
          </a:p>
        </p:txBody>
      </p:sp>
      <p:sp>
        <p:nvSpPr>
          <p:cNvPr id="21" name="TextBox 20"/>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22" name="TextBox 21"/>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01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ROADMAP &amp; SPEAKER MAP</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One brand, five lenses, eleven minutes.</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02 / 15</a:t>
            </a:r>
          </a:p>
        </p:txBody>
      </p:sp>
      <p:sp>
        <p:nvSpPr>
          <p:cNvPr id="8" name="TextBox 7"/>
          <p:cNvSpPr txBox="1"/>
          <p:nvPr/>
        </p:nvSpPr>
        <p:spPr>
          <a:xfrm>
            <a:off x="822960" y="1810512"/>
            <a:ext cx="7543800" cy="274320"/>
          </a:xfrm>
          <a:prstGeom prst="rect">
            <a:avLst/>
          </a:prstGeom>
          <a:noFill/>
        </p:spPr>
        <p:txBody>
          <a:bodyPr wrap="square" anchor="t" lIns="0" rIns="0" tIns="0" bIns="0">
            <a:spAutoFit/>
          </a:bodyPr>
          <a:lstStyle/>
          <a:p>
            <a:pPr algn="l">
              <a:lnSpc>
                <a:spcPct val="115000"/>
              </a:lnSpc>
              <a:spcAft>
                <a:spcPts val="0"/>
              </a:spcAft>
            </a:pPr>
            <a:r>
              <a:rPr sz="1100" b="0" i="0">
                <a:solidFill>
                  <a:srgbClr val="4A443C"/>
                </a:solidFill>
                <a:latin typeface="Calibri"/>
              </a:rPr>
              <a:t>Before we start — hands up if you own sneakers above </a:t>
            </a:r>
            <a:r>
              <a:rPr sz="1100" b="1" i="0">
                <a:solidFill>
                  <a:srgbClr val="221B15"/>
                </a:solidFill>
                <a:latin typeface="Calibri"/>
              </a:rPr>
              <a:t>₹5,000</a:t>
            </a:r>
            <a:r>
              <a:rPr sz="1100" b="0" i="0">
                <a:solidFill>
                  <a:srgbClr val="4A443C"/>
                </a:solidFill>
                <a:latin typeface="Calibri"/>
              </a:rPr>
              <a:t>; keep them up if they are </a:t>
            </a:r>
            <a:r>
              <a:rPr sz="1100" b="0" i="1">
                <a:solidFill>
                  <a:srgbClr val="221B15"/>
                </a:solidFill>
                <a:latin typeface="Calibri"/>
              </a:rPr>
              <a:t>not</a:t>
            </a:r>
            <a:r>
              <a:rPr sz="1100" b="0" i="0">
                <a:solidFill>
                  <a:srgbClr val="4A443C"/>
                </a:solidFill>
                <a:latin typeface="Calibri"/>
              </a:rPr>
              <a:t> a global brand.</a:t>
            </a:r>
          </a:p>
        </p:txBody>
      </p:sp>
      <p:sp>
        <p:nvSpPr>
          <p:cNvPr id="9" name="TextBox 8"/>
          <p:cNvSpPr txBox="1"/>
          <p:nvPr/>
        </p:nvSpPr>
        <p:spPr>
          <a:xfrm>
            <a:off x="822960" y="2331720"/>
            <a:ext cx="731520" cy="457200"/>
          </a:xfrm>
          <a:prstGeom prst="rect">
            <a:avLst/>
          </a:prstGeom>
          <a:noFill/>
        </p:spPr>
        <p:txBody>
          <a:bodyPr wrap="square" anchor="t" lIns="0" rIns="0" tIns="0" bIns="0">
            <a:spAutoFit/>
          </a:bodyPr>
          <a:lstStyle/>
          <a:p>
            <a:pPr algn="l">
              <a:lnSpc>
                <a:spcPct val="115000"/>
              </a:lnSpc>
              <a:spcAft>
                <a:spcPts val="0"/>
              </a:spcAft>
            </a:pPr>
            <a:r>
              <a:rPr sz="2400" b="0" i="0">
                <a:solidFill>
                  <a:srgbClr val="8C6248"/>
                </a:solidFill>
                <a:latin typeface="Georgia"/>
              </a:rPr>
              <a:t>01</a:t>
            </a:r>
          </a:p>
        </p:txBody>
      </p:sp>
      <p:sp>
        <p:nvSpPr>
          <p:cNvPr id="10" name="TextBox 9"/>
          <p:cNvSpPr txBox="1"/>
          <p:nvPr/>
        </p:nvSpPr>
        <p:spPr>
          <a:xfrm>
            <a:off x="1600200" y="2377439"/>
            <a:ext cx="3108960" cy="274320"/>
          </a:xfrm>
          <a:prstGeom prst="rect">
            <a:avLst/>
          </a:prstGeom>
          <a:noFill/>
        </p:spPr>
        <p:txBody>
          <a:bodyPr wrap="square" anchor="t" lIns="0" rIns="0" tIns="0" bIns="0">
            <a:spAutoFit/>
          </a:bodyPr>
          <a:lstStyle/>
          <a:p>
            <a:pPr algn="l">
              <a:lnSpc>
                <a:spcPct val="115000"/>
              </a:lnSpc>
              <a:spcAft>
                <a:spcPts val="0"/>
              </a:spcAft>
            </a:pPr>
            <a:r>
              <a:rPr sz="1150" b="1" i="0" spc="200">
                <a:solidFill>
                  <a:srgbClr val="221B15"/>
                </a:solidFill>
                <a:latin typeface="Calibri"/>
              </a:rPr>
              <a:t>WHO &amp; WHERE</a:t>
            </a:r>
          </a:p>
        </p:txBody>
      </p:sp>
      <p:sp>
        <p:nvSpPr>
          <p:cNvPr id="11" name="TextBox 10"/>
          <p:cNvSpPr txBox="1"/>
          <p:nvPr/>
        </p:nvSpPr>
        <p:spPr>
          <a:xfrm>
            <a:off x="1600200" y="2660903"/>
            <a:ext cx="4206240" cy="274320"/>
          </a:xfrm>
          <a:prstGeom prst="rect">
            <a:avLst/>
          </a:prstGeom>
          <a:noFill/>
        </p:spPr>
        <p:txBody>
          <a:bodyPr wrap="square" anchor="t" lIns="0" rIns="0" tIns="0" bIns="0">
            <a:spAutoFit/>
          </a:bodyPr>
          <a:lstStyle/>
          <a:p>
            <a:pPr algn="l">
              <a:lnSpc>
                <a:spcPct val="115000"/>
              </a:lnSpc>
              <a:spcAft>
                <a:spcPts val="0"/>
              </a:spcAft>
            </a:pPr>
            <a:r>
              <a:rPr sz="880" b="0" i="0">
                <a:solidFill>
                  <a:srgbClr val="8A8177"/>
                </a:solidFill>
                <a:latin typeface="Calibri"/>
              </a:rPr>
              <a:t>Cover · brand snapshot · mission, values, culture · PESTEL</a:t>
            </a:r>
          </a:p>
        </p:txBody>
      </p:sp>
      <p:sp>
        <p:nvSpPr>
          <p:cNvPr id="12" name="TextBox 11"/>
          <p:cNvSpPr txBox="1"/>
          <p:nvPr/>
        </p:nvSpPr>
        <p:spPr>
          <a:xfrm>
            <a:off x="5852160" y="2404872"/>
            <a:ext cx="1737360" cy="274320"/>
          </a:xfrm>
          <a:prstGeom prst="rect">
            <a:avLst/>
          </a:prstGeom>
          <a:noFill/>
        </p:spPr>
        <p:txBody>
          <a:bodyPr wrap="square" anchor="t" lIns="0" rIns="0" tIns="0" bIns="0">
            <a:spAutoFit/>
          </a:bodyPr>
          <a:lstStyle/>
          <a:p>
            <a:pPr algn="l">
              <a:lnSpc>
                <a:spcPct val="115000"/>
              </a:lnSpc>
              <a:spcAft>
                <a:spcPts val="0"/>
              </a:spcAft>
            </a:pPr>
            <a:r>
              <a:rPr sz="900" b="0" i="0">
                <a:solidFill>
                  <a:srgbClr val="8A8177"/>
                </a:solidFill>
                <a:latin typeface="Calibri"/>
              </a:rPr>
              <a:t>Aisha · 0:00–2:30</a:t>
            </a:r>
          </a:p>
        </p:txBody>
      </p:sp>
      <p:sp>
        <p:nvSpPr>
          <p:cNvPr id="13" name="TextBox 12"/>
          <p:cNvSpPr txBox="1"/>
          <p:nvPr/>
        </p:nvSpPr>
        <p:spPr>
          <a:xfrm>
            <a:off x="7223760" y="2350008"/>
            <a:ext cx="1143000" cy="365760"/>
          </a:xfrm>
          <a:prstGeom prst="rect">
            <a:avLst/>
          </a:prstGeom>
          <a:noFill/>
        </p:spPr>
        <p:txBody>
          <a:bodyPr wrap="square" anchor="t" lIns="0" rIns="0" tIns="0" bIns="0">
            <a:spAutoFit/>
          </a:bodyPr>
          <a:lstStyle/>
          <a:p>
            <a:pPr algn="r">
              <a:lnSpc>
                <a:spcPct val="115000"/>
              </a:lnSpc>
              <a:spcAft>
                <a:spcPts val="0"/>
              </a:spcAft>
            </a:pPr>
            <a:r>
              <a:rPr sz="1400" b="0" i="1">
                <a:solidFill>
                  <a:srgbClr val="8C6248"/>
                </a:solidFill>
                <a:latin typeface="Georgia"/>
              </a:rPr>
              <a:t>S1–S5</a:t>
            </a:r>
          </a:p>
        </p:txBody>
      </p:sp>
      <p:sp>
        <p:nvSpPr>
          <p:cNvPr id="14" name="Rectangle 13"/>
          <p:cNvSpPr/>
          <p:nvPr/>
        </p:nvSpPr>
        <p:spPr>
          <a:xfrm>
            <a:off x="822960" y="3026663"/>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2960" y="3154679"/>
            <a:ext cx="731520" cy="457200"/>
          </a:xfrm>
          <a:prstGeom prst="rect">
            <a:avLst/>
          </a:prstGeom>
          <a:noFill/>
        </p:spPr>
        <p:txBody>
          <a:bodyPr wrap="square" anchor="t" lIns="0" rIns="0" tIns="0" bIns="0">
            <a:spAutoFit/>
          </a:bodyPr>
          <a:lstStyle/>
          <a:p>
            <a:pPr algn="l">
              <a:lnSpc>
                <a:spcPct val="115000"/>
              </a:lnSpc>
              <a:spcAft>
                <a:spcPts val="0"/>
              </a:spcAft>
            </a:pPr>
            <a:r>
              <a:rPr sz="2400" b="0" i="0">
                <a:solidFill>
                  <a:srgbClr val="8C6248"/>
                </a:solidFill>
                <a:latin typeface="Georgia"/>
              </a:rPr>
              <a:t>02</a:t>
            </a:r>
          </a:p>
        </p:txBody>
      </p:sp>
      <p:sp>
        <p:nvSpPr>
          <p:cNvPr id="16" name="TextBox 15"/>
          <p:cNvSpPr txBox="1"/>
          <p:nvPr/>
        </p:nvSpPr>
        <p:spPr>
          <a:xfrm>
            <a:off x="1600200" y="3200399"/>
            <a:ext cx="3108960" cy="274320"/>
          </a:xfrm>
          <a:prstGeom prst="rect">
            <a:avLst/>
          </a:prstGeom>
          <a:noFill/>
        </p:spPr>
        <p:txBody>
          <a:bodyPr wrap="square" anchor="t" lIns="0" rIns="0" tIns="0" bIns="0">
            <a:spAutoFit/>
          </a:bodyPr>
          <a:lstStyle/>
          <a:p>
            <a:pPr algn="l">
              <a:lnSpc>
                <a:spcPct val="115000"/>
              </a:lnSpc>
              <a:spcAft>
                <a:spcPts val="0"/>
              </a:spcAft>
            </a:pPr>
            <a:r>
              <a:rPr sz="1150" b="1" i="0" spc="200">
                <a:solidFill>
                  <a:srgbClr val="221B15"/>
                </a:solidFill>
                <a:latin typeface="Calibri"/>
              </a:rPr>
              <a:t>THE ARENA</a:t>
            </a:r>
          </a:p>
        </p:txBody>
      </p:sp>
      <p:sp>
        <p:nvSpPr>
          <p:cNvPr id="17" name="TextBox 16"/>
          <p:cNvSpPr txBox="1"/>
          <p:nvPr/>
        </p:nvSpPr>
        <p:spPr>
          <a:xfrm>
            <a:off x="1600200" y="3483863"/>
            <a:ext cx="4206240" cy="274320"/>
          </a:xfrm>
          <a:prstGeom prst="rect">
            <a:avLst/>
          </a:prstGeom>
          <a:noFill/>
        </p:spPr>
        <p:txBody>
          <a:bodyPr wrap="square" anchor="t" lIns="0" rIns="0" tIns="0" bIns="0">
            <a:spAutoFit/>
          </a:bodyPr>
          <a:lstStyle/>
          <a:p>
            <a:pPr algn="l">
              <a:lnSpc>
                <a:spcPct val="115000"/>
              </a:lnSpc>
              <a:spcAft>
                <a:spcPts val="0"/>
              </a:spcAft>
            </a:pPr>
            <a:r>
              <a:rPr sz="880" b="0" i="0">
                <a:solidFill>
                  <a:srgbClr val="8A8177"/>
                </a:solidFill>
                <a:latin typeface="Calibri"/>
              </a:rPr>
              <a:t>Value chain · industry cycle · Porter · 4P · SWOT</a:t>
            </a:r>
          </a:p>
        </p:txBody>
      </p:sp>
      <p:sp>
        <p:nvSpPr>
          <p:cNvPr id="18" name="TextBox 17"/>
          <p:cNvSpPr txBox="1"/>
          <p:nvPr/>
        </p:nvSpPr>
        <p:spPr>
          <a:xfrm>
            <a:off x="5852160" y="3227832"/>
            <a:ext cx="1737360" cy="274320"/>
          </a:xfrm>
          <a:prstGeom prst="rect">
            <a:avLst/>
          </a:prstGeom>
          <a:noFill/>
        </p:spPr>
        <p:txBody>
          <a:bodyPr wrap="square" anchor="t" lIns="0" rIns="0" tIns="0" bIns="0">
            <a:spAutoFit/>
          </a:bodyPr>
          <a:lstStyle/>
          <a:p>
            <a:pPr algn="l">
              <a:lnSpc>
                <a:spcPct val="115000"/>
              </a:lnSpc>
              <a:spcAft>
                <a:spcPts val="0"/>
              </a:spcAft>
            </a:pPr>
            <a:r>
              <a:rPr sz="900" b="0" i="0">
                <a:solidFill>
                  <a:srgbClr val="8A8177"/>
                </a:solidFill>
                <a:latin typeface="Calibri"/>
              </a:rPr>
              <a:t>Rohan · 2:30–5:15</a:t>
            </a:r>
          </a:p>
        </p:txBody>
      </p:sp>
      <p:sp>
        <p:nvSpPr>
          <p:cNvPr id="19" name="TextBox 18"/>
          <p:cNvSpPr txBox="1"/>
          <p:nvPr/>
        </p:nvSpPr>
        <p:spPr>
          <a:xfrm>
            <a:off x="7223760" y="3172968"/>
            <a:ext cx="1143000" cy="365760"/>
          </a:xfrm>
          <a:prstGeom prst="rect">
            <a:avLst/>
          </a:prstGeom>
          <a:noFill/>
        </p:spPr>
        <p:txBody>
          <a:bodyPr wrap="square" anchor="t" lIns="0" rIns="0" tIns="0" bIns="0">
            <a:spAutoFit/>
          </a:bodyPr>
          <a:lstStyle/>
          <a:p>
            <a:pPr algn="r">
              <a:lnSpc>
                <a:spcPct val="115000"/>
              </a:lnSpc>
              <a:spcAft>
                <a:spcPts val="0"/>
              </a:spcAft>
            </a:pPr>
            <a:r>
              <a:rPr sz="1400" b="0" i="1">
                <a:solidFill>
                  <a:srgbClr val="8C6248"/>
                </a:solidFill>
                <a:latin typeface="Georgia"/>
              </a:rPr>
              <a:t>S6–S8</a:t>
            </a:r>
          </a:p>
        </p:txBody>
      </p:sp>
      <p:sp>
        <p:nvSpPr>
          <p:cNvPr id="20" name="Rectangle 19"/>
          <p:cNvSpPr/>
          <p:nvPr/>
        </p:nvSpPr>
        <p:spPr>
          <a:xfrm>
            <a:off x="822960" y="3849624"/>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960" y="3977639"/>
            <a:ext cx="731520" cy="457200"/>
          </a:xfrm>
          <a:prstGeom prst="rect">
            <a:avLst/>
          </a:prstGeom>
          <a:noFill/>
        </p:spPr>
        <p:txBody>
          <a:bodyPr wrap="square" anchor="t" lIns="0" rIns="0" tIns="0" bIns="0">
            <a:spAutoFit/>
          </a:bodyPr>
          <a:lstStyle/>
          <a:p>
            <a:pPr algn="l">
              <a:lnSpc>
                <a:spcPct val="115000"/>
              </a:lnSpc>
              <a:spcAft>
                <a:spcPts val="0"/>
              </a:spcAft>
            </a:pPr>
            <a:r>
              <a:rPr sz="2400" b="0" i="0">
                <a:solidFill>
                  <a:srgbClr val="8C6248"/>
                </a:solidFill>
                <a:latin typeface="Georgia"/>
              </a:rPr>
              <a:t>03</a:t>
            </a:r>
          </a:p>
        </p:txBody>
      </p:sp>
      <p:sp>
        <p:nvSpPr>
          <p:cNvPr id="22" name="TextBox 21"/>
          <p:cNvSpPr txBox="1"/>
          <p:nvPr/>
        </p:nvSpPr>
        <p:spPr>
          <a:xfrm>
            <a:off x="1600200" y="4023359"/>
            <a:ext cx="3108960" cy="274320"/>
          </a:xfrm>
          <a:prstGeom prst="rect">
            <a:avLst/>
          </a:prstGeom>
          <a:noFill/>
        </p:spPr>
        <p:txBody>
          <a:bodyPr wrap="square" anchor="t" lIns="0" rIns="0" tIns="0" bIns="0">
            <a:spAutoFit/>
          </a:bodyPr>
          <a:lstStyle/>
          <a:p>
            <a:pPr algn="l">
              <a:lnSpc>
                <a:spcPct val="115000"/>
              </a:lnSpc>
              <a:spcAft>
                <a:spcPts val="0"/>
              </a:spcAft>
            </a:pPr>
            <a:r>
              <a:rPr sz="1150" b="1" i="0" spc="200">
                <a:solidFill>
                  <a:srgbClr val="221B15"/>
                </a:solidFill>
                <a:latin typeface="Calibri"/>
              </a:rPr>
              <a:t>THE PLAN</a:t>
            </a:r>
          </a:p>
        </p:txBody>
      </p:sp>
      <p:sp>
        <p:nvSpPr>
          <p:cNvPr id="23" name="TextBox 22"/>
          <p:cNvSpPr txBox="1"/>
          <p:nvPr/>
        </p:nvSpPr>
        <p:spPr>
          <a:xfrm>
            <a:off x="1600200" y="4306824"/>
            <a:ext cx="4206240" cy="274320"/>
          </a:xfrm>
          <a:prstGeom prst="rect">
            <a:avLst/>
          </a:prstGeom>
          <a:noFill/>
        </p:spPr>
        <p:txBody>
          <a:bodyPr wrap="square" anchor="t" lIns="0" rIns="0" tIns="0" bIns="0">
            <a:spAutoFit/>
          </a:bodyPr>
          <a:lstStyle/>
          <a:p>
            <a:pPr algn="l">
              <a:lnSpc>
                <a:spcPct val="115000"/>
              </a:lnSpc>
              <a:spcAft>
                <a:spcPts val="0"/>
              </a:spcAft>
            </a:pPr>
            <a:r>
              <a:rPr sz="880" b="0" i="0">
                <a:solidFill>
                  <a:srgbClr val="8A8177"/>
                </a:solidFill>
                <a:latin typeface="Calibri"/>
              </a:rPr>
              <a:t>Directional strategy &amp; levels · BCG + GE · implementation &amp; blue ocean</a:t>
            </a:r>
          </a:p>
        </p:txBody>
      </p:sp>
      <p:sp>
        <p:nvSpPr>
          <p:cNvPr id="24" name="TextBox 23"/>
          <p:cNvSpPr txBox="1"/>
          <p:nvPr/>
        </p:nvSpPr>
        <p:spPr>
          <a:xfrm>
            <a:off x="5852160" y="4050791"/>
            <a:ext cx="1737360" cy="274320"/>
          </a:xfrm>
          <a:prstGeom prst="rect">
            <a:avLst/>
          </a:prstGeom>
          <a:noFill/>
        </p:spPr>
        <p:txBody>
          <a:bodyPr wrap="square" anchor="t" lIns="0" rIns="0" tIns="0" bIns="0">
            <a:spAutoFit/>
          </a:bodyPr>
          <a:lstStyle/>
          <a:p>
            <a:pPr algn="l">
              <a:lnSpc>
                <a:spcPct val="115000"/>
              </a:lnSpc>
              <a:spcAft>
                <a:spcPts val="0"/>
              </a:spcAft>
            </a:pPr>
            <a:r>
              <a:rPr sz="900" b="0" i="0">
                <a:solidFill>
                  <a:srgbClr val="8A8177"/>
                </a:solidFill>
                <a:latin typeface="Calibri"/>
              </a:rPr>
              <a:t>Meera · 5:15–8:30</a:t>
            </a:r>
          </a:p>
        </p:txBody>
      </p:sp>
      <p:sp>
        <p:nvSpPr>
          <p:cNvPr id="25" name="TextBox 24"/>
          <p:cNvSpPr txBox="1"/>
          <p:nvPr/>
        </p:nvSpPr>
        <p:spPr>
          <a:xfrm>
            <a:off x="7223760" y="3995927"/>
            <a:ext cx="1143000" cy="365760"/>
          </a:xfrm>
          <a:prstGeom prst="rect">
            <a:avLst/>
          </a:prstGeom>
          <a:noFill/>
        </p:spPr>
        <p:txBody>
          <a:bodyPr wrap="square" anchor="t" lIns="0" rIns="0" tIns="0" bIns="0">
            <a:spAutoFit/>
          </a:bodyPr>
          <a:lstStyle/>
          <a:p>
            <a:pPr algn="r">
              <a:lnSpc>
                <a:spcPct val="115000"/>
              </a:lnSpc>
              <a:spcAft>
                <a:spcPts val="0"/>
              </a:spcAft>
            </a:pPr>
            <a:r>
              <a:rPr sz="1400" b="0" i="1">
                <a:solidFill>
                  <a:srgbClr val="8C6248"/>
                </a:solidFill>
                <a:latin typeface="Georgia"/>
              </a:rPr>
              <a:t>S9–S11</a:t>
            </a:r>
          </a:p>
        </p:txBody>
      </p:sp>
      <p:sp>
        <p:nvSpPr>
          <p:cNvPr id="26" name="Rectangle 25"/>
          <p:cNvSpPr/>
          <p:nvPr/>
        </p:nvSpPr>
        <p:spPr>
          <a:xfrm>
            <a:off x="822960" y="4672583"/>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2960" y="4800600"/>
            <a:ext cx="731520" cy="457200"/>
          </a:xfrm>
          <a:prstGeom prst="rect">
            <a:avLst/>
          </a:prstGeom>
          <a:noFill/>
        </p:spPr>
        <p:txBody>
          <a:bodyPr wrap="square" anchor="t" lIns="0" rIns="0" tIns="0" bIns="0">
            <a:spAutoFit/>
          </a:bodyPr>
          <a:lstStyle/>
          <a:p>
            <a:pPr algn="l">
              <a:lnSpc>
                <a:spcPct val="115000"/>
              </a:lnSpc>
              <a:spcAft>
                <a:spcPts val="0"/>
              </a:spcAft>
            </a:pPr>
            <a:r>
              <a:rPr sz="2400" b="0" i="0">
                <a:solidFill>
                  <a:srgbClr val="8C6248"/>
                </a:solidFill>
                <a:latin typeface="Georgia"/>
              </a:rPr>
              <a:t>04</a:t>
            </a:r>
          </a:p>
        </p:txBody>
      </p:sp>
      <p:sp>
        <p:nvSpPr>
          <p:cNvPr id="28" name="TextBox 27"/>
          <p:cNvSpPr txBox="1"/>
          <p:nvPr/>
        </p:nvSpPr>
        <p:spPr>
          <a:xfrm>
            <a:off x="1600200" y="4846320"/>
            <a:ext cx="3108960" cy="274320"/>
          </a:xfrm>
          <a:prstGeom prst="rect">
            <a:avLst/>
          </a:prstGeom>
          <a:noFill/>
        </p:spPr>
        <p:txBody>
          <a:bodyPr wrap="square" anchor="t" lIns="0" rIns="0" tIns="0" bIns="0">
            <a:spAutoFit/>
          </a:bodyPr>
          <a:lstStyle/>
          <a:p>
            <a:pPr algn="l">
              <a:lnSpc>
                <a:spcPct val="115000"/>
              </a:lnSpc>
              <a:spcAft>
                <a:spcPts val="0"/>
              </a:spcAft>
            </a:pPr>
            <a:r>
              <a:rPr sz="1150" b="1" i="0" spc="200">
                <a:solidFill>
                  <a:srgbClr val="221B15"/>
                </a:solidFill>
                <a:latin typeface="Calibri"/>
              </a:rPr>
              <a:t>THE VERDICT</a:t>
            </a:r>
          </a:p>
        </p:txBody>
      </p:sp>
      <p:sp>
        <p:nvSpPr>
          <p:cNvPr id="29" name="TextBox 28"/>
          <p:cNvSpPr txBox="1"/>
          <p:nvPr/>
        </p:nvSpPr>
        <p:spPr>
          <a:xfrm>
            <a:off x="1600200" y="5129784"/>
            <a:ext cx="4206240" cy="274320"/>
          </a:xfrm>
          <a:prstGeom prst="rect">
            <a:avLst/>
          </a:prstGeom>
          <a:noFill/>
        </p:spPr>
        <p:txBody>
          <a:bodyPr wrap="square" anchor="t" lIns="0" rIns="0" tIns="0" bIns="0">
            <a:spAutoFit/>
          </a:bodyPr>
          <a:lstStyle/>
          <a:p>
            <a:pPr algn="l">
              <a:lnSpc>
                <a:spcPct val="115000"/>
              </a:lnSpc>
              <a:spcAft>
                <a:spcPts val="0"/>
              </a:spcAft>
            </a:pPr>
            <a:r>
              <a:rPr sz="880" b="0" i="0">
                <a:solidFill>
                  <a:srgbClr val="8A8177"/>
                </a:solidFill>
                <a:latin typeface="Calibri"/>
              </a:rPr>
              <a:t>Balanced scorecard · control &amp; contingency · verdict &amp; recommendations</a:t>
            </a:r>
          </a:p>
        </p:txBody>
      </p:sp>
      <p:sp>
        <p:nvSpPr>
          <p:cNvPr id="30" name="TextBox 29"/>
          <p:cNvSpPr txBox="1"/>
          <p:nvPr/>
        </p:nvSpPr>
        <p:spPr>
          <a:xfrm>
            <a:off x="5852160" y="4873752"/>
            <a:ext cx="1737360" cy="274320"/>
          </a:xfrm>
          <a:prstGeom prst="rect">
            <a:avLst/>
          </a:prstGeom>
          <a:noFill/>
        </p:spPr>
        <p:txBody>
          <a:bodyPr wrap="square" anchor="t" lIns="0" rIns="0" tIns="0" bIns="0">
            <a:spAutoFit/>
          </a:bodyPr>
          <a:lstStyle/>
          <a:p>
            <a:pPr algn="l">
              <a:lnSpc>
                <a:spcPct val="115000"/>
              </a:lnSpc>
              <a:spcAft>
                <a:spcPts val="0"/>
              </a:spcAft>
            </a:pPr>
            <a:r>
              <a:rPr sz="900" b="0" i="0">
                <a:solidFill>
                  <a:srgbClr val="8A8177"/>
                </a:solidFill>
                <a:latin typeface="Calibri"/>
              </a:rPr>
              <a:t>Kabir · 8:30–11:15</a:t>
            </a:r>
          </a:p>
        </p:txBody>
      </p:sp>
      <p:sp>
        <p:nvSpPr>
          <p:cNvPr id="31" name="TextBox 30"/>
          <p:cNvSpPr txBox="1"/>
          <p:nvPr/>
        </p:nvSpPr>
        <p:spPr>
          <a:xfrm>
            <a:off x="7223760" y="4818888"/>
            <a:ext cx="1143000" cy="365760"/>
          </a:xfrm>
          <a:prstGeom prst="rect">
            <a:avLst/>
          </a:prstGeom>
          <a:noFill/>
        </p:spPr>
        <p:txBody>
          <a:bodyPr wrap="square" anchor="t" lIns="0" rIns="0" tIns="0" bIns="0">
            <a:spAutoFit/>
          </a:bodyPr>
          <a:lstStyle/>
          <a:p>
            <a:pPr algn="r">
              <a:lnSpc>
                <a:spcPct val="115000"/>
              </a:lnSpc>
              <a:spcAft>
                <a:spcPts val="0"/>
              </a:spcAft>
            </a:pPr>
            <a:r>
              <a:rPr sz="1400" b="0" i="1">
                <a:solidFill>
                  <a:srgbClr val="8C6248"/>
                </a:solidFill>
                <a:latin typeface="Georgia"/>
              </a:rPr>
              <a:t>S12–S15</a:t>
            </a:r>
          </a:p>
        </p:txBody>
      </p:sp>
      <p:sp>
        <p:nvSpPr>
          <p:cNvPr id="32" name="Rectangle 31"/>
          <p:cNvSpPr/>
          <p:nvPr/>
        </p:nvSpPr>
        <p:spPr>
          <a:xfrm>
            <a:off x="822960" y="5495544"/>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22960" y="5742432"/>
            <a:ext cx="7543800" cy="274320"/>
          </a:xfrm>
          <a:prstGeom prst="rect">
            <a:avLst/>
          </a:prstGeom>
          <a:noFill/>
        </p:spPr>
        <p:txBody>
          <a:bodyPr wrap="square" anchor="t" lIns="0" rIns="0" tIns="0" bIns="0">
            <a:spAutoFit/>
          </a:bodyPr>
          <a:lstStyle/>
          <a:p>
            <a:pPr algn="l">
              <a:lnSpc>
                <a:spcPct val="115000"/>
              </a:lnSpc>
              <a:spcAft>
                <a:spcPts val="0"/>
              </a:spcAft>
            </a:pPr>
            <a:r>
              <a:rPr sz="819" b="0" i="0" spc="110">
                <a:solidFill>
                  <a:srgbClr val="8A8177"/>
                </a:solidFill>
                <a:latin typeface="Calibri"/>
              </a:rPr>
              <a:t>SYLLABUS — PESTEL · VALUE CHAIN · INDUSTRY CYCLE · PORTER · 4P · SWOT · DIRECTIONAL · LEVELS · BCG · GE · DESIGN THINKING · RED/BLUE OCEAN · MODEL INNOVATION · BSC · AUDIT · CONTINGENCY · CONTROLS</a:t>
            </a:r>
          </a:p>
        </p:txBody>
      </p:sp>
      <p:sp>
        <p:nvSpPr>
          <p:cNvPr id="34" name="TextBox 33"/>
          <p:cNvSpPr txBox="1"/>
          <p:nvPr/>
        </p:nvSpPr>
        <p:spPr>
          <a:xfrm>
            <a:off x="822960" y="6053328"/>
            <a:ext cx="7543800" cy="365760"/>
          </a:xfrm>
          <a:prstGeom prst="rect">
            <a:avLst/>
          </a:prstGeom>
          <a:noFill/>
        </p:spPr>
        <p:txBody>
          <a:bodyPr wrap="square" anchor="t" lIns="0" rIns="0" tIns="0" bIns="0">
            <a:spAutoFit/>
          </a:bodyPr>
          <a:lstStyle/>
          <a:p>
            <a:pPr algn="l">
              <a:lnSpc>
                <a:spcPct val="115000"/>
              </a:lnSpc>
              <a:spcAft>
                <a:spcPts val="0"/>
              </a:spcAft>
            </a:pPr>
            <a:r>
              <a:rPr sz="1050" b="0" i="1">
                <a:solidFill>
                  <a:srgbClr val="8C6248"/>
                </a:solidFill>
                <a:latin typeface="Georgia"/>
              </a:rPr>
              <a:t>The one question we answer: </a:t>
            </a:r>
            <a:r>
              <a:rPr sz="1050" b="0" i="1">
                <a:solidFill>
                  <a:srgbClr val="8C6248"/>
                </a:solidFill>
                <a:latin typeface="Georgia"/>
              </a:rPr>
              <a:t>is “unapologetically Indian” a strategy, or just a marketing line — and what would it take to make it a moat?</a:t>
            </a:r>
          </a:p>
        </p:txBody>
      </p:sp>
      <p:sp>
        <p:nvSpPr>
          <p:cNvPr id="35" name="Rectangle 34"/>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_v3_ph-gully-alley.jpg"/>
          <p:cNvPicPr>
            <a:picLocks noChangeAspect="1"/>
          </p:cNvPicPr>
          <p:nvPr/>
        </p:nvPicPr>
        <p:blipFill>
          <a:blip r:embed="rId2"/>
          <a:stretch>
            <a:fillRect/>
          </a:stretch>
        </p:blipFill>
        <p:spPr>
          <a:xfrm>
            <a:off x="8732520" y="1828800"/>
            <a:ext cx="2651760" cy="4297680"/>
          </a:xfrm>
          <a:prstGeom prst="rect">
            <a:avLst/>
          </a:prstGeom>
        </p:spPr>
      </p:pic>
      <p:sp>
        <p:nvSpPr>
          <p:cNvPr id="37" name="TextBox 36"/>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A gully in old Delhi — the brand’s namesake and archive.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INTERNAL SCAN</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From a basement workshop to a ₹175 crore valuation.</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03 / 15</a:t>
            </a:r>
          </a:p>
        </p:txBody>
      </p:sp>
      <p:sp>
        <p:nvSpPr>
          <p:cNvPr id="8" name="Rectangle 7"/>
          <p:cNvSpPr/>
          <p:nvPr/>
        </p:nvSpPr>
        <p:spPr>
          <a:xfrm>
            <a:off x="822960" y="1920240"/>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2029968"/>
            <a:ext cx="1828800" cy="411480"/>
          </a:xfrm>
          <a:prstGeom prst="rect">
            <a:avLst/>
          </a:prstGeom>
          <a:noFill/>
        </p:spPr>
        <p:txBody>
          <a:bodyPr wrap="square" anchor="t" lIns="0" rIns="0" tIns="0" bIns="0">
            <a:spAutoFit/>
          </a:bodyPr>
          <a:lstStyle/>
          <a:p>
            <a:pPr algn="l">
              <a:lnSpc>
                <a:spcPct val="115000"/>
              </a:lnSpc>
              <a:spcAft>
                <a:spcPts val="0"/>
              </a:spcAft>
            </a:pPr>
            <a:r>
              <a:rPr sz="2000" b="0" i="0">
                <a:solidFill>
                  <a:srgbClr val="221B15"/>
                </a:solidFill>
                <a:latin typeface="Georgia"/>
              </a:rPr>
              <a:t>₹2.9 Cr</a:t>
            </a:r>
          </a:p>
        </p:txBody>
      </p:sp>
      <p:sp>
        <p:nvSpPr>
          <p:cNvPr id="10" name="TextBox 9"/>
          <p:cNvSpPr txBox="1"/>
          <p:nvPr/>
        </p:nvSpPr>
        <p:spPr>
          <a:xfrm>
            <a:off x="822960" y="2432304"/>
            <a:ext cx="1828800" cy="457200"/>
          </a:xfrm>
          <a:prstGeom prst="rect">
            <a:avLst/>
          </a:prstGeom>
          <a:noFill/>
        </p:spPr>
        <p:txBody>
          <a:bodyPr wrap="square" anchor="t" lIns="0" rIns="0" tIns="0" bIns="0">
            <a:spAutoFit/>
          </a:bodyPr>
          <a:lstStyle/>
          <a:p>
            <a:pPr algn="l">
              <a:lnSpc>
                <a:spcPct val="105000"/>
              </a:lnSpc>
              <a:spcAft>
                <a:spcPts val="0"/>
              </a:spcAft>
            </a:pPr>
            <a:r>
              <a:rPr sz="819" b="0" i="0">
                <a:solidFill>
                  <a:srgbClr val="8A8177"/>
                </a:solidFill>
                <a:latin typeface="Calibri"/>
              </a:rPr>
              <a:t>FY25 revenue · FY24 was ₹20 lakh</a:t>
            </a:r>
          </a:p>
        </p:txBody>
      </p:sp>
      <p:sp>
        <p:nvSpPr>
          <p:cNvPr id="11" name="TextBox 10"/>
          <p:cNvSpPr txBox="1"/>
          <p:nvPr/>
        </p:nvSpPr>
        <p:spPr>
          <a:xfrm>
            <a:off x="2697479" y="2029968"/>
            <a:ext cx="1828800" cy="411480"/>
          </a:xfrm>
          <a:prstGeom prst="rect">
            <a:avLst/>
          </a:prstGeom>
          <a:noFill/>
        </p:spPr>
        <p:txBody>
          <a:bodyPr wrap="square" anchor="t" lIns="0" rIns="0" tIns="0" bIns="0">
            <a:spAutoFit/>
          </a:bodyPr>
          <a:lstStyle/>
          <a:p>
            <a:pPr algn="l">
              <a:lnSpc>
                <a:spcPct val="115000"/>
              </a:lnSpc>
              <a:spcAft>
                <a:spcPts val="0"/>
              </a:spcAft>
            </a:pPr>
            <a:r>
              <a:rPr sz="2000" b="0" i="0">
                <a:solidFill>
                  <a:srgbClr val="221B15"/>
                </a:solidFill>
                <a:latin typeface="Georgia"/>
              </a:rPr>
              <a:t>5,000</a:t>
            </a:r>
          </a:p>
        </p:txBody>
      </p:sp>
      <p:sp>
        <p:nvSpPr>
          <p:cNvPr id="12" name="TextBox 11"/>
          <p:cNvSpPr txBox="1"/>
          <p:nvPr/>
        </p:nvSpPr>
        <p:spPr>
          <a:xfrm>
            <a:off x="2697479" y="2432304"/>
            <a:ext cx="1828800" cy="457200"/>
          </a:xfrm>
          <a:prstGeom prst="rect">
            <a:avLst/>
          </a:prstGeom>
          <a:noFill/>
        </p:spPr>
        <p:txBody>
          <a:bodyPr wrap="square" anchor="t" lIns="0" rIns="0" tIns="0" bIns="0">
            <a:spAutoFit/>
          </a:bodyPr>
          <a:lstStyle/>
          <a:p>
            <a:pPr algn="l">
              <a:lnSpc>
                <a:spcPct val="105000"/>
              </a:lnSpc>
              <a:spcAft>
                <a:spcPts val="0"/>
              </a:spcAft>
            </a:pPr>
            <a:r>
              <a:rPr sz="819" b="0" i="0">
                <a:solidFill>
                  <a:srgbClr val="8A8177"/>
                </a:solidFill>
                <a:latin typeface="Calibri"/>
              </a:rPr>
              <a:t>pairs a month by end-2025</a:t>
            </a:r>
          </a:p>
        </p:txBody>
      </p:sp>
      <p:sp>
        <p:nvSpPr>
          <p:cNvPr id="13" name="TextBox 12"/>
          <p:cNvSpPr txBox="1"/>
          <p:nvPr/>
        </p:nvSpPr>
        <p:spPr>
          <a:xfrm>
            <a:off x="4572000" y="2029968"/>
            <a:ext cx="1828800" cy="411480"/>
          </a:xfrm>
          <a:prstGeom prst="rect">
            <a:avLst/>
          </a:prstGeom>
          <a:noFill/>
        </p:spPr>
        <p:txBody>
          <a:bodyPr wrap="square" anchor="t" lIns="0" rIns="0" tIns="0" bIns="0">
            <a:spAutoFit/>
          </a:bodyPr>
          <a:lstStyle/>
          <a:p>
            <a:pPr algn="l">
              <a:lnSpc>
                <a:spcPct val="115000"/>
              </a:lnSpc>
              <a:spcAft>
                <a:spcPts val="0"/>
              </a:spcAft>
            </a:pPr>
            <a:r>
              <a:rPr sz="2000" b="0" i="0">
                <a:solidFill>
                  <a:srgbClr val="221B15"/>
                </a:solidFill>
                <a:latin typeface="Georgia"/>
              </a:rPr>
              <a:t>56 / 11</a:t>
            </a:r>
          </a:p>
        </p:txBody>
      </p:sp>
      <p:sp>
        <p:nvSpPr>
          <p:cNvPr id="14" name="TextBox 13"/>
          <p:cNvSpPr txBox="1"/>
          <p:nvPr/>
        </p:nvSpPr>
        <p:spPr>
          <a:xfrm>
            <a:off x="4572000" y="2432304"/>
            <a:ext cx="1828800" cy="457200"/>
          </a:xfrm>
          <a:prstGeom prst="rect">
            <a:avLst/>
          </a:prstGeom>
          <a:noFill/>
        </p:spPr>
        <p:txBody>
          <a:bodyPr wrap="square" anchor="t" lIns="0" rIns="0" tIns="0" bIns="0">
            <a:spAutoFit/>
          </a:bodyPr>
          <a:lstStyle/>
          <a:p>
            <a:pPr algn="l">
              <a:lnSpc>
                <a:spcPct val="105000"/>
              </a:lnSpc>
              <a:spcAft>
                <a:spcPts val="0"/>
              </a:spcAft>
            </a:pPr>
            <a:r>
              <a:rPr sz="819" b="0" i="0">
                <a:solidFill>
                  <a:srgbClr val="8A8177"/>
                </a:solidFill>
                <a:latin typeface="Calibri"/>
              </a:rPr>
              <a:t>gross margin % / contribution %</a:t>
            </a:r>
          </a:p>
        </p:txBody>
      </p:sp>
      <p:sp>
        <p:nvSpPr>
          <p:cNvPr id="15" name="TextBox 14"/>
          <p:cNvSpPr txBox="1"/>
          <p:nvPr/>
        </p:nvSpPr>
        <p:spPr>
          <a:xfrm>
            <a:off x="6446520" y="2029968"/>
            <a:ext cx="1828800" cy="411480"/>
          </a:xfrm>
          <a:prstGeom prst="rect">
            <a:avLst/>
          </a:prstGeom>
          <a:noFill/>
        </p:spPr>
        <p:txBody>
          <a:bodyPr wrap="square" anchor="t" lIns="0" rIns="0" tIns="0" bIns="0">
            <a:spAutoFit/>
          </a:bodyPr>
          <a:lstStyle/>
          <a:p>
            <a:pPr algn="l">
              <a:lnSpc>
                <a:spcPct val="115000"/>
              </a:lnSpc>
              <a:spcAft>
                <a:spcPts val="0"/>
              </a:spcAft>
            </a:pPr>
            <a:r>
              <a:rPr sz="2000" b="0" i="0">
                <a:solidFill>
                  <a:srgbClr val="221B15"/>
                </a:solidFill>
                <a:latin typeface="Georgia"/>
              </a:rPr>
              <a:t>100+50</a:t>
            </a:r>
          </a:p>
        </p:txBody>
      </p:sp>
      <p:sp>
        <p:nvSpPr>
          <p:cNvPr id="16" name="TextBox 15"/>
          <p:cNvSpPr txBox="1"/>
          <p:nvPr/>
        </p:nvSpPr>
        <p:spPr>
          <a:xfrm>
            <a:off x="6446520" y="2432304"/>
            <a:ext cx="1828800" cy="457200"/>
          </a:xfrm>
          <a:prstGeom prst="rect">
            <a:avLst/>
          </a:prstGeom>
          <a:noFill/>
        </p:spPr>
        <p:txBody>
          <a:bodyPr wrap="square" anchor="t" lIns="0" rIns="0" tIns="0" bIns="0">
            <a:spAutoFit/>
          </a:bodyPr>
          <a:lstStyle/>
          <a:p>
            <a:pPr algn="l">
              <a:lnSpc>
                <a:spcPct val="105000"/>
              </a:lnSpc>
              <a:spcAft>
                <a:spcPts val="0"/>
              </a:spcAft>
            </a:pPr>
            <a:r>
              <a:rPr sz="819" b="0" i="0">
                <a:solidFill>
                  <a:srgbClr val="8A8177"/>
                </a:solidFill>
                <a:latin typeface="Calibri"/>
              </a:rPr>
              <a:t>karigars + corporate team, Noida</a:t>
            </a:r>
          </a:p>
        </p:txBody>
      </p:sp>
      <p:sp>
        <p:nvSpPr>
          <p:cNvPr id="17" name="Rectangle 16"/>
          <p:cNvSpPr/>
          <p:nvPr/>
        </p:nvSpPr>
        <p:spPr>
          <a:xfrm>
            <a:off x="822960" y="2999232"/>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2960" y="3145536"/>
            <a:ext cx="868680" cy="228600"/>
          </a:xfrm>
          <a:prstGeom prst="rect">
            <a:avLst/>
          </a:prstGeom>
          <a:noFill/>
        </p:spPr>
        <p:txBody>
          <a:bodyPr wrap="square" anchor="t" lIns="0" rIns="0" tIns="0" bIns="0">
            <a:spAutoFit/>
          </a:bodyPr>
          <a:lstStyle/>
          <a:p>
            <a:pPr algn="l">
              <a:lnSpc>
                <a:spcPct val="115000"/>
              </a:lnSpc>
              <a:spcAft>
                <a:spcPts val="0"/>
              </a:spcAft>
            </a:pPr>
            <a:r>
              <a:rPr sz="930" b="1" i="0" spc="150">
                <a:solidFill>
                  <a:srgbClr val="8C6248"/>
                </a:solidFill>
                <a:latin typeface="Calibri"/>
              </a:rPr>
              <a:t>AUG 23</a:t>
            </a:r>
          </a:p>
        </p:txBody>
      </p:sp>
      <p:sp>
        <p:nvSpPr>
          <p:cNvPr id="19" name="TextBox 18"/>
          <p:cNvSpPr txBox="1"/>
          <p:nvPr/>
        </p:nvSpPr>
        <p:spPr>
          <a:xfrm>
            <a:off x="1737360" y="3145536"/>
            <a:ext cx="6583680" cy="274320"/>
          </a:xfrm>
          <a:prstGeom prst="rect">
            <a:avLst/>
          </a:prstGeom>
          <a:noFill/>
        </p:spPr>
        <p:txBody>
          <a:bodyPr wrap="square" anchor="t" lIns="0" rIns="0" tIns="0" bIns="0">
            <a:spAutoFit/>
          </a:bodyPr>
          <a:lstStyle/>
          <a:p>
            <a:pPr algn="l">
              <a:lnSpc>
                <a:spcPct val="115000"/>
              </a:lnSpc>
              <a:spcAft>
                <a:spcPts val="0"/>
              </a:spcAft>
            </a:pPr>
            <a:r>
              <a:rPr sz="930" b="0" i="0">
                <a:solidFill>
                  <a:srgbClr val="4A443C"/>
                </a:solidFill>
                <a:latin typeface="Calibri"/>
              </a:rPr>
              <a:t>launch; 50 prepaid orders, basement shoemaker, 10–20 pairs a month</a:t>
            </a:r>
          </a:p>
        </p:txBody>
      </p:sp>
      <p:sp>
        <p:nvSpPr>
          <p:cNvPr id="20" name="TextBox 19"/>
          <p:cNvSpPr txBox="1"/>
          <p:nvPr/>
        </p:nvSpPr>
        <p:spPr>
          <a:xfrm>
            <a:off x="822960" y="3456432"/>
            <a:ext cx="868680" cy="228600"/>
          </a:xfrm>
          <a:prstGeom prst="rect">
            <a:avLst/>
          </a:prstGeom>
          <a:noFill/>
        </p:spPr>
        <p:txBody>
          <a:bodyPr wrap="square" anchor="t" lIns="0" rIns="0" tIns="0" bIns="0">
            <a:spAutoFit/>
          </a:bodyPr>
          <a:lstStyle/>
          <a:p>
            <a:pPr algn="l">
              <a:lnSpc>
                <a:spcPct val="115000"/>
              </a:lnSpc>
              <a:spcAft>
                <a:spcPts val="0"/>
              </a:spcAft>
            </a:pPr>
            <a:r>
              <a:rPr sz="930" b="1" i="0" spc="150">
                <a:solidFill>
                  <a:srgbClr val="8C6248"/>
                </a:solidFill>
                <a:latin typeface="Calibri"/>
              </a:rPr>
              <a:t>DEC 23</a:t>
            </a:r>
          </a:p>
        </p:txBody>
      </p:sp>
      <p:sp>
        <p:nvSpPr>
          <p:cNvPr id="21" name="TextBox 20"/>
          <p:cNvSpPr txBox="1"/>
          <p:nvPr/>
        </p:nvSpPr>
        <p:spPr>
          <a:xfrm>
            <a:off x="1737360" y="3456432"/>
            <a:ext cx="6583680" cy="274320"/>
          </a:xfrm>
          <a:prstGeom prst="rect">
            <a:avLst/>
          </a:prstGeom>
          <a:noFill/>
        </p:spPr>
        <p:txBody>
          <a:bodyPr wrap="square" anchor="t" lIns="0" rIns="0" tIns="0" bIns="0">
            <a:spAutoFit/>
          </a:bodyPr>
          <a:lstStyle/>
          <a:p>
            <a:pPr algn="l">
              <a:lnSpc>
                <a:spcPct val="115000"/>
              </a:lnSpc>
              <a:spcAft>
                <a:spcPts val="0"/>
              </a:spcAft>
            </a:pPr>
            <a:r>
              <a:rPr sz="930" b="0" i="0">
                <a:solidFill>
                  <a:srgbClr val="4A443C"/>
                </a:solidFill>
                <a:latin typeface="Calibri"/>
              </a:rPr>
              <a:t>viral reel — 250 pairs sold out in two days</a:t>
            </a:r>
          </a:p>
        </p:txBody>
      </p:sp>
      <p:sp>
        <p:nvSpPr>
          <p:cNvPr id="22" name="TextBox 21"/>
          <p:cNvSpPr txBox="1"/>
          <p:nvPr/>
        </p:nvSpPr>
        <p:spPr>
          <a:xfrm>
            <a:off x="822960" y="3767328"/>
            <a:ext cx="868680" cy="228600"/>
          </a:xfrm>
          <a:prstGeom prst="rect">
            <a:avLst/>
          </a:prstGeom>
          <a:noFill/>
        </p:spPr>
        <p:txBody>
          <a:bodyPr wrap="square" anchor="t" lIns="0" rIns="0" tIns="0" bIns="0">
            <a:spAutoFit/>
          </a:bodyPr>
          <a:lstStyle/>
          <a:p>
            <a:pPr algn="l">
              <a:lnSpc>
                <a:spcPct val="115000"/>
              </a:lnSpc>
              <a:spcAft>
                <a:spcPts val="0"/>
              </a:spcAft>
            </a:pPr>
            <a:r>
              <a:rPr sz="930" b="1" i="0" spc="150">
                <a:solidFill>
                  <a:srgbClr val="8C6248"/>
                </a:solidFill>
                <a:latin typeface="Calibri"/>
              </a:rPr>
              <a:t>APR 24</a:t>
            </a:r>
          </a:p>
        </p:txBody>
      </p:sp>
      <p:sp>
        <p:nvSpPr>
          <p:cNvPr id="23" name="TextBox 22"/>
          <p:cNvSpPr txBox="1"/>
          <p:nvPr/>
        </p:nvSpPr>
        <p:spPr>
          <a:xfrm>
            <a:off x="1737360" y="3767328"/>
            <a:ext cx="6583680" cy="274320"/>
          </a:xfrm>
          <a:prstGeom prst="rect">
            <a:avLst/>
          </a:prstGeom>
          <a:noFill/>
        </p:spPr>
        <p:txBody>
          <a:bodyPr wrap="square" anchor="t" lIns="0" rIns="0" tIns="0" bIns="0">
            <a:spAutoFit/>
          </a:bodyPr>
          <a:lstStyle/>
          <a:p>
            <a:pPr algn="l">
              <a:lnSpc>
                <a:spcPct val="115000"/>
              </a:lnSpc>
              <a:spcAft>
                <a:spcPts val="0"/>
              </a:spcAft>
            </a:pPr>
            <a:r>
              <a:rPr sz="930" b="0" i="0">
                <a:solidFill>
                  <a:srgbClr val="4A443C"/>
                </a:solidFill>
                <a:latin typeface="Calibri"/>
              </a:rPr>
              <a:t>first unit: 1,000 sq ft, six karigars, Noida Sec-10</a:t>
            </a:r>
          </a:p>
        </p:txBody>
      </p:sp>
      <p:sp>
        <p:nvSpPr>
          <p:cNvPr id="24" name="TextBox 23"/>
          <p:cNvSpPr txBox="1"/>
          <p:nvPr/>
        </p:nvSpPr>
        <p:spPr>
          <a:xfrm>
            <a:off x="822960" y="4078224"/>
            <a:ext cx="868680" cy="228600"/>
          </a:xfrm>
          <a:prstGeom prst="rect">
            <a:avLst/>
          </a:prstGeom>
          <a:noFill/>
        </p:spPr>
        <p:txBody>
          <a:bodyPr wrap="square" anchor="t" lIns="0" rIns="0" tIns="0" bIns="0">
            <a:spAutoFit/>
          </a:bodyPr>
          <a:lstStyle/>
          <a:p>
            <a:pPr algn="l">
              <a:lnSpc>
                <a:spcPct val="115000"/>
              </a:lnSpc>
              <a:spcAft>
                <a:spcPts val="0"/>
              </a:spcAft>
            </a:pPr>
            <a:r>
              <a:rPr sz="930" b="1" i="0" spc="150">
                <a:solidFill>
                  <a:srgbClr val="8C6248"/>
                </a:solidFill>
                <a:latin typeface="Calibri"/>
              </a:rPr>
              <a:t>DEC 24</a:t>
            </a:r>
          </a:p>
        </p:txBody>
      </p:sp>
      <p:sp>
        <p:nvSpPr>
          <p:cNvPr id="25" name="TextBox 24"/>
          <p:cNvSpPr txBox="1"/>
          <p:nvPr/>
        </p:nvSpPr>
        <p:spPr>
          <a:xfrm>
            <a:off x="1737360" y="4078224"/>
            <a:ext cx="6583680" cy="274320"/>
          </a:xfrm>
          <a:prstGeom prst="rect">
            <a:avLst/>
          </a:prstGeom>
          <a:noFill/>
        </p:spPr>
        <p:txBody>
          <a:bodyPr wrap="square" anchor="t" lIns="0" rIns="0" tIns="0" bIns="0">
            <a:spAutoFit/>
          </a:bodyPr>
          <a:lstStyle/>
          <a:p>
            <a:pPr algn="l">
              <a:lnSpc>
                <a:spcPct val="115000"/>
              </a:lnSpc>
              <a:spcAft>
                <a:spcPts val="0"/>
              </a:spcAft>
            </a:pPr>
            <a:r>
              <a:rPr sz="930" b="0" i="0">
                <a:solidFill>
                  <a:srgbClr val="4A443C"/>
                </a:solidFill>
                <a:latin typeface="Calibri"/>
              </a:rPr>
              <a:t>₹8.7 Cr seed (Zeropearl); own factory; 600 pairs a month</a:t>
            </a:r>
          </a:p>
        </p:txBody>
      </p:sp>
      <p:sp>
        <p:nvSpPr>
          <p:cNvPr id="26" name="TextBox 25"/>
          <p:cNvSpPr txBox="1"/>
          <p:nvPr/>
        </p:nvSpPr>
        <p:spPr>
          <a:xfrm>
            <a:off x="822960" y="4389120"/>
            <a:ext cx="868680" cy="228600"/>
          </a:xfrm>
          <a:prstGeom prst="rect">
            <a:avLst/>
          </a:prstGeom>
          <a:noFill/>
        </p:spPr>
        <p:txBody>
          <a:bodyPr wrap="square" anchor="t" lIns="0" rIns="0" tIns="0" bIns="0">
            <a:spAutoFit/>
          </a:bodyPr>
          <a:lstStyle/>
          <a:p>
            <a:pPr algn="l">
              <a:lnSpc>
                <a:spcPct val="115000"/>
              </a:lnSpc>
              <a:spcAft>
                <a:spcPts val="0"/>
              </a:spcAft>
            </a:pPr>
            <a:r>
              <a:rPr sz="930" b="1" i="0" spc="150">
                <a:solidFill>
                  <a:srgbClr val="8C6248"/>
                </a:solidFill>
                <a:latin typeface="Calibri"/>
              </a:rPr>
              <a:t>SEP 25</a:t>
            </a:r>
          </a:p>
        </p:txBody>
      </p:sp>
      <p:sp>
        <p:nvSpPr>
          <p:cNvPr id="27" name="TextBox 26"/>
          <p:cNvSpPr txBox="1"/>
          <p:nvPr/>
        </p:nvSpPr>
        <p:spPr>
          <a:xfrm>
            <a:off x="1737360" y="4389120"/>
            <a:ext cx="6583680" cy="274320"/>
          </a:xfrm>
          <a:prstGeom prst="rect">
            <a:avLst/>
          </a:prstGeom>
          <a:noFill/>
        </p:spPr>
        <p:txBody>
          <a:bodyPr wrap="square" anchor="t" lIns="0" rIns="0" tIns="0" bIns="0">
            <a:spAutoFit/>
          </a:bodyPr>
          <a:lstStyle/>
          <a:p>
            <a:pPr algn="l">
              <a:lnSpc>
                <a:spcPct val="115000"/>
              </a:lnSpc>
              <a:spcAft>
                <a:spcPts val="0"/>
              </a:spcAft>
            </a:pPr>
            <a:r>
              <a:rPr sz="930" b="0" i="0">
                <a:solidFill>
                  <a:srgbClr val="4A443C"/>
                </a:solidFill>
                <a:latin typeface="Calibri"/>
              </a:rPr>
              <a:t>flagship “Baithak” store, Panchsheel Park, Delhi</a:t>
            </a:r>
          </a:p>
        </p:txBody>
      </p:sp>
      <p:sp>
        <p:nvSpPr>
          <p:cNvPr id="28" name="TextBox 27"/>
          <p:cNvSpPr txBox="1"/>
          <p:nvPr/>
        </p:nvSpPr>
        <p:spPr>
          <a:xfrm>
            <a:off x="822960" y="4700016"/>
            <a:ext cx="868680" cy="228600"/>
          </a:xfrm>
          <a:prstGeom prst="rect">
            <a:avLst/>
          </a:prstGeom>
          <a:noFill/>
        </p:spPr>
        <p:txBody>
          <a:bodyPr wrap="square" anchor="t" lIns="0" rIns="0" tIns="0" bIns="0">
            <a:spAutoFit/>
          </a:bodyPr>
          <a:lstStyle/>
          <a:p>
            <a:pPr algn="l">
              <a:lnSpc>
                <a:spcPct val="115000"/>
              </a:lnSpc>
              <a:spcAft>
                <a:spcPts val="0"/>
              </a:spcAft>
            </a:pPr>
            <a:r>
              <a:rPr sz="930" b="1" i="0" spc="150">
                <a:solidFill>
                  <a:srgbClr val="8C6248"/>
                </a:solidFill>
                <a:latin typeface="Calibri"/>
              </a:rPr>
              <a:t>JAN 26</a:t>
            </a:r>
          </a:p>
        </p:txBody>
      </p:sp>
      <p:sp>
        <p:nvSpPr>
          <p:cNvPr id="29" name="TextBox 28"/>
          <p:cNvSpPr txBox="1"/>
          <p:nvPr/>
        </p:nvSpPr>
        <p:spPr>
          <a:xfrm>
            <a:off x="1737360" y="4700016"/>
            <a:ext cx="6583680" cy="274320"/>
          </a:xfrm>
          <a:prstGeom prst="rect">
            <a:avLst/>
          </a:prstGeom>
          <a:noFill/>
        </p:spPr>
        <p:txBody>
          <a:bodyPr wrap="square" anchor="t" lIns="0" rIns="0" tIns="0" bIns="0">
            <a:spAutoFit/>
          </a:bodyPr>
          <a:lstStyle/>
          <a:p>
            <a:pPr algn="l">
              <a:lnSpc>
                <a:spcPct val="115000"/>
              </a:lnSpc>
              <a:spcAft>
                <a:spcPts val="0"/>
              </a:spcAft>
            </a:pPr>
            <a:r>
              <a:rPr sz="930" b="0" i="0">
                <a:solidFill>
                  <a:srgbClr val="4A443C"/>
                </a:solidFill>
                <a:latin typeface="Calibri"/>
              </a:rPr>
              <a:t>₹26.5 Cr Series A (Saama) · Shark Tank ₹1 Cr @ ₹175 Cr</a:t>
            </a:r>
          </a:p>
        </p:txBody>
      </p:sp>
      <p:sp>
        <p:nvSpPr>
          <p:cNvPr id="30" name="TextBox 29"/>
          <p:cNvSpPr txBox="1"/>
          <p:nvPr/>
        </p:nvSpPr>
        <p:spPr>
          <a:xfrm>
            <a:off x="822960" y="5010912"/>
            <a:ext cx="868680" cy="228600"/>
          </a:xfrm>
          <a:prstGeom prst="rect">
            <a:avLst/>
          </a:prstGeom>
          <a:noFill/>
        </p:spPr>
        <p:txBody>
          <a:bodyPr wrap="square" anchor="t" lIns="0" rIns="0" tIns="0" bIns="0">
            <a:spAutoFit/>
          </a:bodyPr>
          <a:lstStyle/>
          <a:p>
            <a:pPr algn="l">
              <a:lnSpc>
                <a:spcPct val="115000"/>
              </a:lnSpc>
              <a:spcAft>
                <a:spcPts val="0"/>
              </a:spcAft>
            </a:pPr>
            <a:r>
              <a:rPr sz="930" b="1" i="0" spc="150">
                <a:solidFill>
                  <a:srgbClr val="8C6248"/>
                </a:solidFill>
                <a:latin typeface="Calibri"/>
              </a:rPr>
              <a:t>SEP 26</a:t>
            </a:r>
          </a:p>
        </p:txBody>
      </p:sp>
      <p:sp>
        <p:nvSpPr>
          <p:cNvPr id="31" name="TextBox 30"/>
          <p:cNvSpPr txBox="1"/>
          <p:nvPr/>
        </p:nvSpPr>
        <p:spPr>
          <a:xfrm>
            <a:off x="1737360" y="5010912"/>
            <a:ext cx="6583680" cy="274320"/>
          </a:xfrm>
          <a:prstGeom prst="rect">
            <a:avLst/>
          </a:prstGeom>
          <a:noFill/>
        </p:spPr>
        <p:txBody>
          <a:bodyPr wrap="square" anchor="t" lIns="0" rIns="0" tIns="0" bIns="0">
            <a:spAutoFit/>
          </a:bodyPr>
          <a:lstStyle/>
          <a:p>
            <a:pPr algn="l">
              <a:lnSpc>
                <a:spcPct val="115000"/>
              </a:lnSpc>
              <a:spcAft>
                <a:spcPts val="0"/>
              </a:spcAft>
            </a:pPr>
            <a:r>
              <a:rPr sz="930" b="0" i="0">
                <a:solidFill>
                  <a:srgbClr val="4A443C"/>
                </a:solidFill>
                <a:latin typeface="Calibri"/>
              </a:rPr>
              <a:t>Bengaluru store + Kaapi drop; three cities live</a:t>
            </a:r>
          </a:p>
        </p:txBody>
      </p:sp>
      <p:sp>
        <p:nvSpPr>
          <p:cNvPr id="32" name="TextBox 31"/>
          <p:cNvSpPr txBox="1"/>
          <p:nvPr/>
        </p:nvSpPr>
        <p:spPr>
          <a:xfrm>
            <a:off x="822960" y="5440680"/>
            <a:ext cx="7543800" cy="914400"/>
          </a:xfrm>
          <a:prstGeom prst="rect">
            <a:avLst/>
          </a:prstGeom>
          <a:noFill/>
        </p:spPr>
        <p:txBody>
          <a:bodyPr wrap="square" anchor="t" lIns="0" rIns="0" tIns="0" bIns="0">
            <a:spAutoFit/>
          </a:bodyPr>
          <a:lstStyle/>
          <a:p>
            <a:pPr algn="l">
              <a:lnSpc>
                <a:spcPct val="118000"/>
              </a:lnSpc>
              <a:spcAft>
                <a:spcPts val="400"/>
              </a:spcAft>
            </a:pPr>
            <a:r>
              <a:rPr sz="880" b="1" i="0">
                <a:solidFill>
                  <a:srgbClr val="221B15"/>
                </a:solidFill>
                <a:latin typeface="Calibri"/>
              </a:rPr>
              <a:t>Social: </a:t>
            </a:r>
            <a:r>
              <a:rPr sz="880" b="0" i="0">
                <a:solidFill>
                  <a:srgbClr val="8A8177"/>
                </a:solidFill>
                <a:latin typeface="Calibri"/>
              </a:rPr>
              <a:t>X @GullyLabs, 3,640 followers (verified 19 Sep 2026) — a drop wire, not a reach channel; reach lives on reels (one 7M-view reel made the Dec-23 sellout) and cause-marketing (15% of three days’ sales to Hemkunt Foundation).</a:t>
            </a:r>
          </a:p>
          <a:p>
            <a:pPr algn="l">
              <a:lnSpc>
                <a:spcPct val="118000"/>
              </a:lnSpc>
              <a:spcAft>
                <a:spcPts val="400"/>
              </a:spcAft>
            </a:pPr>
            <a:r>
              <a:rPr sz="880" b="0" i="0">
                <a:solidFill>
                  <a:srgbClr val="8A8177"/>
                </a:solidFill>
                <a:latin typeface="Calibri"/>
              </a:rPr>
              <a:t>They own the factory, the store and the data: D2C India + global, Amazon store, curated partners; 10,000+ orders shipped.</a:t>
            </a:r>
          </a:p>
        </p:txBody>
      </p:sp>
      <p:sp>
        <p:nvSpPr>
          <p:cNvPr id="33" name="Rectangle 32"/>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_v3_gully-labs-sneakers-delhi-campaign-india-4.jpg"/>
          <p:cNvPicPr>
            <a:picLocks noChangeAspect="1"/>
          </p:cNvPicPr>
          <p:nvPr/>
        </p:nvPicPr>
        <p:blipFill>
          <a:blip r:embed="rId2"/>
          <a:stretch>
            <a:fillRect/>
          </a:stretch>
        </p:blipFill>
        <p:spPr>
          <a:xfrm>
            <a:off x="8732520" y="1828800"/>
            <a:ext cx="2651760" cy="4297680"/>
          </a:xfrm>
          <a:prstGeom prst="rect">
            <a:avLst/>
          </a:prstGeom>
        </p:spPr>
      </p:pic>
      <p:sp>
        <p:nvSpPr>
          <p:cNvPr id="35" name="TextBox 34"/>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The flagship, Panchsheel Park — karigar studio, shoe museum, Baithak (AD India).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BUSINESS POLICY</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A mission, four policies, one culture.</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04 / 15</a:t>
            </a:r>
          </a:p>
        </p:txBody>
      </p:sp>
      <p:sp>
        <p:nvSpPr>
          <p:cNvPr id="8" name="TextBox 7"/>
          <p:cNvSpPr txBox="1"/>
          <p:nvPr/>
        </p:nvSpPr>
        <p:spPr>
          <a:xfrm>
            <a:off x="822960" y="1828800"/>
            <a:ext cx="548640" cy="640080"/>
          </a:xfrm>
          <a:prstGeom prst="rect">
            <a:avLst/>
          </a:prstGeom>
          <a:noFill/>
        </p:spPr>
        <p:txBody>
          <a:bodyPr wrap="square" anchor="t" lIns="0" rIns="0" tIns="0" bIns="0">
            <a:spAutoFit/>
          </a:bodyPr>
          <a:lstStyle/>
          <a:p>
            <a:pPr algn="l">
              <a:lnSpc>
                <a:spcPct val="115000"/>
              </a:lnSpc>
              <a:spcAft>
                <a:spcPts val="0"/>
              </a:spcAft>
            </a:pPr>
            <a:r>
              <a:rPr sz="4200" b="0" i="0">
                <a:solidFill>
                  <a:srgbClr val="8C6248"/>
                </a:solidFill>
                <a:latin typeface="Georgia"/>
              </a:rPr>
              <a:t>“</a:t>
            </a:r>
          </a:p>
        </p:txBody>
      </p:sp>
      <p:sp>
        <p:nvSpPr>
          <p:cNvPr id="9" name="TextBox 8"/>
          <p:cNvSpPr txBox="1"/>
          <p:nvPr/>
        </p:nvSpPr>
        <p:spPr>
          <a:xfrm>
            <a:off x="1280160" y="1965960"/>
            <a:ext cx="7040880" cy="1097280"/>
          </a:xfrm>
          <a:prstGeom prst="rect">
            <a:avLst/>
          </a:prstGeom>
          <a:noFill/>
        </p:spPr>
        <p:txBody>
          <a:bodyPr wrap="square" anchor="t" lIns="0" rIns="0" tIns="0" bIns="0">
            <a:spAutoFit/>
          </a:bodyPr>
          <a:lstStyle/>
          <a:p>
            <a:pPr algn="l">
              <a:lnSpc>
                <a:spcPct val="128000"/>
              </a:lnSpc>
              <a:spcAft>
                <a:spcPts val="0"/>
              </a:spcAft>
            </a:pPr>
            <a:r>
              <a:rPr sz="1450" b="0" i="1">
                <a:solidFill>
                  <a:srgbClr val="221B15"/>
                </a:solidFill>
                <a:latin typeface="Georgia"/>
              </a:rPr>
              <a:t>To build a household sneaker brand from Delhi that is truly and unapologetically Indian — shaped by local streets, crafts and culture, not borrowed from the West.</a:t>
            </a:r>
          </a:p>
        </p:txBody>
      </p:sp>
      <p:sp>
        <p:nvSpPr>
          <p:cNvPr id="10" name="TextBox 9"/>
          <p:cNvSpPr txBox="1"/>
          <p:nvPr/>
        </p:nvSpPr>
        <p:spPr>
          <a:xfrm>
            <a:off x="822960" y="3154680"/>
            <a:ext cx="7543800" cy="822960"/>
          </a:xfrm>
          <a:prstGeom prst="rect">
            <a:avLst/>
          </a:prstGeom>
          <a:noFill/>
        </p:spPr>
        <p:txBody>
          <a:bodyPr wrap="square" anchor="t" lIns="0" rIns="0" tIns="0" bIns="0">
            <a:spAutoFit/>
          </a:bodyPr>
          <a:lstStyle/>
          <a:p>
            <a:pPr algn="l">
              <a:lnSpc>
                <a:spcPct val="122000"/>
              </a:lnSpc>
              <a:spcAft>
                <a:spcPts val="0"/>
              </a:spcAft>
            </a:pPr>
            <a:r>
              <a:rPr sz="1000" b="0" i="0">
                <a:solidFill>
                  <a:srgbClr val="4A443C"/>
                </a:solidFill>
                <a:latin typeface="Calibri"/>
              </a:rPr>
              <a:t>Vision: put India’s authentic culture on the global sneaker map — “the next great global sneaker brand out of India, one culturally-charged collection at a time.” Values in behaviour: originality (never a compromise brand), craft (karigar-first, ~95% local), community (six months of content before product), story (every colourway named), value-not-price (“India is not price-conscious, it’s value-conscious”).</a:t>
            </a:r>
          </a:p>
        </p:txBody>
      </p:sp>
      <p:sp>
        <p:nvSpPr>
          <p:cNvPr id="11" name="Rectangle 10"/>
          <p:cNvSpPr/>
          <p:nvPr/>
        </p:nvSpPr>
        <p:spPr>
          <a:xfrm>
            <a:off x="822960" y="4434840"/>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4553712"/>
            <a:ext cx="1463040" cy="228600"/>
          </a:xfrm>
          <a:prstGeom prst="rect">
            <a:avLst/>
          </a:prstGeom>
          <a:noFill/>
        </p:spPr>
        <p:txBody>
          <a:bodyPr wrap="square" anchor="t" lIns="0" rIns="0" tIns="0" bIns="0">
            <a:spAutoFit/>
          </a:bodyPr>
          <a:lstStyle/>
          <a:p>
            <a:pPr algn="l">
              <a:lnSpc>
                <a:spcPct val="115000"/>
              </a:lnSpc>
              <a:spcAft>
                <a:spcPts val="0"/>
              </a:spcAft>
            </a:pPr>
            <a:r>
              <a:rPr sz="880" b="1" i="0" spc="150">
                <a:solidFill>
                  <a:srgbClr val="8C6248"/>
                </a:solidFill>
                <a:latin typeface="Calibri"/>
              </a:rPr>
              <a:t>ORIGIN POLICY</a:t>
            </a:r>
          </a:p>
        </p:txBody>
      </p:sp>
      <p:sp>
        <p:nvSpPr>
          <p:cNvPr id="13" name="TextBox 12"/>
          <p:cNvSpPr txBox="1"/>
          <p:nvPr/>
        </p:nvSpPr>
        <p:spPr>
          <a:xfrm>
            <a:off x="2377440" y="4553712"/>
            <a:ext cx="914400" cy="228600"/>
          </a:xfrm>
          <a:prstGeom prst="rect">
            <a:avLst/>
          </a:prstGeom>
          <a:noFill/>
        </p:spPr>
        <p:txBody>
          <a:bodyPr wrap="square" anchor="t" lIns="0" rIns="0" tIns="0" bIns="0">
            <a:spAutoFit/>
          </a:bodyPr>
          <a:lstStyle/>
          <a:p>
            <a:pPr algn="l">
              <a:lnSpc>
                <a:spcPct val="115000"/>
              </a:lnSpc>
              <a:spcAft>
                <a:spcPts val="0"/>
              </a:spcAft>
            </a:pPr>
            <a:r>
              <a:rPr sz="880" b="0" i="1">
                <a:solidFill>
                  <a:srgbClr val="8A8177"/>
                </a:solidFill>
                <a:latin typeface="Calibri"/>
              </a:rPr>
              <a:t>functional</a:t>
            </a:r>
          </a:p>
        </p:txBody>
      </p:sp>
      <p:sp>
        <p:nvSpPr>
          <p:cNvPr id="14" name="TextBox 13"/>
          <p:cNvSpPr txBox="1"/>
          <p:nvPr/>
        </p:nvSpPr>
        <p:spPr>
          <a:xfrm>
            <a:off x="3337560" y="4553712"/>
            <a:ext cx="5029200" cy="228600"/>
          </a:xfrm>
          <a:prstGeom prst="rect">
            <a:avLst/>
          </a:prstGeom>
          <a:noFill/>
        </p:spPr>
        <p:txBody>
          <a:bodyPr wrap="square" anchor="t" lIns="0" rIns="0" tIns="0" bIns="0">
            <a:spAutoFit/>
          </a:bodyPr>
          <a:lstStyle/>
          <a:p>
            <a:pPr algn="l">
              <a:lnSpc>
                <a:spcPct val="115000"/>
              </a:lnSpc>
              <a:spcAft>
                <a:spcPts val="0"/>
              </a:spcAft>
            </a:pPr>
            <a:r>
              <a:rPr sz="880" b="0" i="0">
                <a:solidFill>
                  <a:srgbClr val="4A443C"/>
                </a:solidFill>
                <a:latin typeface="Calibri"/>
              </a:rPr>
              <a:t>own factory; ~95% local sourcing</a:t>
            </a:r>
          </a:p>
        </p:txBody>
      </p:sp>
      <p:sp>
        <p:nvSpPr>
          <p:cNvPr id="15" name="TextBox 14"/>
          <p:cNvSpPr txBox="1"/>
          <p:nvPr/>
        </p:nvSpPr>
        <p:spPr>
          <a:xfrm>
            <a:off x="822960" y="4837176"/>
            <a:ext cx="1463040" cy="228600"/>
          </a:xfrm>
          <a:prstGeom prst="rect">
            <a:avLst/>
          </a:prstGeom>
          <a:noFill/>
        </p:spPr>
        <p:txBody>
          <a:bodyPr wrap="square" anchor="t" lIns="0" rIns="0" tIns="0" bIns="0">
            <a:spAutoFit/>
          </a:bodyPr>
          <a:lstStyle/>
          <a:p>
            <a:pPr algn="l">
              <a:lnSpc>
                <a:spcPct val="115000"/>
              </a:lnSpc>
              <a:spcAft>
                <a:spcPts val="0"/>
              </a:spcAft>
            </a:pPr>
            <a:r>
              <a:rPr sz="880" b="1" i="0" spc="150">
                <a:solidFill>
                  <a:srgbClr val="8C6248"/>
                </a:solidFill>
                <a:latin typeface="Calibri"/>
              </a:rPr>
              <a:t>DROP POLICY</a:t>
            </a:r>
          </a:p>
        </p:txBody>
      </p:sp>
      <p:sp>
        <p:nvSpPr>
          <p:cNvPr id="16" name="TextBox 15"/>
          <p:cNvSpPr txBox="1"/>
          <p:nvPr/>
        </p:nvSpPr>
        <p:spPr>
          <a:xfrm>
            <a:off x="2377440" y="4837176"/>
            <a:ext cx="914400" cy="228600"/>
          </a:xfrm>
          <a:prstGeom prst="rect">
            <a:avLst/>
          </a:prstGeom>
          <a:noFill/>
        </p:spPr>
        <p:txBody>
          <a:bodyPr wrap="square" anchor="t" lIns="0" rIns="0" tIns="0" bIns="0">
            <a:spAutoFit/>
          </a:bodyPr>
          <a:lstStyle/>
          <a:p>
            <a:pPr algn="l">
              <a:lnSpc>
                <a:spcPct val="115000"/>
              </a:lnSpc>
              <a:spcAft>
                <a:spcPts val="0"/>
              </a:spcAft>
            </a:pPr>
            <a:r>
              <a:rPr sz="880" b="0" i="1">
                <a:solidFill>
                  <a:srgbClr val="8A8177"/>
                </a:solidFill>
                <a:latin typeface="Calibri"/>
              </a:rPr>
              <a:t>operating</a:t>
            </a:r>
          </a:p>
        </p:txBody>
      </p:sp>
      <p:sp>
        <p:nvSpPr>
          <p:cNvPr id="17" name="TextBox 16"/>
          <p:cNvSpPr txBox="1"/>
          <p:nvPr/>
        </p:nvSpPr>
        <p:spPr>
          <a:xfrm>
            <a:off x="3337560" y="4837176"/>
            <a:ext cx="5029200" cy="228600"/>
          </a:xfrm>
          <a:prstGeom prst="rect">
            <a:avLst/>
          </a:prstGeom>
          <a:noFill/>
        </p:spPr>
        <p:txBody>
          <a:bodyPr wrap="square" anchor="t" lIns="0" rIns="0" tIns="0" bIns="0">
            <a:spAutoFit/>
          </a:bodyPr>
          <a:lstStyle/>
          <a:p>
            <a:pPr algn="l">
              <a:lnSpc>
                <a:spcPct val="115000"/>
              </a:lnSpc>
              <a:spcAft>
                <a:spcPts val="0"/>
              </a:spcAft>
            </a:pPr>
            <a:r>
              <a:rPr sz="880" b="0" i="0">
                <a:solidFill>
                  <a:srgbClr val="4A443C"/>
                </a:solidFill>
                <a:latin typeface="Calibri"/>
              </a:rPr>
              <a:t>a themed collection every ~60 days, limited runs</a:t>
            </a:r>
          </a:p>
        </p:txBody>
      </p:sp>
      <p:sp>
        <p:nvSpPr>
          <p:cNvPr id="18" name="TextBox 17"/>
          <p:cNvSpPr txBox="1"/>
          <p:nvPr/>
        </p:nvSpPr>
        <p:spPr>
          <a:xfrm>
            <a:off x="822960" y="5120640"/>
            <a:ext cx="1463040" cy="228600"/>
          </a:xfrm>
          <a:prstGeom prst="rect">
            <a:avLst/>
          </a:prstGeom>
          <a:noFill/>
        </p:spPr>
        <p:txBody>
          <a:bodyPr wrap="square" anchor="t" lIns="0" rIns="0" tIns="0" bIns="0">
            <a:spAutoFit/>
          </a:bodyPr>
          <a:lstStyle/>
          <a:p>
            <a:pPr algn="l">
              <a:lnSpc>
                <a:spcPct val="115000"/>
              </a:lnSpc>
              <a:spcAft>
                <a:spcPts val="0"/>
              </a:spcAft>
            </a:pPr>
            <a:r>
              <a:rPr sz="880" b="1" i="0" spc="150">
                <a:solidFill>
                  <a:srgbClr val="8C6248"/>
                </a:solidFill>
                <a:latin typeface="Calibri"/>
              </a:rPr>
              <a:t>PRICE POLICY</a:t>
            </a:r>
          </a:p>
        </p:txBody>
      </p:sp>
      <p:sp>
        <p:nvSpPr>
          <p:cNvPr id="19" name="TextBox 18"/>
          <p:cNvSpPr txBox="1"/>
          <p:nvPr/>
        </p:nvSpPr>
        <p:spPr>
          <a:xfrm>
            <a:off x="2377440" y="5120640"/>
            <a:ext cx="914400" cy="228600"/>
          </a:xfrm>
          <a:prstGeom prst="rect">
            <a:avLst/>
          </a:prstGeom>
          <a:noFill/>
        </p:spPr>
        <p:txBody>
          <a:bodyPr wrap="square" anchor="t" lIns="0" rIns="0" tIns="0" bIns="0">
            <a:spAutoFit/>
          </a:bodyPr>
          <a:lstStyle/>
          <a:p>
            <a:pPr algn="l">
              <a:lnSpc>
                <a:spcPct val="115000"/>
              </a:lnSpc>
              <a:spcAft>
                <a:spcPts val="0"/>
              </a:spcAft>
            </a:pPr>
            <a:r>
              <a:rPr sz="880" b="0" i="1">
                <a:solidFill>
                  <a:srgbClr val="8A8177"/>
                </a:solidFill>
                <a:latin typeface="Calibri"/>
              </a:rPr>
              <a:t>strategic</a:t>
            </a:r>
          </a:p>
        </p:txBody>
      </p:sp>
      <p:sp>
        <p:nvSpPr>
          <p:cNvPr id="20" name="TextBox 19"/>
          <p:cNvSpPr txBox="1"/>
          <p:nvPr/>
        </p:nvSpPr>
        <p:spPr>
          <a:xfrm>
            <a:off x="3337560" y="5120640"/>
            <a:ext cx="5029200" cy="228600"/>
          </a:xfrm>
          <a:prstGeom prst="rect">
            <a:avLst/>
          </a:prstGeom>
          <a:noFill/>
        </p:spPr>
        <p:txBody>
          <a:bodyPr wrap="square" anchor="t" lIns="0" rIns="0" tIns="0" bIns="0">
            <a:spAutoFit/>
          </a:bodyPr>
          <a:lstStyle/>
          <a:p>
            <a:pPr algn="l">
              <a:lnSpc>
                <a:spcPct val="115000"/>
              </a:lnSpc>
              <a:spcAft>
                <a:spcPts val="0"/>
              </a:spcAft>
            </a:pPr>
            <a:r>
              <a:rPr sz="880" b="0" i="0">
                <a:solidFill>
                  <a:srgbClr val="4A443C"/>
                </a:solidFill>
                <a:latin typeface="Calibri"/>
              </a:rPr>
              <a:t>premium held at ₹4–15k; no discount-led growth</a:t>
            </a:r>
          </a:p>
        </p:txBody>
      </p:sp>
      <p:sp>
        <p:nvSpPr>
          <p:cNvPr id="21" name="TextBox 20"/>
          <p:cNvSpPr txBox="1"/>
          <p:nvPr/>
        </p:nvSpPr>
        <p:spPr>
          <a:xfrm>
            <a:off x="822960" y="5404103"/>
            <a:ext cx="1463040" cy="228600"/>
          </a:xfrm>
          <a:prstGeom prst="rect">
            <a:avLst/>
          </a:prstGeom>
          <a:noFill/>
        </p:spPr>
        <p:txBody>
          <a:bodyPr wrap="square" anchor="t" lIns="0" rIns="0" tIns="0" bIns="0">
            <a:spAutoFit/>
          </a:bodyPr>
          <a:lstStyle/>
          <a:p>
            <a:pPr algn="l">
              <a:lnSpc>
                <a:spcPct val="115000"/>
              </a:lnSpc>
              <a:spcAft>
                <a:spcPts val="0"/>
              </a:spcAft>
            </a:pPr>
            <a:r>
              <a:rPr sz="880" b="1" i="0" spc="150">
                <a:solidFill>
                  <a:srgbClr val="8C6248"/>
                </a:solidFill>
                <a:latin typeface="Calibri"/>
              </a:rPr>
              <a:t>PEOPLE POLICY</a:t>
            </a:r>
          </a:p>
        </p:txBody>
      </p:sp>
      <p:sp>
        <p:nvSpPr>
          <p:cNvPr id="22" name="TextBox 21"/>
          <p:cNvSpPr txBox="1"/>
          <p:nvPr/>
        </p:nvSpPr>
        <p:spPr>
          <a:xfrm>
            <a:off x="2377440" y="5404103"/>
            <a:ext cx="914400" cy="228600"/>
          </a:xfrm>
          <a:prstGeom prst="rect">
            <a:avLst/>
          </a:prstGeom>
          <a:noFill/>
        </p:spPr>
        <p:txBody>
          <a:bodyPr wrap="square" anchor="t" lIns="0" rIns="0" tIns="0" bIns="0">
            <a:spAutoFit/>
          </a:bodyPr>
          <a:lstStyle/>
          <a:p>
            <a:pPr algn="l">
              <a:lnSpc>
                <a:spcPct val="115000"/>
              </a:lnSpc>
              <a:spcAft>
                <a:spcPts val="0"/>
              </a:spcAft>
            </a:pPr>
            <a:r>
              <a:rPr sz="880" b="0" i="1">
                <a:solidFill>
                  <a:srgbClr val="8A8177"/>
                </a:solidFill>
                <a:latin typeface="Calibri"/>
              </a:rPr>
              <a:t>functional</a:t>
            </a:r>
          </a:p>
        </p:txBody>
      </p:sp>
      <p:sp>
        <p:nvSpPr>
          <p:cNvPr id="23" name="TextBox 22"/>
          <p:cNvSpPr txBox="1"/>
          <p:nvPr/>
        </p:nvSpPr>
        <p:spPr>
          <a:xfrm>
            <a:off x="3337560" y="5404103"/>
            <a:ext cx="5029200" cy="228600"/>
          </a:xfrm>
          <a:prstGeom prst="rect">
            <a:avLst/>
          </a:prstGeom>
          <a:noFill/>
        </p:spPr>
        <p:txBody>
          <a:bodyPr wrap="square" anchor="t" lIns="0" rIns="0" tIns="0" bIns="0">
            <a:spAutoFit/>
          </a:bodyPr>
          <a:lstStyle/>
          <a:p>
            <a:pPr algn="l">
              <a:lnSpc>
                <a:spcPct val="115000"/>
              </a:lnSpc>
              <a:spcAft>
                <a:spcPts val="0"/>
              </a:spcAft>
            </a:pPr>
            <a:r>
              <a:rPr sz="880" b="0" i="0">
                <a:solidFill>
                  <a:srgbClr val="4A443C"/>
                </a:solidFill>
                <a:latin typeface="Calibri"/>
              </a:rPr>
              <a:t>karigar retention; backend permissioning post-fraud</a:t>
            </a:r>
          </a:p>
        </p:txBody>
      </p:sp>
      <p:sp>
        <p:nvSpPr>
          <p:cNvPr id="24" name="TextBox 23"/>
          <p:cNvSpPr txBox="1"/>
          <p:nvPr/>
        </p:nvSpPr>
        <p:spPr>
          <a:xfrm>
            <a:off x="822960" y="5760720"/>
            <a:ext cx="7543800" cy="548640"/>
          </a:xfrm>
          <a:prstGeom prst="rect">
            <a:avLst/>
          </a:prstGeom>
          <a:noFill/>
        </p:spPr>
        <p:txBody>
          <a:bodyPr wrap="square" anchor="t" lIns="0" rIns="0" tIns="0" bIns="0">
            <a:spAutoFit/>
          </a:bodyPr>
          <a:lstStyle/>
          <a:p>
            <a:pPr algn="l">
              <a:lnSpc>
                <a:spcPct val="122000"/>
              </a:lnSpc>
              <a:spcAft>
                <a:spcPts val="0"/>
              </a:spcAft>
            </a:pPr>
            <a:r>
              <a:rPr sz="919" b="0" i="0">
                <a:solidFill>
                  <a:srgbClr val="8A8177"/>
                </a:solidFill>
                <a:latin typeface="Calibri"/>
              </a:rPr>
              <a:t>Corporate culture is the control system: the manifesto doubles as hiring filter and design brief; 100 karigars are the brand’s named heroes; a trust-based culture met its first governance wall in Feb 2026 (S13).</a:t>
            </a:r>
          </a:p>
        </p:txBody>
      </p:sp>
      <p:sp>
        <p:nvSpPr>
          <p:cNvPr id="25" name="Rectangle 24"/>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6" name="Picture 25" descr="_v3_gully-labs-sneakers-delhi-campaign-india-2.jpg"/>
          <p:cNvPicPr>
            <a:picLocks noChangeAspect="1"/>
          </p:cNvPicPr>
          <p:nvPr/>
        </p:nvPicPr>
        <p:blipFill>
          <a:blip r:embed="rId2"/>
          <a:stretch>
            <a:fillRect/>
          </a:stretch>
        </p:blipFill>
        <p:spPr>
          <a:xfrm>
            <a:off x="8732520" y="1828800"/>
            <a:ext cx="2651760" cy="4297680"/>
          </a:xfrm>
          <a:prstGeom prst="rect">
            <a:avLst/>
          </a:prstGeom>
        </p:spPr>
      </p:pic>
      <p:sp>
        <p:nvSpPr>
          <p:cNvPr id="27" name="TextBox 26"/>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Co-founder Arjun Singh — r/Delhi AMA,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ENVIRONMENTAL SCANNING · EXTERNAL</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PESTEL: a friendly climate, one tax headwind.</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05 / 15</a:t>
            </a:r>
          </a:p>
        </p:txBody>
      </p:sp>
      <p:sp>
        <p:nvSpPr>
          <p:cNvPr id="8" name="TextBox 7"/>
          <p:cNvSpPr txBox="1"/>
          <p:nvPr/>
        </p:nvSpPr>
        <p:spPr>
          <a:xfrm>
            <a:off x="822960" y="1828800"/>
            <a:ext cx="411480" cy="411480"/>
          </a:xfrm>
          <a:prstGeom prst="rect">
            <a:avLst/>
          </a:prstGeom>
          <a:noFill/>
        </p:spPr>
        <p:txBody>
          <a:bodyPr wrap="square" anchor="t" lIns="0" rIns="0" tIns="0" bIns="0">
            <a:spAutoFit/>
          </a:bodyPr>
          <a:lstStyle/>
          <a:p>
            <a:pPr algn="l">
              <a:lnSpc>
                <a:spcPct val="115000"/>
              </a:lnSpc>
              <a:spcAft>
                <a:spcPts val="0"/>
              </a:spcAft>
            </a:pPr>
            <a:r>
              <a:rPr sz="1600" b="0" i="0">
                <a:solidFill>
                  <a:srgbClr val="8C6248"/>
                </a:solidFill>
                <a:latin typeface="Georgia"/>
              </a:rPr>
              <a:t>P</a:t>
            </a:r>
          </a:p>
        </p:txBody>
      </p:sp>
      <p:sp>
        <p:nvSpPr>
          <p:cNvPr id="9" name="TextBox 8"/>
          <p:cNvSpPr txBox="1"/>
          <p:nvPr/>
        </p:nvSpPr>
        <p:spPr>
          <a:xfrm>
            <a:off x="1325880" y="1828800"/>
            <a:ext cx="329184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Make in India; 35% BCD + surcharge + IGST on imported footwear (landed ≈45–60% of CIF); BIS/QCO norms; IFLDP (₹1,700 Cr) is the live scheme.</a:t>
            </a:r>
          </a:p>
        </p:txBody>
      </p:sp>
      <p:sp>
        <p:nvSpPr>
          <p:cNvPr id="10" name="TextBox 9"/>
          <p:cNvSpPr txBox="1"/>
          <p:nvPr/>
        </p:nvSpPr>
        <p:spPr>
          <a:xfrm>
            <a:off x="4754880" y="1828800"/>
            <a:ext cx="361188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Tailwind: the Noida factory is a tariff and quality advantage global rivals cannot match at this price.</a:t>
            </a:r>
          </a:p>
        </p:txBody>
      </p:sp>
      <p:sp>
        <p:nvSpPr>
          <p:cNvPr id="11" name="Rectangle 10"/>
          <p:cNvSpPr/>
          <p:nvPr/>
        </p:nvSpPr>
        <p:spPr>
          <a:xfrm>
            <a:off x="822960" y="2514600"/>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2551176"/>
            <a:ext cx="411480" cy="411480"/>
          </a:xfrm>
          <a:prstGeom prst="rect">
            <a:avLst/>
          </a:prstGeom>
          <a:noFill/>
        </p:spPr>
        <p:txBody>
          <a:bodyPr wrap="square" anchor="t" lIns="0" rIns="0" tIns="0" bIns="0">
            <a:spAutoFit/>
          </a:bodyPr>
          <a:lstStyle/>
          <a:p>
            <a:pPr algn="l">
              <a:lnSpc>
                <a:spcPct val="115000"/>
              </a:lnSpc>
              <a:spcAft>
                <a:spcPts val="0"/>
              </a:spcAft>
            </a:pPr>
            <a:r>
              <a:rPr sz="1600" b="0" i="0">
                <a:solidFill>
                  <a:srgbClr val="8C6248"/>
                </a:solidFill>
                <a:latin typeface="Georgia"/>
              </a:rPr>
              <a:t>E</a:t>
            </a:r>
          </a:p>
        </p:txBody>
      </p:sp>
      <p:sp>
        <p:nvSpPr>
          <p:cNvPr id="13" name="TextBox 12"/>
          <p:cNvSpPr txBox="1"/>
          <p:nvPr/>
        </p:nvSpPr>
        <p:spPr>
          <a:xfrm>
            <a:off x="1325880" y="2551176"/>
            <a:ext cx="329184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GST rationalisation (Sep ’25): ≤₹2,500 at 5%, above still 18%; category growing 12–15% p.a.; ~70M pairs by 2029.</a:t>
            </a:r>
          </a:p>
        </p:txBody>
      </p:sp>
      <p:sp>
        <p:nvSpPr>
          <p:cNvPr id="14" name="TextBox 13"/>
          <p:cNvSpPr txBox="1"/>
          <p:nvPr/>
        </p:nvSpPr>
        <p:spPr>
          <a:xfrm>
            <a:off x="4754880" y="2551176"/>
            <a:ext cx="361188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Headwind in a tailwind: 100% of the range sits in the 18% slab — ~₹600–1,200/pair vs mass rivals.</a:t>
            </a:r>
          </a:p>
        </p:txBody>
      </p:sp>
      <p:sp>
        <p:nvSpPr>
          <p:cNvPr id="15" name="Rectangle 14"/>
          <p:cNvSpPr/>
          <p:nvPr/>
        </p:nvSpPr>
        <p:spPr>
          <a:xfrm>
            <a:off x="822960" y="3236976"/>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22960" y="3273552"/>
            <a:ext cx="411480" cy="411480"/>
          </a:xfrm>
          <a:prstGeom prst="rect">
            <a:avLst/>
          </a:prstGeom>
          <a:noFill/>
        </p:spPr>
        <p:txBody>
          <a:bodyPr wrap="square" anchor="t" lIns="0" rIns="0" tIns="0" bIns="0">
            <a:spAutoFit/>
          </a:bodyPr>
          <a:lstStyle/>
          <a:p>
            <a:pPr algn="l">
              <a:lnSpc>
                <a:spcPct val="115000"/>
              </a:lnSpc>
              <a:spcAft>
                <a:spcPts val="0"/>
              </a:spcAft>
            </a:pPr>
            <a:r>
              <a:rPr sz="1600" b="0" i="0">
                <a:solidFill>
                  <a:srgbClr val="8C6248"/>
                </a:solidFill>
                <a:latin typeface="Georgia"/>
              </a:rPr>
              <a:t>S</a:t>
            </a:r>
          </a:p>
        </p:txBody>
      </p:sp>
      <p:sp>
        <p:nvSpPr>
          <p:cNvPr id="17" name="TextBox 16"/>
          <p:cNvSpPr txBox="1"/>
          <p:nvPr/>
        </p:nvSpPr>
        <p:spPr>
          <a:xfrm>
            <a:off x="1325880" y="3273552"/>
            <a:ext cx="329184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Gen-Z identity buying; hype and resale culture; gully rap and streetwear; diaspora demand; festive spikes.</a:t>
            </a:r>
          </a:p>
        </p:txBody>
      </p:sp>
      <p:sp>
        <p:nvSpPr>
          <p:cNvPr id="18" name="TextBox 17"/>
          <p:cNvSpPr txBox="1"/>
          <p:nvPr/>
        </p:nvSpPr>
        <p:spPr>
          <a:xfrm>
            <a:off x="4754880" y="3273552"/>
            <a:ext cx="361188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Core demand: ~25% export share is diaspora + design-led, not price-led.</a:t>
            </a:r>
          </a:p>
        </p:txBody>
      </p:sp>
      <p:sp>
        <p:nvSpPr>
          <p:cNvPr id="19" name="Rectangle 18"/>
          <p:cNvSpPr/>
          <p:nvPr/>
        </p:nvSpPr>
        <p:spPr>
          <a:xfrm>
            <a:off x="822960" y="3959352"/>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960" y="3995928"/>
            <a:ext cx="411480" cy="411480"/>
          </a:xfrm>
          <a:prstGeom prst="rect">
            <a:avLst/>
          </a:prstGeom>
          <a:noFill/>
        </p:spPr>
        <p:txBody>
          <a:bodyPr wrap="square" anchor="t" lIns="0" rIns="0" tIns="0" bIns="0">
            <a:spAutoFit/>
          </a:bodyPr>
          <a:lstStyle/>
          <a:p>
            <a:pPr algn="l">
              <a:lnSpc>
                <a:spcPct val="115000"/>
              </a:lnSpc>
              <a:spcAft>
                <a:spcPts val="0"/>
              </a:spcAft>
            </a:pPr>
            <a:r>
              <a:rPr sz="1600" b="0" i="0">
                <a:solidFill>
                  <a:srgbClr val="8C6248"/>
                </a:solidFill>
                <a:latin typeface="Georgia"/>
              </a:rPr>
              <a:t>T</a:t>
            </a:r>
          </a:p>
        </p:txBody>
      </p:sp>
      <p:sp>
        <p:nvSpPr>
          <p:cNvPr id="21" name="TextBox 20"/>
          <p:cNvSpPr txBox="1"/>
          <p:nvPr/>
        </p:nvSpPr>
        <p:spPr>
          <a:xfrm>
            <a:off x="1325880" y="3995928"/>
            <a:ext cx="329184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D2C stack, drop mechanics, social commerce, creator economy, AI demand forecasting.</a:t>
            </a:r>
          </a:p>
        </p:txBody>
      </p:sp>
      <p:sp>
        <p:nvSpPr>
          <p:cNvPr id="22" name="TextBox 21"/>
          <p:cNvSpPr txBox="1"/>
          <p:nvPr/>
        </p:nvSpPr>
        <p:spPr>
          <a:xfrm>
            <a:off x="4754880" y="3995928"/>
            <a:ext cx="361188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Enabler: the 60-day calendar is a software problem as much as a craft one.</a:t>
            </a:r>
          </a:p>
        </p:txBody>
      </p:sp>
      <p:sp>
        <p:nvSpPr>
          <p:cNvPr id="23" name="Rectangle 22"/>
          <p:cNvSpPr/>
          <p:nvPr/>
        </p:nvSpPr>
        <p:spPr>
          <a:xfrm>
            <a:off x="822960" y="4681728"/>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22960" y="4718304"/>
            <a:ext cx="411480" cy="411480"/>
          </a:xfrm>
          <a:prstGeom prst="rect">
            <a:avLst/>
          </a:prstGeom>
          <a:noFill/>
        </p:spPr>
        <p:txBody>
          <a:bodyPr wrap="square" anchor="t" lIns="0" rIns="0" tIns="0" bIns="0">
            <a:spAutoFit/>
          </a:bodyPr>
          <a:lstStyle/>
          <a:p>
            <a:pPr algn="l">
              <a:lnSpc>
                <a:spcPct val="115000"/>
              </a:lnSpc>
              <a:spcAft>
                <a:spcPts val="0"/>
              </a:spcAft>
            </a:pPr>
            <a:r>
              <a:rPr sz="1600" b="0" i="0">
                <a:solidFill>
                  <a:srgbClr val="8C6248"/>
                </a:solidFill>
                <a:latin typeface="Georgia"/>
              </a:rPr>
              <a:t>E</a:t>
            </a:r>
          </a:p>
        </p:txBody>
      </p:sp>
      <p:sp>
        <p:nvSpPr>
          <p:cNvPr id="25" name="TextBox 24"/>
          <p:cNvSpPr txBox="1"/>
          <p:nvPr/>
        </p:nvSpPr>
        <p:spPr>
          <a:xfrm>
            <a:off x="1325880" y="4718304"/>
            <a:ext cx="329184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Leather supply chain, tannery effluent norms, air-freight carbon on exports.</a:t>
            </a:r>
          </a:p>
        </p:txBody>
      </p:sp>
      <p:sp>
        <p:nvSpPr>
          <p:cNvPr id="26" name="TextBox 25"/>
          <p:cNvSpPr txBox="1"/>
          <p:nvPr/>
        </p:nvSpPr>
        <p:spPr>
          <a:xfrm>
            <a:off x="4754880" y="4718304"/>
            <a:ext cx="361188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Watch item: an ESG narrative they have not yet had to defend.</a:t>
            </a:r>
          </a:p>
        </p:txBody>
      </p:sp>
      <p:sp>
        <p:nvSpPr>
          <p:cNvPr id="27" name="Rectangle 26"/>
          <p:cNvSpPr/>
          <p:nvPr/>
        </p:nvSpPr>
        <p:spPr>
          <a:xfrm>
            <a:off x="822960" y="5404104"/>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22960" y="5440680"/>
            <a:ext cx="411480" cy="411480"/>
          </a:xfrm>
          <a:prstGeom prst="rect">
            <a:avLst/>
          </a:prstGeom>
          <a:noFill/>
        </p:spPr>
        <p:txBody>
          <a:bodyPr wrap="square" anchor="t" lIns="0" rIns="0" tIns="0" bIns="0">
            <a:spAutoFit/>
          </a:bodyPr>
          <a:lstStyle/>
          <a:p>
            <a:pPr algn="l">
              <a:lnSpc>
                <a:spcPct val="115000"/>
              </a:lnSpc>
              <a:spcAft>
                <a:spcPts val="0"/>
              </a:spcAft>
            </a:pPr>
            <a:r>
              <a:rPr sz="1600" b="0" i="0">
                <a:solidFill>
                  <a:srgbClr val="8C6248"/>
                </a:solidFill>
                <a:latin typeface="Georgia"/>
              </a:rPr>
              <a:t>L</a:t>
            </a:r>
          </a:p>
        </p:txBody>
      </p:sp>
      <p:sp>
        <p:nvSpPr>
          <p:cNvPr id="29" name="TextBox 28"/>
          <p:cNvSpPr txBox="1"/>
          <p:nvPr/>
        </p:nvSpPr>
        <p:spPr>
          <a:xfrm>
            <a:off x="1325880" y="5440680"/>
            <a:ext cx="329184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Motif/trademark IP hard to protect; BIS and labelling compliance; internal-controls exposure.</a:t>
            </a:r>
          </a:p>
        </p:txBody>
      </p:sp>
      <p:sp>
        <p:nvSpPr>
          <p:cNvPr id="30" name="TextBox 29"/>
          <p:cNvSpPr txBox="1"/>
          <p:nvPr/>
        </p:nvSpPr>
        <p:spPr>
          <a:xfrm>
            <a:off x="4754880" y="5440680"/>
            <a:ext cx="3611880" cy="658368"/>
          </a:xfrm>
          <a:prstGeom prst="rect">
            <a:avLst/>
          </a:prstGeom>
          <a:noFill/>
        </p:spPr>
        <p:txBody>
          <a:bodyPr wrap="square" anchor="t" lIns="0" rIns="0" tIns="0" bIns="0">
            <a:spAutoFit/>
          </a:bodyPr>
          <a:lstStyle/>
          <a:p>
            <a:pPr algn="l">
              <a:lnSpc>
                <a:spcPct val="112000"/>
              </a:lnSpc>
              <a:spcAft>
                <a:spcPts val="0"/>
              </a:spcAft>
            </a:pPr>
            <a:r>
              <a:rPr sz="850" b="0" i="0">
                <a:solidFill>
                  <a:srgbClr val="4A443C"/>
                </a:solidFill>
                <a:latin typeface="Calibri"/>
              </a:rPr>
              <a:t>Live risk: IP defensibility; the Feb ’26 fraud was a controls failure, not a market failure.</a:t>
            </a:r>
          </a:p>
        </p:txBody>
      </p:sp>
      <p:sp>
        <p:nvSpPr>
          <p:cNvPr id="31" name="Rectangle 30"/>
          <p:cNvSpPr/>
          <p:nvPr/>
        </p:nvSpPr>
        <p:spPr>
          <a:xfrm>
            <a:off x="822960" y="6126480"/>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2960" y="6199632"/>
            <a:ext cx="7543800" cy="228600"/>
          </a:xfrm>
          <a:prstGeom prst="rect">
            <a:avLst/>
          </a:prstGeom>
          <a:noFill/>
        </p:spPr>
        <p:txBody>
          <a:bodyPr wrap="square" anchor="t" lIns="0" rIns="0" tIns="0" bIns="0">
            <a:spAutoFit/>
          </a:bodyPr>
          <a:lstStyle/>
          <a:p>
            <a:pPr algn="l">
              <a:lnSpc>
                <a:spcPct val="115000"/>
              </a:lnSpc>
              <a:spcAft>
                <a:spcPts val="0"/>
              </a:spcAft>
            </a:pPr>
            <a:r>
              <a:rPr sz="919" b="0" i="1">
                <a:solidFill>
                  <a:srgbClr val="8C6248"/>
                </a:solidFill>
                <a:latin typeface="Georgia"/>
              </a:rPr>
              <a:t>Net read: four tailwinds, one tax penalty, one governance gap — the 18% slab attacks the price point.</a:t>
            </a:r>
          </a:p>
        </p:txBody>
      </p:sp>
      <p:sp>
        <p:nvSpPr>
          <p:cNvPr id="33" name="Rectangle 32"/>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_v3_ph-street-market.jpg"/>
          <p:cNvPicPr>
            <a:picLocks noChangeAspect="1"/>
          </p:cNvPicPr>
          <p:nvPr/>
        </p:nvPicPr>
        <p:blipFill>
          <a:blip r:embed="rId2"/>
          <a:stretch>
            <a:fillRect/>
          </a:stretch>
        </p:blipFill>
        <p:spPr>
          <a:xfrm>
            <a:off x="8732520" y="1828800"/>
            <a:ext cx="2651760" cy="4297680"/>
          </a:xfrm>
          <a:prstGeom prst="rect">
            <a:avLst/>
          </a:prstGeom>
        </p:spPr>
      </p:pic>
      <p:sp>
        <p:nvSpPr>
          <p:cNvPr id="35" name="TextBox 34"/>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Old Delhi commerce — the demand side of the PESTEL.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ENVIRONMENTAL SCANNING · INTERNAL</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The value chain — where the ₹100 goes.</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06 / 15</a:t>
            </a:r>
          </a:p>
        </p:txBody>
      </p:sp>
      <p:sp>
        <p:nvSpPr>
          <p:cNvPr id="8" name="Rectangle 7"/>
          <p:cNvSpPr/>
          <p:nvPr/>
        </p:nvSpPr>
        <p:spPr>
          <a:xfrm>
            <a:off x="822960" y="1920240"/>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2011680"/>
            <a:ext cx="457200" cy="274320"/>
          </a:xfrm>
          <a:prstGeom prst="rect">
            <a:avLst/>
          </a:prstGeom>
          <a:noFill/>
        </p:spPr>
        <p:txBody>
          <a:bodyPr wrap="square" anchor="t" lIns="0" rIns="0" tIns="0" bIns="0">
            <a:spAutoFit/>
          </a:bodyPr>
          <a:lstStyle/>
          <a:p>
            <a:pPr algn="l">
              <a:lnSpc>
                <a:spcPct val="115000"/>
              </a:lnSpc>
              <a:spcAft>
                <a:spcPts val="0"/>
              </a:spcAft>
            </a:pPr>
            <a:r>
              <a:rPr sz="1200" b="0" i="0">
                <a:solidFill>
                  <a:srgbClr val="8C6248"/>
                </a:solidFill>
                <a:latin typeface="Georgia"/>
              </a:rPr>
              <a:t>01</a:t>
            </a:r>
          </a:p>
        </p:txBody>
      </p:sp>
      <p:sp>
        <p:nvSpPr>
          <p:cNvPr id="10" name="TextBox 9"/>
          <p:cNvSpPr txBox="1"/>
          <p:nvPr/>
        </p:nvSpPr>
        <p:spPr>
          <a:xfrm>
            <a:off x="822960" y="2286000"/>
            <a:ext cx="1399032" cy="365760"/>
          </a:xfrm>
          <a:prstGeom prst="rect">
            <a:avLst/>
          </a:prstGeom>
          <a:noFill/>
        </p:spPr>
        <p:txBody>
          <a:bodyPr wrap="square" anchor="t" lIns="0" rIns="0" tIns="0" bIns="0">
            <a:spAutoFit/>
          </a:bodyPr>
          <a:lstStyle/>
          <a:p>
            <a:pPr algn="l">
              <a:lnSpc>
                <a:spcPct val="115000"/>
              </a:lnSpc>
              <a:spcAft>
                <a:spcPts val="0"/>
              </a:spcAft>
            </a:pPr>
            <a:r>
              <a:rPr sz="819" b="1" i="0" spc="100">
                <a:solidFill>
                  <a:srgbClr val="221B15"/>
                </a:solidFill>
                <a:latin typeface="Calibri"/>
              </a:rPr>
              <a:t>DESIGN &amp; STORY</a:t>
            </a:r>
          </a:p>
        </p:txBody>
      </p:sp>
      <p:sp>
        <p:nvSpPr>
          <p:cNvPr id="11" name="TextBox 10"/>
          <p:cNvSpPr txBox="1"/>
          <p:nvPr/>
        </p:nvSpPr>
        <p:spPr>
          <a:xfrm>
            <a:off x="822960" y="2633472"/>
            <a:ext cx="1581912" cy="548640"/>
          </a:xfrm>
          <a:prstGeom prst="rect">
            <a:avLst/>
          </a:prstGeom>
          <a:noFill/>
        </p:spPr>
        <p:txBody>
          <a:bodyPr wrap="square" anchor="t" lIns="0" rIns="0" tIns="0" bIns="0">
            <a:spAutoFit/>
          </a:bodyPr>
          <a:lstStyle/>
          <a:p>
            <a:pPr algn="l">
              <a:lnSpc>
                <a:spcPct val="110000"/>
              </a:lnSpc>
              <a:spcAft>
                <a:spcPts val="0"/>
              </a:spcAft>
            </a:pPr>
            <a:r>
              <a:rPr sz="800" b="0" i="0">
                <a:solidFill>
                  <a:srgbClr val="8A8177"/>
                </a:solidFill>
                <a:latin typeface="Calibri"/>
              </a:rPr>
              <a:t>cultural archive; 60-day drop brief</a:t>
            </a:r>
          </a:p>
        </p:txBody>
      </p:sp>
      <p:sp>
        <p:nvSpPr>
          <p:cNvPr id="12" name="TextBox 11"/>
          <p:cNvSpPr txBox="1"/>
          <p:nvPr/>
        </p:nvSpPr>
        <p:spPr>
          <a:xfrm>
            <a:off x="2359152" y="2011680"/>
            <a:ext cx="457200" cy="274320"/>
          </a:xfrm>
          <a:prstGeom prst="rect">
            <a:avLst/>
          </a:prstGeom>
          <a:noFill/>
        </p:spPr>
        <p:txBody>
          <a:bodyPr wrap="square" anchor="t" lIns="0" rIns="0" tIns="0" bIns="0">
            <a:spAutoFit/>
          </a:bodyPr>
          <a:lstStyle/>
          <a:p>
            <a:pPr algn="l">
              <a:lnSpc>
                <a:spcPct val="115000"/>
              </a:lnSpc>
              <a:spcAft>
                <a:spcPts val="0"/>
              </a:spcAft>
            </a:pPr>
            <a:r>
              <a:rPr sz="1200" b="0" i="0">
                <a:solidFill>
                  <a:srgbClr val="8C6248"/>
                </a:solidFill>
                <a:latin typeface="Georgia"/>
              </a:rPr>
              <a:t>02</a:t>
            </a:r>
          </a:p>
        </p:txBody>
      </p:sp>
      <p:sp>
        <p:nvSpPr>
          <p:cNvPr id="13" name="TextBox 12"/>
          <p:cNvSpPr txBox="1"/>
          <p:nvPr/>
        </p:nvSpPr>
        <p:spPr>
          <a:xfrm>
            <a:off x="2359152" y="2286000"/>
            <a:ext cx="1399032" cy="365760"/>
          </a:xfrm>
          <a:prstGeom prst="rect">
            <a:avLst/>
          </a:prstGeom>
          <a:noFill/>
        </p:spPr>
        <p:txBody>
          <a:bodyPr wrap="square" anchor="t" lIns="0" rIns="0" tIns="0" bIns="0">
            <a:spAutoFit/>
          </a:bodyPr>
          <a:lstStyle/>
          <a:p>
            <a:pPr algn="l">
              <a:lnSpc>
                <a:spcPct val="115000"/>
              </a:lnSpc>
              <a:spcAft>
                <a:spcPts val="0"/>
              </a:spcAft>
            </a:pPr>
            <a:r>
              <a:rPr sz="819" b="1" i="0" spc="100">
                <a:solidFill>
                  <a:srgbClr val="221B15"/>
                </a:solidFill>
                <a:latin typeface="Calibri"/>
              </a:rPr>
              <a:t>SOURCING</a:t>
            </a:r>
          </a:p>
        </p:txBody>
      </p:sp>
      <p:sp>
        <p:nvSpPr>
          <p:cNvPr id="14" name="TextBox 13"/>
          <p:cNvSpPr txBox="1"/>
          <p:nvPr/>
        </p:nvSpPr>
        <p:spPr>
          <a:xfrm>
            <a:off x="2359152" y="2633472"/>
            <a:ext cx="1581912" cy="548640"/>
          </a:xfrm>
          <a:prstGeom prst="rect">
            <a:avLst/>
          </a:prstGeom>
          <a:noFill/>
        </p:spPr>
        <p:txBody>
          <a:bodyPr wrap="square" anchor="t" lIns="0" rIns="0" tIns="0" bIns="0">
            <a:spAutoFit/>
          </a:bodyPr>
          <a:lstStyle/>
          <a:p>
            <a:pPr algn="l">
              <a:lnSpc>
                <a:spcPct val="110000"/>
              </a:lnSpc>
              <a:spcAft>
                <a:spcPts val="0"/>
              </a:spcAft>
            </a:pPr>
            <a:r>
              <a:rPr sz="800" b="0" i="0">
                <a:solidFill>
                  <a:srgbClr val="8A8177"/>
                </a:solidFill>
                <a:latin typeface="Calibri"/>
              </a:rPr>
              <a:t>~95% local leather, rubber, thread</a:t>
            </a:r>
          </a:p>
        </p:txBody>
      </p:sp>
      <p:sp>
        <p:nvSpPr>
          <p:cNvPr id="15" name="TextBox 14"/>
          <p:cNvSpPr txBox="1"/>
          <p:nvPr/>
        </p:nvSpPr>
        <p:spPr>
          <a:xfrm>
            <a:off x="3895344" y="2011680"/>
            <a:ext cx="457200" cy="274320"/>
          </a:xfrm>
          <a:prstGeom prst="rect">
            <a:avLst/>
          </a:prstGeom>
          <a:noFill/>
        </p:spPr>
        <p:txBody>
          <a:bodyPr wrap="square" anchor="t" lIns="0" rIns="0" tIns="0" bIns="0">
            <a:spAutoFit/>
          </a:bodyPr>
          <a:lstStyle/>
          <a:p>
            <a:pPr algn="l">
              <a:lnSpc>
                <a:spcPct val="115000"/>
              </a:lnSpc>
              <a:spcAft>
                <a:spcPts val="0"/>
              </a:spcAft>
            </a:pPr>
            <a:r>
              <a:rPr sz="1200" b="0" i="0">
                <a:solidFill>
                  <a:srgbClr val="8C6248"/>
                </a:solidFill>
                <a:latin typeface="Georgia"/>
              </a:rPr>
              <a:t>03</a:t>
            </a:r>
          </a:p>
        </p:txBody>
      </p:sp>
      <p:sp>
        <p:nvSpPr>
          <p:cNvPr id="16" name="TextBox 15"/>
          <p:cNvSpPr txBox="1"/>
          <p:nvPr/>
        </p:nvSpPr>
        <p:spPr>
          <a:xfrm>
            <a:off x="3895344" y="2286000"/>
            <a:ext cx="1399032" cy="365760"/>
          </a:xfrm>
          <a:prstGeom prst="rect">
            <a:avLst/>
          </a:prstGeom>
          <a:noFill/>
        </p:spPr>
        <p:txBody>
          <a:bodyPr wrap="square" anchor="t" lIns="0" rIns="0" tIns="0" bIns="0">
            <a:spAutoFit/>
          </a:bodyPr>
          <a:lstStyle/>
          <a:p>
            <a:pPr algn="l">
              <a:lnSpc>
                <a:spcPct val="115000"/>
              </a:lnSpc>
              <a:spcAft>
                <a:spcPts val="0"/>
              </a:spcAft>
            </a:pPr>
            <a:r>
              <a:rPr sz="819" b="1" i="0" spc="100">
                <a:solidFill>
                  <a:srgbClr val="221B15"/>
                </a:solidFill>
                <a:latin typeface="Calibri"/>
              </a:rPr>
              <a:t>OPERATIONS</a:t>
            </a:r>
          </a:p>
        </p:txBody>
      </p:sp>
      <p:sp>
        <p:nvSpPr>
          <p:cNvPr id="17" name="TextBox 16"/>
          <p:cNvSpPr txBox="1"/>
          <p:nvPr/>
        </p:nvSpPr>
        <p:spPr>
          <a:xfrm>
            <a:off x="3895344" y="2633472"/>
            <a:ext cx="1581912" cy="548640"/>
          </a:xfrm>
          <a:prstGeom prst="rect">
            <a:avLst/>
          </a:prstGeom>
          <a:noFill/>
        </p:spPr>
        <p:txBody>
          <a:bodyPr wrap="square" anchor="t" lIns="0" rIns="0" tIns="0" bIns="0">
            <a:spAutoFit/>
          </a:bodyPr>
          <a:lstStyle/>
          <a:p>
            <a:pPr algn="l">
              <a:lnSpc>
                <a:spcPct val="110000"/>
              </a:lnSpc>
              <a:spcAft>
                <a:spcPts val="0"/>
              </a:spcAft>
            </a:pPr>
            <a:r>
              <a:rPr sz="800" b="0" i="0">
                <a:solidFill>
                  <a:srgbClr val="8A8177"/>
                </a:solidFill>
                <a:latin typeface="Calibri"/>
              </a:rPr>
              <a:t>hand-lasted in Noida, ~4 days a pair</a:t>
            </a:r>
          </a:p>
        </p:txBody>
      </p:sp>
      <p:sp>
        <p:nvSpPr>
          <p:cNvPr id="18" name="TextBox 17"/>
          <p:cNvSpPr txBox="1"/>
          <p:nvPr/>
        </p:nvSpPr>
        <p:spPr>
          <a:xfrm>
            <a:off x="5431536" y="2011680"/>
            <a:ext cx="457200" cy="274320"/>
          </a:xfrm>
          <a:prstGeom prst="rect">
            <a:avLst/>
          </a:prstGeom>
          <a:noFill/>
        </p:spPr>
        <p:txBody>
          <a:bodyPr wrap="square" anchor="t" lIns="0" rIns="0" tIns="0" bIns="0">
            <a:spAutoFit/>
          </a:bodyPr>
          <a:lstStyle/>
          <a:p>
            <a:pPr algn="l">
              <a:lnSpc>
                <a:spcPct val="115000"/>
              </a:lnSpc>
              <a:spcAft>
                <a:spcPts val="0"/>
              </a:spcAft>
            </a:pPr>
            <a:r>
              <a:rPr sz="1200" b="0" i="0">
                <a:solidFill>
                  <a:srgbClr val="8C6248"/>
                </a:solidFill>
                <a:latin typeface="Georgia"/>
              </a:rPr>
              <a:t>04</a:t>
            </a:r>
          </a:p>
        </p:txBody>
      </p:sp>
      <p:sp>
        <p:nvSpPr>
          <p:cNvPr id="19" name="TextBox 18"/>
          <p:cNvSpPr txBox="1"/>
          <p:nvPr/>
        </p:nvSpPr>
        <p:spPr>
          <a:xfrm>
            <a:off x="5431536" y="2286000"/>
            <a:ext cx="1399032" cy="365760"/>
          </a:xfrm>
          <a:prstGeom prst="rect">
            <a:avLst/>
          </a:prstGeom>
          <a:noFill/>
        </p:spPr>
        <p:txBody>
          <a:bodyPr wrap="square" anchor="t" lIns="0" rIns="0" tIns="0" bIns="0">
            <a:spAutoFit/>
          </a:bodyPr>
          <a:lstStyle/>
          <a:p>
            <a:pPr algn="l">
              <a:lnSpc>
                <a:spcPct val="115000"/>
              </a:lnSpc>
              <a:spcAft>
                <a:spcPts val="0"/>
              </a:spcAft>
            </a:pPr>
            <a:r>
              <a:rPr sz="819" b="1" i="0" spc="100">
                <a:solidFill>
                  <a:srgbClr val="221B15"/>
                </a:solidFill>
                <a:latin typeface="Calibri"/>
              </a:rPr>
              <a:t>FULFILMENT</a:t>
            </a:r>
          </a:p>
        </p:txBody>
      </p:sp>
      <p:sp>
        <p:nvSpPr>
          <p:cNvPr id="20" name="TextBox 19"/>
          <p:cNvSpPr txBox="1"/>
          <p:nvPr/>
        </p:nvSpPr>
        <p:spPr>
          <a:xfrm>
            <a:off x="5431536" y="2633472"/>
            <a:ext cx="1581912" cy="548640"/>
          </a:xfrm>
          <a:prstGeom prst="rect">
            <a:avLst/>
          </a:prstGeom>
          <a:noFill/>
        </p:spPr>
        <p:txBody>
          <a:bodyPr wrap="square" anchor="t" lIns="0" rIns="0" tIns="0" bIns="0">
            <a:spAutoFit/>
          </a:bodyPr>
          <a:lstStyle/>
          <a:p>
            <a:pPr algn="l">
              <a:lnSpc>
                <a:spcPct val="110000"/>
              </a:lnSpc>
              <a:spcAft>
                <a:spcPts val="0"/>
              </a:spcAft>
            </a:pPr>
            <a:r>
              <a:rPr sz="800" b="0" i="0">
                <a:solidFill>
                  <a:srgbClr val="8A8177"/>
                </a:solidFill>
                <a:latin typeface="Calibri"/>
              </a:rPr>
              <a:t>D2C India + global; free exchange</a:t>
            </a:r>
          </a:p>
        </p:txBody>
      </p:sp>
      <p:sp>
        <p:nvSpPr>
          <p:cNvPr id="21" name="TextBox 20"/>
          <p:cNvSpPr txBox="1"/>
          <p:nvPr/>
        </p:nvSpPr>
        <p:spPr>
          <a:xfrm>
            <a:off x="6967727" y="2011680"/>
            <a:ext cx="457200" cy="274320"/>
          </a:xfrm>
          <a:prstGeom prst="rect">
            <a:avLst/>
          </a:prstGeom>
          <a:noFill/>
        </p:spPr>
        <p:txBody>
          <a:bodyPr wrap="square" anchor="t" lIns="0" rIns="0" tIns="0" bIns="0">
            <a:spAutoFit/>
          </a:bodyPr>
          <a:lstStyle/>
          <a:p>
            <a:pPr algn="l">
              <a:lnSpc>
                <a:spcPct val="115000"/>
              </a:lnSpc>
              <a:spcAft>
                <a:spcPts val="0"/>
              </a:spcAft>
            </a:pPr>
            <a:r>
              <a:rPr sz="1200" b="0" i="0">
                <a:solidFill>
                  <a:srgbClr val="8C6248"/>
                </a:solidFill>
                <a:latin typeface="Georgia"/>
              </a:rPr>
              <a:t>05</a:t>
            </a:r>
          </a:p>
        </p:txBody>
      </p:sp>
      <p:sp>
        <p:nvSpPr>
          <p:cNvPr id="22" name="TextBox 21"/>
          <p:cNvSpPr txBox="1"/>
          <p:nvPr/>
        </p:nvSpPr>
        <p:spPr>
          <a:xfrm>
            <a:off x="6967727" y="2286000"/>
            <a:ext cx="1399032" cy="365760"/>
          </a:xfrm>
          <a:prstGeom prst="rect">
            <a:avLst/>
          </a:prstGeom>
          <a:noFill/>
        </p:spPr>
        <p:txBody>
          <a:bodyPr wrap="square" anchor="t" lIns="0" rIns="0" tIns="0" bIns="0">
            <a:spAutoFit/>
          </a:bodyPr>
          <a:lstStyle/>
          <a:p>
            <a:pPr algn="l">
              <a:lnSpc>
                <a:spcPct val="115000"/>
              </a:lnSpc>
              <a:spcAft>
                <a:spcPts val="0"/>
              </a:spcAft>
            </a:pPr>
            <a:r>
              <a:rPr sz="819" b="1" i="0" spc="100">
                <a:solidFill>
                  <a:srgbClr val="221B15"/>
                </a:solidFill>
                <a:latin typeface="Calibri"/>
              </a:rPr>
              <a:t>MARKETING &amp; RETAIL</a:t>
            </a:r>
          </a:p>
        </p:txBody>
      </p:sp>
      <p:sp>
        <p:nvSpPr>
          <p:cNvPr id="23" name="TextBox 22"/>
          <p:cNvSpPr txBox="1"/>
          <p:nvPr/>
        </p:nvSpPr>
        <p:spPr>
          <a:xfrm>
            <a:off x="6967727" y="2633472"/>
            <a:ext cx="1581912" cy="548640"/>
          </a:xfrm>
          <a:prstGeom prst="rect">
            <a:avLst/>
          </a:prstGeom>
          <a:noFill/>
        </p:spPr>
        <p:txBody>
          <a:bodyPr wrap="square" anchor="t" lIns="0" rIns="0" tIns="0" bIns="0">
            <a:spAutoFit/>
          </a:bodyPr>
          <a:lstStyle/>
          <a:p>
            <a:pPr algn="l">
              <a:lnSpc>
                <a:spcPct val="110000"/>
              </a:lnSpc>
              <a:spcAft>
                <a:spcPts val="0"/>
              </a:spcAft>
            </a:pPr>
            <a:r>
              <a:rPr sz="800" b="0" i="0">
                <a:solidFill>
                  <a:srgbClr val="8A8177"/>
                </a:solidFill>
                <a:latin typeface="Calibri"/>
              </a:rPr>
              <a:t>reels, collabs, Baithak store</a:t>
            </a:r>
          </a:p>
        </p:txBody>
      </p:sp>
      <p:sp>
        <p:nvSpPr>
          <p:cNvPr id="24" name="Rectangle 23"/>
          <p:cNvSpPr/>
          <p:nvPr/>
        </p:nvSpPr>
        <p:spPr>
          <a:xfrm>
            <a:off x="822960" y="3246120"/>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2960" y="3337560"/>
            <a:ext cx="7543800" cy="274320"/>
          </a:xfrm>
          <a:prstGeom prst="rect">
            <a:avLst/>
          </a:prstGeom>
          <a:noFill/>
        </p:spPr>
        <p:txBody>
          <a:bodyPr wrap="square" anchor="t" lIns="0" rIns="0" tIns="0" bIns="0">
            <a:spAutoFit/>
          </a:bodyPr>
          <a:lstStyle/>
          <a:p>
            <a:pPr algn="l">
              <a:lnSpc>
                <a:spcPct val="115000"/>
              </a:lnSpc>
              <a:spcAft>
                <a:spcPts val="0"/>
              </a:spcAft>
            </a:pPr>
            <a:r>
              <a:rPr sz="880" b="0" i="0" spc="150">
                <a:solidFill>
                  <a:srgbClr val="8C6248"/>
                </a:solidFill>
                <a:latin typeface="Calibri"/>
              </a:rPr>
              <a:t>THE MARGIN LADDER — ₹100 OF REVENUE (FOUNDERS’ OWN NUMBERS)</a:t>
            </a:r>
          </a:p>
        </p:txBody>
      </p:sp>
      <p:sp>
        <p:nvSpPr>
          <p:cNvPr id="26" name="Rectangle 25"/>
          <p:cNvSpPr/>
          <p:nvPr/>
        </p:nvSpPr>
        <p:spPr>
          <a:xfrm>
            <a:off x="822960" y="3886200"/>
            <a:ext cx="1325880" cy="1252728"/>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2960" y="3611880"/>
            <a:ext cx="1325880" cy="274320"/>
          </a:xfrm>
          <a:prstGeom prst="rect">
            <a:avLst/>
          </a:prstGeom>
          <a:noFill/>
        </p:spPr>
        <p:txBody>
          <a:bodyPr wrap="square" anchor="t" lIns="0" rIns="0" tIns="0" bIns="0">
            <a:spAutoFit/>
          </a:bodyPr>
          <a:lstStyle/>
          <a:p>
            <a:pPr algn="ctr">
              <a:lnSpc>
                <a:spcPct val="115000"/>
              </a:lnSpc>
              <a:spcAft>
                <a:spcPts val="0"/>
              </a:spcAft>
            </a:pPr>
            <a:r>
              <a:rPr sz="1400" b="0" i="0">
                <a:solidFill>
                  <a:srgbClr val="221B15"/>
                </a:solidFill>
                <a:latin typeface="Georgia"/>
              </a:rPr>
              <a:t>100</a:t>
            </a:r>
          </a:p>
        </p:txBody>
      </p:sp>
      <p:sp>
        <p:nvSpPr>
          <p:cNvPr id="28" name="TextBox 27"/>
          <p:cNvSpPr txBox="1"/>
          <p:nvPr/>
        </p:nvSpPr>
        <p:spPr>
          <a:xfrm>
            <a:off x="822960" y="5212080"/>
            <a:ext cx="1325880" cy="274320"/>
          </a:xfrm>
          <a:prstGeom prst="rect">
            <a:avLst/>
          </a:prstGeom>
          <a:noFill/>
        </p:spPr>
        <p:txBody>
          <a:bodyPr wrap="square" anchor="t" lIns="0" rIns="0" tIns="0" bIns="0">
            <a:spAutoFit/>
          </a:bodyPr>
          <a:lstStyle/>
          <a:p>
            <a:pPr algn="ctr">
              <a:lnSpc>
                <a:spcPct val="115000"/>
              </a:lnSpc>
              <a:spcAft>
                <a:spcPts val="0"/>
              </a:spcAft>
            </a:pPr>
            <a:r>
              <a:rPr sz="800" b="0" i="0">
                <a:solidFill>
                  <a:srgbClr val="8A8177"/>
                </a:solidFill>
                <a:latin typeface="Calibri"/>
              </a:rPr>
              <a:t>revenue</a:t>
            </a:r>
          </a:p>
        </p:txBody>
      </p:sp>
      <p:sp>
        <p:nvSpPr>
          <p:cNvPr id="29" name="Rectangle 28"/>
          <p:cNvSpPr/>
          <p:nvPr/>
        </p:nvSpPr>
        <p:spPr>
          <a:xfrm>
            <a:off x="2304288" y="4251045"/>
            <a:ext cx="1325880" cy="887882"/>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304288" y="3976725"/>
            <a:ext cx="1325880" cy="274320"/>
          </a:xfrm>
          <a:prstGeom prst="rect">
            <a:avLst/>
          </a:prstGeom>
          <a:noFill/>
        </p:spPr>
        <p:txBody>
          <a:bodyPr wrap="square" anchor="t" lIns="0" rIns="0" tIns="0" bIns="0">
            <a:spAutoFit/>
          </a:bodyPr>
          <a:lstStyle/>
          <a:p>
            <a:pPr algn="ctr">
              <a:lnSpc>
                <a:spcPct val="115000"/>
              </a:lnSpc>
              <a:spcAft>
                <a:spcPts val="0"/>
              </a:spcAft>
            </a:pPr>
            <a:r>
              <a:rPr sz="1400" b="0" i="0">
                <a:solidFill>
                  <a:srgbClr val="221B15"/>
                </a:solidFill>
                <a:latin typeface="Georgia"/>
              </a:rPr>
              <a:t>56</a:t>
            </a:r>
          </a:p>
        </p:txBody>
      </p:sp>
      <p:sp>
        <p:nvSpPr>
          <p:cNvPr id="31" name="TextBox 30"/>
          <p:cNvSpPr txBox="1"/>
          <p:nvPr/>
        </p:nvSpPr>
        <p:spPr>
          <a:xfrm>
            <a:off x="2304288" y="5212080"/>
            <a:ext cx="1325880" cy="274320"/>
          </a:xfrm>
          <a:prstGeom prst="rect">
            <a:avLst/>
          </a:prstGeom>
          <a:noFill/>
        </p:spPr>
        <p:txBody>
          <a:bodyPr wrap="square" anchor="t" lIns="0" rIns="0" tIns="0" bIns="0">
            <a:spAutoFit/>
          </a:bodyPr>
          <a:lstStyle/>
          <a:p>
            <a:pPr algn="ctr">
              <a:lnSpc>
                <a:spcPct val="115000"/>
              </a:lnSpc>
              <a:spcAft>
                <a:spcPts val="0"/>
              </a:spcAft>
            </a:pPr>
            <a:r>
              <a:rPr sz="800" b="0" i="0">
                <a:solidFill>
                  <a:srgbClr val="8A8177"/>
                </a:solidFill>
                <a:latin typeface="Calibri"/>
              </a:rPr>
              <a:t>after COGS</a:t>
            </a:r>
          </a:p>
        </p:txBody>
      </p:sp>
      <p:sp>
        <p:nvSpPr>
          <p:cNvPr id="32" name="Rectangle 31"/>
          <p:cNvSpPr/>
          <p:nvPr/>
        </p:nvSpPr>
        <p:spPr>
          <a:xfrm>
            <a:off x="3785616" y="4347057"/>
            <a:ext cx="1325880" cy="79187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785616" y="4072737"/>
            <a:ext cx="1325880" cy="274320"/>
          </a:xfrm>
          <a:prstGeom prst="rect">
            <a:avLst/>
          </a:prstGeom>
          <a:noFill/>
        </p:spPr>
        <p:txBody>
          <a:bodyPr wrap="square" anchor="t" lIns="0" rIns="0" tIns="0" bIns="0">
            <a:spAutoFit/>
          </a:bodyPr>
          <a:lstStyle/>
          <a:p>
            <a:pPr algn="ctr">
              <a:lnSpc>
                <a:spcPct val="115000"/>
              </a:lnSpc>
              <a:spcAft>
                <a:spcPts val="0"/>
              </a:spcAft>
            </a:pPr>
            <a:r>
              <a:rPr sz="1400" b="0" i="0">
                <a:solidFill>
                  <a:srgbClr val="221B15"/>
                </a:solidFill>
                <a:latin typeface="Georgia"/>
              </a:rPr>
              <a:t>46</a:t>
            </a:r>
          </a:p>
        </p:txBody>
      </p:sp>
      <p:sp>
        <p:nvSpPr>
          <p:cNvPr id="34" name="TextBox 33"/>
          <p:cNvSpPr txBox="1"/>
          <p:nvPr/>
        </p:nvSpPr>
        <p:spPr>
          <a:xfrm>
            <a:off x="3785616" y="5212080"/>
            <a:ext cx="1325880" cy="274320"/>
          </a:xfrm>
          <a:prstGeom prst="rect">
            <a:avLst/>
          </a:prstGeom>
          <a:noFill/>
        </p:spPr>
        <p:txBody>
          <a:bodyPr wrap="square" anchor="t" lIns="0" rIns="0" tIns="0" bIns="0">
            <a:spAutoFit/>
          </a:bodyPr>
          <a:lstStyle/>
          <a:p>
            <a:pPr algn="ctr">
              <a:lnSpc>
                <a:spcPct val="115000"/>
              </a:lnSpc>
              <a:spcAft>
                <a:spcPts val="0"/>
              </a:spcAft>
            </a:pPr>
            <a:r>
              <a:rPr sz="800" b="0" i="0">
                <a:solidFill>
                  <a:srgbClr val="8A8177"/>
                </a:solidFill>
                <a:latin typeface="Calibri"/>
              </a:rPr>
              <a:t>after logistics</a:t>
            </a:r>
          </a:p>
        </p:txBody>
      </p:sp>
      <p:sp>
        <p:nvSpPr>
          <p:cNvPr id="35" name="Rectangle 34"/>
          <p:cNvSpPr/>
          <p:nvPr/>
        </p:nvSpPr>
        <p:spPr>
          <a:xfrm>
            <a:off x="5266944" y="4654296"/>
            <a:ext cx="1325880" cy="484632"/>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266944" y="4379976"/>
            <a:ext cx="1325880" cy="274320"/>
          </a:xfrm>
          <a:prstGeom prst="rect">
            <a:avLst/>
          </a:prstGeom>
          <a:noFill/>
        </p:spPr>
        <p:txBody>
          <a:bodyPr wrap="square" anchor="t" lIns="0" rIns="0" tIns="0" bIns="0">
            <a:spAutoFit/>
          </a:bodyPr>
          <a:lstStyle/>
          <a:p>
            <a:pPr algn="ctr">
              <a:lnSpc>
                <a:spcPct val="115000"/>
              </a:lnSpc>
              <a:spcAft>
                <a:spcPts val="0"/>
              </a:spcAft>
            </a:pPr>
            <a:r>
              <a:rPr sz="1400" b="0" i="0">
                <a:solidFill>
                  <a:srgbClr val="221B15"/>
                </a:solidFill>
                <a:latin typeface="Georgia"/>
              </a:rPr>
              <a:t>11</a:t>
            </a:r>
          </a:p>
        </p:txBody>
      </p:sp>
      <p:sp>
        <p:nvSpPr>
          <p:cNvPr id="37" name="TextBox 36"/>
          <p:cNvSpPr txBox="1"/>
          <p:nvPr/>
        </p:nvSpPr>
        <p:spPr>
          <a:xfrm>
            <a:off x="5266944" y="5212080"/>
            <a:ext cx="1325880" cy="274320"/>
          </a:xfrm>
          <a:prstGeom prst="rect">
            <a:avLst/>
          </a:prstGeom>
          <a:noFill/>
        </p:spPr>
        <p:txBody>
          <a:bodyPr wrap="square" anchor="t" lIns="0" rIns="0" tIns="0" bIns="0">
            <a:spAutoFit/>
          </a:bodyPr>
          <a:lstStyle/>
          <a:p>
            <a:pPr algn="ctr">
              <a:lnSpc>
                <a:spcPct val="115000"/>
              </a:lnSpc>
              <a:spcAft>
                <a:spcPts val="0"/>
              </a:spcAft>
            </a:pPr>
            <a:r>
              <a:rPr sz="800" b="0" i="0">
                <a:solidFill>
                  <a:srgbClr val="8A8177"/>
                </a:solidFill>
                <a:latin typeface="Calibri"/>
              </a:rPr>
              <a:t>after marketing</a:t>
            </a:r>
          </a:p>
        </p:txBody>
      </p:sp>
      <p:sp>
        <p:nvSpPr>
          <p:cNvPr id="38" name="TextBox 37"/>
          <p:cNvSpPr txBox="1"/>
          <p:nvPr/>
        </p:nvSpPr>
        <p:spPr>
          <a:xfrm>
            <a:off x="822960" y="5623560"/>
            <a:ext cx="7543800" cy="731520"/>
          </a:xfrm>
          <a:prstGeom prst="rect">
            <a:avLst/>
          </a:prstGeom>
          <a:noFill/>
        </p:spPr>
        <p:txBody>
          <a:bodyPr wrap="square" anchor="t" lIns="0" rIns="0" tIns="0" bIns="0">
            <a:spAutoFit/>
          </a:bodyPr>
          <a:lstStyle/>
          <a:p>
            <a:pPr algn="l">
              <a:lnSpc>
                <a:spcPct val="116000"/>
              </a:lnSpc>
              <a:spcAft>
                <a:spcPts val="300"/>
              </a:spcAft>
            </a:pPr>
            <a:r>
              <a:rPr sz="860" b="0" i="0">
                <a:solidFill>
                  <a:srgbClr val="4A443C"/>
                </a:solidFill>
                <a:latin typeface="Calibri"/>
              </a:rPr>
              <a:t>FY25 loss ₹1 Cr on ₹2.9 Cr; Delhi store at breakeven; cash ₹85 lakh. 56% gross proves the premium is accepted; 35% marketing proves the brand does not yet pull.</a:t>
            </a:r>
          </a:p>
          <a:p>
            <a:pPr algn="l">
              <a:lnSpc>
                <a:spcPct val="116000"/>
              </a:lnSpc>
              <a:spcAft>
                <a:spcPts val="300"/>
              </a:spcAft>
            </a:pPr>
            <a:r>
              <a:rPr sz="860" b="0" i="0">
                <a:solidFill>
                  <a:srgbClr val="4A443C"/>
                </a:solidFill>
                <a:latin typeface="Calibri"/>
              </a:rPr>
              <a:t>Value is created at the two ends — story and community — not in the middle; the bottleneck is hands, not machines (1,000 wanted vs 600 made).</a:t>
            </a:r>
          </a:p>
          <a:p>
            <a:pPr algn="l">
              <a:lnSpc>
                <a:spcPct val="116000"/>
              </a:lnSpc>
              <a:spcAft>
                <a:spcPts val="300"/>
              </a:spcAft>
            </a:pPr>
            <a:r>
              <a:rPr sz="860" b="0" i="0">
                <a:solidFill>
                  <a:srgbClr val="4A443C"/>
                </a:solidFill>
                <a:latin typeface="Calibri"/>
              </a:rPr>
              <a:t>Backward integration was the bet: ₹1.2 Cr from college friends to own the line.</a:t>
            </a:r>
          </a:p>
        </p:txBody>
      </p:sp>
      <p:sp>
        <p:nvSpPr>
          <p:cNvPr id="39" name="Rectangle 38"/>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0" name="Picture 39" descr="_v3_gully-labs-sneakers-delhi-campaign-india-5.jpg"/>
          <p:cNvPicPr>
            <a:picLocks noChangeAspect="1"/>
          </p:cNvPicPr>
          <p:nvPr/>
        </p:nvPicPr>
        <p:blipFill>
          <a:blip r:embed="rId2"/>
          <a:stretch>
            <a:fillRect/>
          </a:stretch>
        </p:blipFill>
        <p:spPr>
          <a:xfrm>
            <a:off x="8732520" y="1828800"/>
            <a:ext cx="2651760" cy="4297680"/>
          </a:xfrm>
          <a:prstGeom prst="rect">
            <a:avLst/>
          </a:prstGeom>
        </p:spPr>
      </p:pic>
      <p:sp>
        <p:nvSpPr>
          <p:cNvPr id="41" name="TextBox 40"/>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The heel says गली — Devanagari branding, hand-lasted.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INDUSTRIAL ANALYSIS · PORTER</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A growth-stage industry; two high forces.</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07 / 15</a:t>
            </a:r>
          </a:p>
        </p:txBody>
      </p:sp>
      <p:sp>
        <p:nvSpPr>
          <p:cNvPr id="8" name="TextBox 7"/>
          <p:cNvSpPr txBox="1"/>
          <p:nvPr/>
        </p:nvSpPr>
        <p:spPr>
          <a:xfrm>
            <a:off x="822960" y="1810512"/>
            <a:ext cx="4572000" cy="228600"/>
          </a:xfrm>
          <a:prstGeom prst="rect">
            <a:avLst/>
          </a:prstGeom>
          <a:noFill/>
        </p:spPr>
        <p:txBody>
          <a:bodyPr wrap="square" anchor="t" lIns="0" rIns="0" tIns="0" bIns="0">
            <a:spAutoFit/>
          </a:bodyPr>
          <a:lstStyle/>
          <a:p>
            <a:pPr algn="l">
              <a:lnSpc>
                <a:spcPct val="115000"/>
              </a:lnSpc>
              <a:spcAft>
                <a:spcPts val="0"/>
              </a:spcAft>
            </a:pPr>
            <a:r>
              <a:rPr sz="880" b="0" i="0" spc="150">
                <a:solidFill>
                  <a:srgbClr val="8C6248"/>
                </a:solidFill>
                <a:latin typeface="Calibri"/>
              </a:rPr>
              <a:t>THE COMPETITIVE SET</a:t>
            </a:r>
          </a:p>
        </p:txBody>
      </p:sp>
      <p:sp>
        <p:nvSpPr>
          <p:cNvPr id="9" name="TextBox 8"/>
          <p:cNvSpPr txBox="1"/>
          <p:nvPr/>
        </p:nvSpPr>
        <p:spPr>
          <a:xfrm>
            <a:off x="822960" y="2048256"/>
            <a:ext cx="2148840" cy="274320"/>
          </a:xfrm>
          <a:prstGeom prst="rect">
            <a:avLst/>
          </a:prstGeom>
          <a:noFill/>
        </p:spPr>
        <p:txBody>
          <a:bodyPr wrap="square" anchor="t" lIns="0" rIns="0" tIns="0" bIns="0">
            <a:spAutoFit/>
          </a:bodyPr>
          <a:lstStyle/>
          <a:p>
            <a:pPr algn="l">
              <a:lnSpc>
                <a:spcPct val="115000"/>
              </a:lnSpc>
              <a:spcAft>
                <a:spcPts val="0"/>
              </a:spcAft>
            </a:pPr>
            <a:r>
              <a:rPr sz="880" b="1" i="0">
                <a:solidFill>
                  <a:srgbClr val="221B15"/>
                </a:solidFill>
                <a:latin typeface="Calibri"/>
              </a:rPr>
              <a:t>Nike / Adidas / Puma / NB</a:t>
            </a:r>
          </a:p>
        </p:txBody>
      </p:sp>
      <p:sp>
        <p:nvSpPr>
          <p:cNvPr id="10" name="TextBox 9"/>
          <p:cNvSpPr txBox="1"/>
          <p:nvPr/>
        </p:nvSpPr>
        <p:spPr>
          <a:xfrm>
            <a:off x="3017520" y="2048256"/>
            <a:ext cx="822960" cy="274320"/>
          </a:xfrm>
          <a:prstGeom prst="rect">
            <a:avLst/>
          </a:prstGeom>
          <a:noFill/>
        </p:spPr>
        <p:txBody>
          <a:bodyPr wrap="square" anchor="t" lIns="0" rIns="0" tIns="0" bIns="0">
            <a:spAutoFit/>
          </a:bodyPr>
          <a:lstStyle/>
          <a:p>
            <a:pPr algn="l">
              <a:lnSpc>
                <a:spcPct val="115000"/>
              </a:lnSpc>
              <a:spcAft>
                <a:spcPts val="0"/>
              </a:spcAft>
            </a:pPr>
            <a:r>
              <a:rPr sz="860" b="0" i="0">
                <a:solidFill>
                  <a:srgbClr val="8A8177"/>
                </a:solidFill>
                <a:latin typeface="Calibri"/>
              </a:rPr>
              <a:t>₹4k–20k+</a:t>
            </a:r>
          </a:p>
        </p:txBody>
      </p:sp>
      <p:sp>
        <p:nvSpPr>
          <p:cNvPr id="11" name="TextBox 10"/>
          <p:cNvSpPr txBox="1"/>
          <p:nvPr/>
        </p:nvSpPr>
        <p:spPr>
          <a:xfrm>
            <a:off x="3886200" y="2048256"/>
            <a:ext cx="4480560" cy="274320"/>
          </a:xfrm>
          <a:prstGeom prst="rect">
            <a:avLst/>
          </a:prstGeom>
          <a:noFill/>
        </p:spPr>
        <p:txBody>
          <a:bodyPr wrap="square" anchor="t" lIns="0" rIns="0" tIns="0" bIns="0">
            <a:spAutoFit/>
          </a:bodyPr>
          <a:lstStyle/>
          <a:p>
            <a:pPr algn="l">
              <a:lnSpc>
                <a:spcPct val="115000"/>
              </a:lnSpc>
              <a:spcAft>
                <a:spcPts val="0"/>
              </a:spcAft>
            </a:pPr>
            <a:r>
              <a:rPr sz="860" b="0" i="0">
                <a:solidFill>
                  <a:srgbClr val="4A443C"/>
                </a:solidFill>
                <a:latin typeface="Calibri"/>
              </a:rPr>
              <a:t>HIGH — own the aspiration being attacked</a:t>
            </a:r>
          </a:p>
        </p:txBody>
      </p:sp>
      <p:sp>
        <p:nvSpPr>
          <p:cNvPr id="12" name="Rectangle 11"/>
          <p:cNvSpPr/>
          <p:nvPr/>
        </p:nvSpPr>
        <p:spPr>
          <a:xfrm>
            <a:off x="822960" y="2377440"/>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2960" y="2450592"/>
            <a:ext cx="2148840" cy="274320"/>
          </a:xfrm>
          <a:prstGeom prst="rect">
            <a:avLst/>
          </a:prstGeom>
          <a:noFill/>
        </p:spPr>
        <p:txBody>
          <a:bodyPr wrap="square" anchor="t" lIns="0" rIns="0" tIns="0" bIns="0">
            <a:spAutoFit/>
          </a:bodyPr>
          <a:lstStyle/>
          <a:p>
            <a:pPr algn="l">
              <a:lnSpc>
                <a:spcPct val="115000"/>
              </a:lnSpc>
              <a:spcAft>
                <a:spcPts val="0"/>
              </a:spcAft>
            </a:pPr>
            <a:r>
              <a:rPr sz="880" b="1" i="0">
                <a:solidFill>
                  <a:srgbClr val="221B15"/>
                </a:solidFill>
                <a:latin typeface="Calibri"/>
              </a:rPr>
              <a:t>Comet</a:t>
            </a:r>
          </a:p>
        </p:txBody>
      </p:sp>
      <p:sp>
        <p:nvSpPr>
          <p:cNvPr id="14" name="TextBox 13"/>
          <p:cNvSpPr txBox="1"/>
          <p:nvPr/>
        </p:nvSpPr>
        <p:spPr>
          <a:xfrm>
            <a:off x="3017520" y="2450592"/>
            <a:ext cx="822960" cy="274320"/>
          </a:xfrm>
          <a:prstGeom prst="rect">
            <a:avLst/>
          </a:prstGeom>
          <a:noFill/>
        </p:spPr>
        <p:txBody>
          <a:bodyPr wrap="square" anchor="t" lIns="0" rIns="0" tIns="0" bIns="0">
            <a:spAutoFit/>
          </a:bodyPr>
          <a:lstStyle/>
          <a:p>
            <a:pPr algn="l">
              <a:lnSpc>
                <a:spcPct val="115000"/>
              </a:lnSpc>
              <a:spcAft>
                <a:spcPts val="0"/>
              </a:spcAft>
            </a:pPr>
            <a:r>
              <a:rPr sz="860" b="0" i="0">
                <a:solidFill>
                  <a:srgbClr val="8A8177"/>
                </a:solidFill>
                <a:latin typeface="Calibri"/>
              </a:rPr>
              <a:t>$6.6M</a:t>
            </a:r>
          </a:p>
        </p:txBody>
      </p:sp>
      <p:sp>
        <p:nvSpPr>
          <p:cNvPr id="15" name="TextBox 14"/>
          <p:cNvSpPr txBox="1"/>
          <p:nvPr/>
        </p:nvSpPr>
        <p:spPr>
          <a:xfrm>
            <a:off x="3886200" y="2450592"/>
            <a:ext cx="4480560" cy="274320"/>
          </a:xfrm>
          <a:prstGeom prst="rect">
            <a:avLst/>
          </a:prstGeom>
          <a:noFill/>
        </p:spPr>
        <p:txBody>
          <a:bodyPr wrap="square" anchor="t" lIns="0" rIns="0" tIns="0" bIns="0">
            <a:spAutoFit/>
          </a:bodyPr>
          <a:lstStyle/>
          <a:p>
            <a:pPr algn="l">
              <a:lnSpc>
                <a:spcPct val="115000"/>
              </a:lnSpc>
              <a:spcAft>
                <a:spcPts val="0"/>
              </a:spcAft>
            </a:pPr>
            <a:r>
              <a:rPr sz="860" b="0" i="0">
                <a:solidFill>
                  <a:srgbClr val="4A443C"/>
                </a:solidFill>
                <a:latin typeface="Calibri"/>
              </a:rPr>
              <a:t>HIGH — same buyer, ~10× their FY25 revenue</a:t>
            </a:r>
          </a:p>
        </p:txBody>
      </p:sp>
      <p:sp>
        <p:nvSpPr>
          <p:cNvPr id="16" name="Rectangle 15"/>
          <p:cNvSpPr/>
          <p:nvPr/>
        </p:nvSpPr>
        <p:spPr>
          <a:xfrm>
            <a:off x="822960" y="2779776"/>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2960" y="2852928"/>
            <a:ext cx="2148840" cy="274320"/>
          </a:xfrm>
          <a:prstGeom prst="rect">
            <a:avLst/>
          </a:prstGeom>
          <a:noFill/>
        </p:spPr>
        <p:txBody>
          <a:bodyPr wrap="square" anchor="t" lIns="0" rIns="0" tIns="0" bIns="0">
            <a:spAutoFit/>
          </a:bodyPr>
          <a:lstStyle/>
          <a:p>
            <a:pPr algn="l">
              <a:lnSpc>
                <a:spcPct val="115000"/>
              </a:lnSpc>
              <a:spcAft>
                <a:spcPts val="0"/>
              </a:spcAft>
            </a:pPr>
            <a:r>
              <a:rPr sz="880" b="1" i="0">
                <a:solidFill>
                  <a:srgbClr val="221B15"/>
                </a:solidFill>
                <a:latin typeface="Calibri"/>
              </a:rPr>
              <a:t>CHK (Accel)</a:t>
            </a:r>
          </a:p>
        </p:txBody>
      </p:sp>
      <p:sp>
        <p:nvSpPr>
          <p:cNvPr id="18" name="TextBox 17"/>
          <p:cNvSpPr txBox="1"/>
          <p:nvPr/>
        </p:nvSpPr>
        <p:spPr>
          <a:xfrm>
            <a:off x="3017520" y="2852928"/>
            <a:ext cx="822960" cy="274320"/>
          </a:xfrm>
          <a:prstGeom prst="rect">
            <a:avLst/>
          </a:prstGeom>
          <a:noFill/>
        </p:spPr>
        <p:txBody>
          <a:bodyPr wrap="square" anchor="t" lIns="0" rIns="0" tIns="0" bIns="0">
            <a:spAutoFit/>
          </a:bodyPr>
          <a:lstStyle/>
          <a:p>
            <a:pPr algn="l">
              <a:lnSpc>
                <a:spcPct val="115000"/>
              </a:lnSpc>
              <a:spcAft>
                <a:spcPts val="0"/>
              </a:spcAft>
            </a:pPr>
            <a:r>
              <a:rPr sz="860" b="0" i="0">
                <a:solidFill>
                  <a:srgbClr val="8A8177"/>
                </a:solidFill>
                <a:latin typeface="Calibri"/>
              </a:rPr>
              <a:t>$3.8M</a:t>
            </a:r>
          </a:p>
        </p:txBody>
      </p:sp>
      <p:sp>
        <p:nvSpPr>
          <p:cNvPr id="19" name="TextBox 18"/>
          <p:cNvSpPr txBox="1"/>
          <p:nvPr/>
        </p:nvSpPr>
        <p:spPr>
          <a:xfrm>
            <a:off x="3886200" y="2852928"/>
            <a:ext cx="4480560" cy="274320"/>
          </a:xfrm>
          <a:prstGeom prst="rect">
            <a:avLst/>
          </a:prstGeom>
          <a:noFill/>
        </p:spPr>
        <p:txBody>
          <a:bodyPr wrap="square" anchor="t" lIns="0" rIns="0" tIns="0" bIns="0">
            <a:spAutoFit/>
          </a:bodyPr>
          <a:lstStyle/>
          <a:p>
            <a:pPr algn="l">
              <a:lnSpc>
                <a:spcPct val="115000"/>
              </a:lnSpc>
              <a:spcAft>
                <a:spcPts val="0"/>
              </a:spcAft>
            </a:pPr>
            <a:r>
              <a:rPr sz="860" b="0" i="0">
                <a:solidFill>
                  <a:srgbClr val="4A443C"/>
                </a:solidFill>
                <a:latin typeface="Calibri"/>
              </a:rPr>
              <a:t>MEDIUM-HIGH — closest design rival</a:t>
            </a:r>
          </a:p>
        </p:txBody>
      </p:sp>
      <p:sp>
        <p:nvSpPr>
          <p:cNvPr id="20" name="Rectangle 19"/>
          <p:cNvSpPr/>
          <p:nvPr/>
        </p:nvSpPr>
        <p:spPr>
          <a:xfrm>
            <a:off x="822960" y="3182112"/>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960" y="3255264"/>
            <a:ext cx="2148840" cy="274320"/>
          </a:xfrm>
          <a:prstGeom prst="rect">
            <a:avLst/>
          </a:prstGeom>
          <a:noFill/>
        </p:spPr>
        <p:txBody>
          <a:bodyPr wrap="square" anchor="t" lIns="0" rIns="0" tIns="0" bIns="0">
            <a:spAutoFit/>
          </a:bodyPr>
          <a:lstStyle/>
          <a:p>
            <a:pPr algn="l">
              <a:lnSpc>
                <a:spcPct val="115000"/>
              </a:lnSpc>
              <a:spcAft>
                <a:spcPts val="0"/>
              </a:spcAft>
            </a:pPr>
            <a:r>
              <a:rPr sz="880" b="1" i="0">
                <a:solidFill>
                  <a:srgbClr val="221B15"/>
                </a:solidFill>
                <a:latin typeface="Calibri"/>
              </a:rPr>
              <a:t>RapidBox</a:t>
            </a:r>
          </a:p>
        </p:txBody>
      </p:sp>
      <p:sp>
        <p:nvSpPr>
          <p:cNvPr id="22" name="TextBox 21"/>
          <p:cNvSpPr txBox="1"/>
          <p:nvPr/>
        </p:nvSpPr>
        <p:spPr>
          <a:xfrm>
            <a:off x="3017520" y="3255264"/>
            <a:ext cx="822960" cy="274320"/>
          </a:xfrm>
          <a:prstGeom prst="rect">
            <a:avLst/>
          </a:prstGeom>
          <a:noFill/>
        </p:spPr>
        <p:txBody>
          <a:bodyPr wrap="square" anchor="t" lIns="0" rIns="0" tIns="0" bIns="0">
            <a:spAutoFit/>
          </a:bodyPr>
          <a:lstStyle/>
          <a:p>
            <a:pPr algn="l">
              <a:lnSpc>
                <a:spcPct val="115000"/>
              </a:lnSpc>
              <a:spcAft>
                <a:spcPts val="0"/>
              </a:spcAft>
            </a:pPr>
            <a:r>
              <a:rPr sz="860" b="0" i="0">
                <a:solidFill>
                  <a:srgbClr val="8A8177"/>
                </a:solidFill>
                <a:latin typeface="Calibri"/>
              </a:rPr>
              <a:t>$9.5M</a:t>
            </a:r>
          </a:p>
        </p:txBody>
      </p:sp>
      <p:sp>
        <p:nvSpPr>
          <p:cNvPr id="23" name="TextBox 22"/>
          <p:cNvSpPr txBox="1"/>
          <p:nvPr/>
        </p:nvSpPr>
        <p:spPr>
          <a:xfrm>
            <a:off x="3886200" y="3255264"/>
            <a:ext cx="4480560" cy="274320"/>
          </a:xfrm>
          <a:prstGeom prst="rect">
            <a:avLst/>
          </a:prstGeom>
          <a:noFill/>
        </p:spPr>
        <p:txBody>
          <a:bodyPr wrap="square" anchor="t" lIns="0" rIns="0" tIns="0" bIns="0">
            <a:spAutoFit/>
          </a:bodyPr>
          <a:lstStyle/>
          <a:p>
            <a:pPr algn="l">
              <a:lnSpc>
                <a:spcPct val="115000"/>
              </a:lnSpc>
              <a:spcAft>
                <a:spcPts val="0"/>
              </a:spcAft>
            </a:pPr>
            <a:r>
              <a:rPr sz="860" b="0" i="0">
                <a:solidFill>
                  <a:srgbClr val="4A443C"/>
                </a:solidFill>
                <a:latin typeface="Calibri"/>
              </a:rPr>
              <a:t>MEDIUM — a price tier below</a:t>
            </a:r>
          </a:p>
        </p:txBody>
      </p:sp>
      <p:sp>
        <p:nvSpPr>
          <p:cNvPr id="24" name="Rectangle 23"/>
          <p:cNvSpPr/>
          <p:nvPr/>
        </p:nvSpPr>
        <p:spPr>
          <a:xfrm>
            <a:off x="822960" y="3584448"/>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2960" y="3657600"/>
            <a:ext cx="2148840" cy="274320"/>
          </a:xfrm>
          <a:prstGeom prst="rect">
            <a:avLst/>
          </a:prstGeom>
          <a:noFill/>
        </p:spPr>
        <p:txBody>
          <a:bodyPr wrap="square" anchor="t" lIns="0" rIns="0" tIns="0" bIns="0">
            <a:spAutoFit/>
          </a:bodyPr>
          <a:lstStyle/>
          <a:p>
            <a:pPr algn="l">
              <a:lnSpc>
                <a:spcPct val="115000"/>
              </a:lnSpc>
              <a:spcAft>
                <a:spcPts val="0"/>
              </a:spcAft>
            </a:pPr>
            <a:r>
              <a:rPr sz="880" b="1" i="0">
                <a:solidFill>
                  <a:srgbClr val="221B15"/>
                </a:solidFill>
                <a:latin typeface="Calibri"/>
              </a:rPr>
              <a:t>Neemans / Solethreads / Zeesh</a:t>
            </a:r>
          </a:p>
        </p:txBody>
      </p:sp>
      <p:sp>
        <p:nvSpPr>
          <p:cNvPr id="26" name="TextBox 25"/>
          <p:cNvSpPr txBox="1"/>
          <p:nvPr/>
        </p:nvSpPr>
        <p:spPr>
          <a:xfrm>
            <a:off x="3017520" y="3657600"/>
            <a:ext cx="822960" cy="274320"/>
          </a:xfrm>
          <a:prstGeom prst="rect">
            <a:avLst/>
          </a:prstGeom>
          <a:noFill/>
        </p:spPr>
        <p:txBody>
          <a:bodyPr wrap="square" anchor="t" lIns="0" rIns="0" tIns="0" bIns="0">
            <a:spAutoFit/>
          </a:bodyPr>
          <a:lstStyle/>
          <a:p>
            <a:pPr algn="l">
              <a:lnSpc>
                <a:spcPct val="115000"/>
              </a:lnSpc>
              <a:spcAft>
                <a:spcPts val="0"/>
              </a:spcAft>
            </a:pPr>
            <a:r>
              <a:rPr sz="860" b="0" i="0">
                <a:solidFill>
                  <a:srgbClr val="8A8177"/>
                </a:solidFill>
                <a:latin typeface="Calibri"/>
              </a:rPr>
              <a:t>seed–A</a:t>
            </a:r>
          </a:p>
        </p:txBody>
      </p:sp>
      <p:sp>
        <p:nvSpPr>
          <p:cNvPr id="27" name="TextBox 26"/>
          <p:cNvSpPr txBox="1"/>
          <p:nvPr/>
        </p:nvSpPr>
        <p:spPr>
          <a:xfrm>
            <a:off x="3886200" y="3657600"/>
            <a:ext cx="4480560" cy="274320"/>
          </a:xfrm>
          <a:prstGeom prst="rect">
            <a:avLst/>
          </a:prstGeom>
          <a:noFill/>
        </p:spPr>
        <p:txBody>
          <a:bodyPr wrap="square" anchor="t" lIns="0" rIns="0" tIns="0" bIns="0">
            <a:spAutoFit/>
          </a:bodyPr>
          <a:lstStyle/>
          <a:p>
            <a:pPr algn="l">
              <a:lnSpc>
                <a:spcPct val="115000"/>
              </a:lnSpc>
              <a:spcAft>
                <a:spcPts val="0"/>
              </a:spcAft>
            </a:pPr>
            <a:r>
              <a:rPr sz="860" b="0" i="0">
                <a:solidFill>
                  <a:srgbClr val="4A443C"/>
                </a:solidFill>
                <a:latin typeface="Calibri"/>
              </a:rPr>
              <a:t>LOW-MEDIUM — different promise</a:t>
            </a:r>
          </a:p>
        </p:txBody>
      </p:sp>
      <p:sp>
        <p:nvSpPr>
          <p:cNvPr id="28" name="Rectangle 27"/>
          <p:cNvSpPr/>
          <p:nvPr/>
        </p:nvSpPr>
        <p:spPr>
          <a:xfrm>
            <a:off x="822960" y="3986784"/>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22960" y="4160520"/>
            <a:ext cx="7543800" cy="228600"/>
          </a:xfrm>
          <a:prstGeom prst="rect">
            <a:avLst/>
          </a:prstGeom>
          <a:noFill/>
        </p:spPr>
        <p:txBody>
          <a:bodyPr wrap="square" anchor="t" lIns="0" rIns="0" tIns="0" bIns="0">
            <a:spAutoFit/>
          </a:bodyPr>
          <a:lstStyle/>
          <a:p>
            <a:pPr algn="l">
              <a:lnSpc>
                <a:spcPct val="115000"/>
              </a:lnSpc>
              <a:spcAft>
                <a:spcPts val="0"/>
              </a:spcAft>
            </a:pPr>
            <a:r>
              <a:rPr sz="840" b="0" i="0" spc="110">
                <a:solidFill>
                  <a:srgbClr val="8A8177"/>
                </a:solidFill>
                <a:latin typeface="Calibri"/>
              </a:rPr>
              <a:t>INDUSTRY CYCLE — EMBRYONIC · GROWTH · SHAKEOUT · MATURITY · DECLINE</a:t>
            </a:r>
          </a:p>
        </p:txBody>
      </p:sp>
      <p:sp>
        <p:nvSpPr>
          <p:cNvPr id="30" name="Rectangle 29"/>
          <p:cNvSpPr/>
          <p:nvPr/>
        </p:nvSpPr>
        <p:spPr>
          <a:xfrm>
            <a:off x="2971800" y="4133087"/>
            <a:ext cx="960120" cy="27432"/>
          </a:xfrm>
          <a:prstGeom prst="rect">
            <a:avLst/>
          </a:prstGeom>
          <a:solidFill>
            <a:srgbClr val="8C6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22960" y="4434840"/>
            <a:ext cx="7543800" cy="548640"/>
          </a:xfrm>
          <a:prstGeom prst="rect">
            <a:avLst/>
          </a:prstGeom>
          <a:noFill/>
        </p:spPr>
        <p:txBody>
          <a:bodyPr wrap="square" anchor="t" lIns="0" rIns="0" tIns="0" bIns="0">
            <a:spAutoFit/>
          </a:bodyPr>
          <a:lstStyle/>
          <a:p>
            <a:pPr algn="l">
              <a:lnSpc>
                <a:spcPct val="115000"/>
              </a:lnSpc>
              <a:spcAft>
                <a:spcPts val="0"/>
              </a:spcAft>
            </a:pPr>
            <a:r>
              <a:rPr sz="880" b="0" i="0">
                <a:solidFill>
                  <a:srgbClr val="4A443C"/>
                </a:solidFill>
                <a:latin typeface="Calibri"/>
              </a:rPr>
              <a:t>They are in the growth stage: position-buying, losses tolerated (₹1 Cr on ₹2.9 Cr is that logic); the shakeout will punish players with neither scale nor an uncopyable story.</a:t>
            </a:r>
          </a:p>
        </p:txBody>
      </p:sp>
      <p:sp>
        <p:nvSpPr>
          <p:cNvPr id="32" name="TextBox 31"/>
          <p:cNvSpPr txBox="1"/>
          <p:nvPr/>
        </p:nvSpPr>
        <p:spPr>
          <a:xfrm>
            <a:off x="822960" y="5138928"/>
            <a:ext cx="7543800" cy="228600"/>
          </a:xfrm>
          <a:prstGeom prst="rect">
            <a:avLst/>
          </a:prstGeom>
          <a:noFill/>
        </p:spPr>
        <p:txBody>
          <a:bodyPr wrap="square" anchor="t" lIns="0" rIns="0" tIns="0" bIns="0">
            <a:spAutoFit/>
          </a:bodyPr>
          <a:lstStyle/>
          <a:p>
            <a:pPr algn="l">
              <a:lnSpc>
                <a:spcPct val="115000"/>
              </a:lnSpc>
              <a:spcAft>
                <a:spcPts val="0"/>
              </a:spcAft>
            </a:pPr>
            <a:r>
              <a:rPr sz="840" b="1" i="0" spc="100">
                <a:solidFill>
                  <a:srgbClr val="221B15"/>
                </a:solidFill>
                <a:latin typeface="Calibri"/>
              </a:rPr>
              <a:t>BUYER POWER  </a:t>
            </a:r>
            <a:r>
              <a:rPr sz="900" b="0" i="1">
                <a:solidFill>
                  <a:srgbClr val="8C6248"/>
                </a:solidFill>
                <a:latin typeface="Georgia"/>
              </a:rPr>
              <a:t>HIGH  </a:t>
            </a:r>
            <a:r>
              <a:rPr sz="819" b="0" i="0">
                <a:solidFill>
                  <a:srgbClr val="8A8177"/>
                </a:solidFill>
                <a:latin typeface="Calibri"/>
              </a:rPr>
              <a:t>· zero switching cost, infinite choice, hype moves fast</a:t>
            </a:r>
          </a:p>
        </p:txBody>
      </p:sp>
      <p:sp>
        <p:nvSpPr>
          <p:cNvPr id="33" name="TextBox 32"/>
          <p:cNvSpPr txBox="1"/>
          <p:nvPr/>
        </p:nvSpPr>
        <p:spPr>
          <a:xfrm>
            <a:off x="822960" y="5362956"/>
            <a:ext cx="7543800" cy="228600"/>
          </a:xfrm>
          <a:prstGeom prst="rect">
            <a:avLst/>
          </a:prstGeom>
          <a:noFill/>
        </p:spPr>
        <p:txBody>
          <a:bodyPr wrap="square" anchor="t" lIns="0" rIns="0" tIns="0" bIns="0">
            <a:spAutoFit/>
          </a:bodyPr>
          <a:lstStyle/>
          <a:p>
            <a:pPr algn="l">
              <a:lnSpc>
                <a:spcPct val="115000"/>
              </a:lnSpc>
              <a:spcAft>
                <a:spcPts val="0"/>
              </a:spcAft>
            </a:pPr>
            <a:r>
              <a:rPr sz="840" b="1" i="0" spc="100">
                <a:solidFill>
                  <a:srgbClr val="221B15"/>
                </a:solidFill>
                <a:latin typeface="Calibri"/>
              </a:rPr>
              <a:t>RIVALRY  </a:t>
            </a:r>
            <a:r>
              <a:rPr sz="900" b="0" i="1">
                <a:solidFill>
                  <a:srgbClr val="8C6248"/>
                </a:solidFill>
                <a:latin typeface="Georgia"/>
              </a:rPr>
              <a:t>HIGH  </a:t>
            </a:r>
            <a:r>
              <a:rPr sz="819" b="0" i="0">
                <a:solidFill>
                  <a:srgbClr val="8A8177"/>
                </a:solidFill>
                <a:latin typeface="Calibri"/>
              </a:rPr>
              <a:t>· global giants + funded D2C + marketplaces</a:t>
            </a:r>
          </a:p>
        </p:txBody>
      </p:sp>
      <p:sp>
        <p:nvSpPr>
          <p:cNvPr id="34" name="TextBox 33"/>
          <p:cNvSpPr txBox="1"/>
          <p:nvPr/>
        </p:nvSpPr>
        <p:spPr>
          <a:xfrm>
            <a:off x="822960" y="5586984"/>
            <a:ext cx="7543800" cy="228600"/>
          </a:xfrm>
          <a:prstGeom prst="rect">
            <a:avLst/>
          </a:prstGeom>
          <a:noFill/>
        </p:spPr>
        <p:txBody>
          <a:bodyPr wrap="square" anchor="t" lIns="0" rIns="0" tIns="0" bIns="0">
            <a:spAutoFit/>
          </a:bodyPr>
          <a:lstStyle/>
          <a:p>
            <a:pPr algn="l">
              <a:lnSpc>
                <a:spcPct val="115000"/>
              </a:lnSpc>
              <a:spcAft>
                <a:spcPts val="0"/>
              </a:spcAft>
            </a:pPr>
            <a:r>
              <a:rPr sz="840" b="1" i="0" spc="100">
                <a:solidFill>
                  <a:srgbClr val="221B15"/>
                </a:solidFill>
                <a:latin typeface="Calibri"/>
              </a:rPr>
              <a:t>NEW ENTRANTS  </a:t>
            </a:r>
            <a:r>
              <a:rPr sz="900" b="0" i="1">
                <a:solidFill>
                  <a:srgbClr val="8C6248"/>
                </a:solidFill>
                <a:latin typeface="Georgia"/>
              </a:rPr>
              <a:t>MODERATE  </a:t>
            </a:r>
            <a:r>
              <a:rPr sz="819" b="0" i="0">
                <a:solidFill>
                  <a:srgbClr val="8A8177"/>
                </a:solidFill>
                <a:latin typeface="Calibri"/>
              </a:rPr>
              <a:t>· cheap to start, years to craft a brand</a:t>
            </a:r>
          </a:p>
        </p:txBody>
      </p:sp>
      <p:sp>
        <p:nvSpPr>
          <p:cNvPr id="35" name="TextBox 34"/>
          <p:cNvSpPr txBox="1"/>
          <p:nvPr/>
        </p:nvSpPr>
        <p:spPr>
          <a:xfrm>
            <a:off x="822960" y="5811012"/>
            <a:ext cx="7543800" cy="228600"/>
          </a:xfrm>
          <a:prstGeom prst="rect">
            <a:avLst/>
          </a:prstGeom>
          <a:noFill/>
        </p:spPr>
        <p:txBody>
          <a:bodyPr wrap="square" anchor="t" lIns="0" rIns="0" tIns="0" bIns="0">
            <a:spAutoFit/>
          </a:bodyPr>
          <a:lstStyle/>
          <a:p>
            <a:pPr algn="l">
              <a:lnSpc>
                <a:spcPct val="115000"/>
              </a:lnSpc>
              <a:spcAft>
                <a:spcPts val="0"/>
              </a:spcAft>
            </a:pPr>
            <a:r>
              <a:rPr sz="840" b="1" i="0" spc="100">
                <a:solidFill>
                  <a:srgbClr val="221B15"/>
                </a:solidFill>
                <a:latin typeface="Calibri"/>
              </a:rPr>
              <a:t>SUBSTITUTES  </a:t>
            </a:r>
            <a:r>
              <a:rPr sz="900" b="0" i="1">
                <a:solidFill>
                  <a:srgbClr val="8C6248"/>
                </a:solidFill>
                <a:latin typeface="Georgia"/>
              </a:rPr>
              <a:t>MODERATE  </a:t>
            </a:r>
            <a:r>
              <a:rPr sz="819" b="0" i="0">
                <a:solidFill>
                  <a:srgbClr val="8A8177"/>
                </a:solidFill>
                <a:latin typeface="Calibri"/>
              </a:rPr>
              <a:t>· resale Jordans, copies, apparel for the same rupee</a:t>
            </a:r>
          </a:p>
        </p:txBody>
      </p:sp>
      <p:sp>
        <p:nvSpPr>
          <p:cNvPr id="36" name="TextBox 35"/>
          <p:cNvSpPr txBox="1"/>
          <p:nvPr/>
        </p:nvSpPr>
        <p:spPr>
          <a:xfrm>
            <a:off x="822960" y="6035040"/>
            <a:ext cx="7543800" cy="228600"/>
          </a:xfrm>
          <a:prstGeom prst="rect">
            <a:avLst/>
          </a:prstGeom>
          <a:noFill/>
        </p:spPr>
        <p:txBody>
          <a:bodyPr wrap="square" anchor="t" lIns="0" rIns="0" tIns="0" bIns="0">
            <a:spAutoFit/>
          </a:bodyPr>
          <a:lstStyle/>
          <a:p>
            <a:pPr algn="l">
              <a:lnSpc>
                <a:spcPct val="115000"/>
              </a:lnSpc>
              <a:spcAft>
                <a:spcPts val="0"/>
              </a:spcAft>
            </a:pPr>
            <a:r>
              <a:rPr sz="840" b="1" i="0" spc="100">
                <a:solidFill>
                  <a:srgbClr val="221B15"/>
                </a:solidFill>
                <a:latin typeface="Calibri"/>
              </a:rPr>
              <a:t>SUPPLIER POWER  </a:t>
            </a:r>
            <a:r>
              <a:rPr sz="900" b="0" i="1">
                <a:solidFill>
                  <a:srgbClr val="8C6248"/>
                </a:solidFill>
                <a:latin typeface="Georgia"/>
              </a:rPr>
              <a:t>MODERATE  </a:t>
            </a:r>
            <a:r>
              <a:rPr sz="819" b="0" i="0">
                <a:solidFill>
                  <a:srgbClr val="8A8177"/>
                </a:solidFill>
                <a:latin typeface="Calibri"/>
              </a:rPr>
              <a:t>· leather is easy; skilled karigars are the scarce input</a:t>
            </a:r>
          </a:p>
        </p:txBody>
      </p:sp>
      <p:sp>
        <p:nvSpPr>
          <p:cNvPr id="37" name="Rectangle 36"/>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_v3_ph-sneaker-wall.jpg"/>
          <p:cNvPicPr>
            <a:picLocks noChangeAspect="1"/>
          </p:cNvPicPr>
          <p:nvPr/>
        </p:nvPicPr>
        <p:blipFill>
          <a:blip r:embed="rId2"/>
          <a:stretch>
            <a:fillRect/>
          </a:stretch>
        </p:blipFill>
        <p:spPr>
          <a:xfrm>
            <a:off x="8732520" y="1828800"/>
            <a:ext cx="2651760" cy="4297680"/>
          </a:xfrm>
          <a:prstGeom prst="rect">
            <a:avLst/>
          </a:prstGeom>
        </p:spPr>
      </p:pic>
      <p:sp>
        <p:nvSpPr>
          <p:cNvPr id="39" name="TextBox 38"/>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Verdict: the moat cannot be design — it is factory + karigars + community + store.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SITUATIONAL ANALYSIS</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Four consistent Ps; an honest SWOT.</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08 / 15</a:t>
            </a:r>
          </a:p>
        </p:txBody>
      </p:sp>
      <p:sp>
        <p:nvSpPr>
          <p:cNvPr id="8" name="TextBox 7"/>
          <p:cNvSpPr txBox="1"/>
          <p:nvPr/>
        </p:nvSpPr>
        <p:spPr>
          <a:xfrm>
            <a:off x="822960" y="1828800"/>
            <a:ext cx="3566160" cy="228600"/>
          </a:xfrm>
          <a:prstGeom prst="rect">
            <a:avLst/>
          </a:prstGeom>
          <a:noFill/>
        </p:spPr>
        <p:txBody>
          <a:bodyPr wrap="square" anchor="t" lIns="0" rIns="0" tIns="0" bIns="0">
            <a:spAutoFit/>
          </a:bodyPr>
          <a:lstStyle/>
          <a:p>
            <a:pPr algn="l">
              <a:lnSpc>
                <a:spcPct val="115000"/>
              </a:lnSpc>
              <a:spcAft>
                <a:spcPts val="0"/>
              </a:spcAft>
            </a:pPr>
            <a:r>
              <a:rPr sz="950" b="1" i="0" spc="200">
                <a:solidFill>
                  <a:srgbClr val="8C6248"/>
                </a:solidFill>
                <a:latin typeface="Calibri"/>
              </a:rPr>
              <a:t>PRODUCT</a:t>
            </a:r>
          </a:p>
        </p:txBody>
      </p:sp>
      <p:sp>
        <p:nvSpPr>
          <p:cNvPr id="9" name="Rectangle 8"/>
          <p:cNvSpPr/>
          <p:nvPr/>
        </p:nvSpPr>
        <p:spPr>
          <a:xfrm>
            <a:off x="822960" y="2075688"/>
            <a:ext cx="356616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2139696"/>
            <a:ext cx="3657600" cy="731520"/>
          </a:xfrm>
          <a:prstGeom prst="rect">
            <a:avLst/>
          </a:prstGeom>
          <a:noFill/>
        </p:spPr>
        <p:txBody>
          <a:bodyPr wrap="square" anchor="t" lIns="0" rIns="0" tIns="0" bIns="0">
            <a:spAutoFit/>
          </a:bodyPr>
          <a:lstStyle/>
          <a:p>
            <a:pPr algn="l">
              <a:lnSpc>
                <a:spcPct val="110000"/>
              </a:lnSpc>
              <a:spcAft>
                <a:spcPts val="200"/>
              </a:spcAft>
            </a:pPr>
            <a:r>
              <a:rPr sz="800" b="0" i="0">
                <a:solidFill>
                  <a:srgbClr val="4A443C"/>
                </a:solidFill>
                <a:latin typeface="Calibri"/>
              </a:rPr>
              <a:t>4 silhouettes, ~50 SKUs, Indian lexicon — Baaz, Kulfi, Kaapi</a:t>
            </a:r>
          </a:p>
          <a:p>
            <a:pPr algn="l">
              <a:lnSpc>
                <a:spcPct val="110000"/>
              </a:lnSpc>
              <a:spcAft>
                <a:spcPts val="200"/>
              </a:spcAft>
            </a:pPr>
            <a:r>
              <a:rPr sz="800" b="0" i="0">
                <a:solidFill>
                  <a:srgbClr val="4A443C"/>
                </a:solidFill>
                <a:latin typeface="Calibri"/>
              </a:rPr>
              <a:t>hand-lasted; Kantha, Rangoli, Devanagari signatures</a:t>
            </a:r>
          </a:p>
          <a:p>
            <a:pPr algn="l">
              <a:lnSpc>
                <a:spcPct val="110000"/>
              </a:lnSpc>
              <a:spcAft>
                <a:spcPts val="200"/>
              </a:spcAft>
            </a:pPr>
            <a:r>
              <a:rPr sz="800" b="0" i="0">
                <a:solidFill>
                  <a:srgbClr val="4A443C"/>
                </a:solidFill>
                <a:latin typeface="Calibri"/>
              </a:rPr>
              <a:t>scarcity: 60-day drops, collabs (RAGA, Nivia, CMF)</a:t>
            </a:r>
          </a:p>
        </p:txBody>
      </p:sp>
      <p:sp>
        <p:nvSpPr>
          <p:cNvPr id="11" name="TextBox 10"/>
          <p:cNvSpPr txBox="1"/>
          <p:nvPr/>
        </p:nvSpPr>
        <p:spPr>
          <a:xfrm>
            <a:off x="4663440" y="1828800"/>
            <a:ext cx="3566160" cy="228600"/>
          </a:xfrm>
          <a:prstGeom prst="rect">
            <a:avLst/>
          </a:prstGeom>
          <a:noFill/>
        </p:spPr>
        <p:txBody>
          <a:bodyPr wrap="square" anchor="t" lIns="0" rIns="0" tIns="0" bIns="0">
            <a:spAutoFit/>
          </a:bodyPr>
          <a:lstStyle/>
          <a:p>
            <a:pPr algn="l">
              <a:lnSpc>
                <a:spcPct val="115000"/>
              </a:lnSpc>
              <a:spcAft>
                <a:spcPts val="0"/>
              </a:spcAft>
            </a:pPr>
            <a:r>
              <a:rPr sz="950" b="1" i="0" spc="200">
                <a:solidFill>
                  <a:srgbClr val="8C6248"/>
                </a:solidFill>
                <a:latin typeface="Calibri"/>
              </a:rPr>
              <a:t>PRICE</a:t>
            </a:r>
          </a:p>
        </p:txBody>
      </p:sp>
      <p:sp>
        <p:nvSpPr>
          <p:cNvPr id="12" name="Rectangle 11"/>
          <p:cNvSpPr/>
          <p:nvPr/>
        </p:nvSpPr>
        <p:spPr>
          <a:xfrm>
            <a:off x="4663440" y="2075688"/>
            <a:ext cx="356616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663440" y="2139696"/>
            <a:ext cx="3657600" cy="731520"/>
          </a:xfrm>
          <a:prstGeom prst="rect">
            <a:avLst/>
          </a:prstGeom>
          <a:noFill/>
        </p:spPr>
        <p:txBody>
          <a:bodyPr wrap="square" anchor="t" lIns="0" rIns="0" tIns="0" bIns="0">
            <a:spAutoFit/>
          </a:bodyPr>
          <a:lstStyle/>
          <a:p>
            <a:pPr algn="l">
              <a:lnSpc>
                <a:spcPct val="110000"/>
              </a:lnSpc>
              <a:spcAft>
                <a:spcPts val="200"/>
              </a:spcAft>
            </a:pPr>
            <a:r>
              <a:rPr sz="800" b="0" i="0">
                <a:solidFill>
                  <a:srgbClr val="4A443C"/>
                </a:solidFill>
                <a:latin typeface="Calibri"/>
              </a:rPr>
              <a:t>₹3,790–15,000; bestseller Calico White ₹8,900</a:t>
            </a:r>
          </a:p>
          <a:p>
            <a:pPr algn="l">
              <a:lnSpc>
                <a:spcPct val="110000"/>
              </a:lnSpc>
              <a:spcAft>
                <a:spcPts val="200"/>
              </a:spcAft>
            </a:pPr>
            <a:r>
              <a:rPr sz="800" b="0" i="0">
                <a:solidFill>
                  <a:srgbClr val="4A443C"/>
                </a:solidFill>
                <a:latin typeface="Calibri"/>
              </a:rPr>
              <a:t>value-based: “not price-conscious, value-conscious”</a:t>
            </a:r>
          </a:p>
          <a:p>
            <a:pPr algn="l">
              <a:lnSpc>
                <a:spcPct val="110000"/>
              </a:lnSpc>
              <a:spcAft>
                <a:spcPts val="200"/>
              </a:spcAft>
            </a:pPr>
            <a:r>
              <a:rPr sz="800" b="0" i="0">
                <a:solidFill>
                  <a:srgbClr val="4A443C"/>
                </a:solidFill>
                <a:latin typeface="Calibri"/>
              </a:rPr>
              <a:t>no discount-led growth; global $140–220</a:t>
            </a:r>
          </a:p>
        </p:txBody>
      </p:sp>
      <p:sp>
        <p:nvSpPr>
          <p:cNvPr id="14" name="TextBox 13"/>
          <p:cNvSpPr txBox="1"/>
          <p:nvPr/>
        </p:nvSpPr>
        <p:spPr>
          <a:xfrm>
            <a:off x="822960" y="2852928"/>
            <a:ext cx="3566160" cy="228600"/>
          </a:xfrm>
          <a:prstGeom prst="rect">
            <a:avLst/>
          </a:prstGeom>
          <a:noFill/>
        </p:spPr>
        <p:txBody>
          <a:bodyPr wrap="square" anchor="t" lIns="0" rIns="0" tIns="0" bIns="0">
            <a:spAutoFit/>
          </a:bodyPr>
          <a:lstStyle/>
          <a:p>
            <a:pPr algn="l">
              <a:lnSpc>
                <a:spcPct val="115000"/>
              </a:lnSpc>
              <a:spcAft>
                <a:spcPts val="0"/>
              </a:spcAft>
            </a:pPr>
            <a:r>
              <a:rPr sz="950" b="1" i="0" spc="200">
                <a:solidFill>
                  <a:srgbClr val="8C6248"/>
                </a:solidFill>
                <a:latin typeface="Calibri"/>
              </a:rPr>
              <a:t>PLACE</a:t>
            </a:r>
          </a:p>
        </p:txBody>
      </p:sp>
      <p:sp>
        <p:nvSpPr>
          <p:cNvPr id="15" name="Rectangle 14"/>
          <p:cNvSpPr/>
          <p:nvPr/>
        </p:nvSpPr>
        <p:spPr>
          <a:xfrm>
            <a:off x="822960" y="3099816"/>
            <a:ext cx="356616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22960" y="3163824"/>
            <a:ext cx="3657600" cy="731520"/>
          </a:xfrm>
          <a:prstGeom prst="rect">
            <a:avLst/>
          </a:prstGeom>
          <a:noFill/>
        </p:spPr>
        <p:txBody>
          <a:bodyPr wrap="square" anchor="t" lIns="0" rIns="0" tIns="0" bIns="0">
            <a:spAutoFit/>
          </a:bodyPr>
          <a:lstStyle/>
          <a:p>
            <a:pPr algn="l">
              <a:lnSpc>
                <a:spcPct val="110000"/>
              </a:lnSpc>
              <a:spcAft>
                <a:spcPts val="200"/>
              </a:spcAft>
            </a:pPr>
            <a:r>
              <a:rPr sz="800" b="0" i="0">
                <a:solidFill>
                  <a:srgbClr val="4A443C"/>
                </a:solidFill>
                <a:latin typeface="Calibri"/>
              </a:rPr>
              <a:t>D2C-first India + global; Amazon store</a:t>
            </a:r>
          </a:p>
          <a:p>
            <a:pPr algn="l">
              <a:lnSpc>
                <a:spcPct val="110000"/>
              </a:lnSpc>
              <a:spcAft>
                <a:spcPts val="200"/>
              </a:spcAft>
            </a:pPr>
            <a:r>
              <a:rPr sz="800" b="0" i="0">
                <a:solidFill>
                  <a:srgbClr val="4A443C"/>
                </a:solidFill>
                <a:latin typeface="Calibri"/>
              </a:rPr>
              <a:t>own flagship + Bengaluru; Mumbai next; curated partners</a:t>
            </a:r>
          </a:p>
          <a:p>
            <a:pPr algn="l">
              <a:lnSpc>
                <a:spcPct val="110000"/>
              </a:lnSpc>
              <a:spcAft>
                <a:spcPts val="200"/>
              </a:spcAft>
            </a:pPr>
            <a:r>
              <a:rPr sz="800" b="0" i="0">
                <a:solidFill>
                  <a:srgbClr val="4A443C"/>
                </a:solidFill>
                <a:latin typeface="Calibri"/>
              </a:rPr>
              <a:t>~25% exports — US, UK, UAE, SG, AU, CA</a:t>
            </a:r>
          </a:p>
        </p:txBody>
      </p:sp>
      <p:sp>
        <p:nvSpPr>
          <p:cNvPr id="17" name="TextBox 16"/>
          <p:cNvSpPr txBox="1"/>
          <p:nvPr/>
        </p:nvSpPr>
        <p:spPr>
          <a:xfrm>
            <a:off x="4663440" y="2852928"/>
            <a:ext cx="3566160" cy="228600"/>
          </a:xfrm>
          <a:prstGeom prst="rect">
            <a:avLst/>
          </a:prstGeom>
          <a:noFill/>
        </p:spPr>
        <p:txBody>
          <a:bodyPr wrap="square" anchor="t" lIns="0" rIns="0" tIns="0" bIns="0">
            <a:spAutoFit/>
          </a:bodyPr>
          <a:lstStyle/>
          <a:p>
            <a:pPr algn="l">
              <a:lnSpc>
                <a:spcPct val="115000"/>
              </a:lnSpc>
              <a:spcAft>
                <a:spcPts val="0"/>
              </a:spcAft>
            </a:pPr>
            <a:r>
              <a:rPr sz="950" b="1" i="0" spc="200">
                <a:solidFill>
                  <a:srgbClr val="8C6248"/>
                </a:solidFill>
                <a:latin typeface="Calibri"/>
              </a:rPr>
              <a:t>PROMOTION</a:t>
            </a:r>
          </a:p>
        </p:txBody>
      </p:sp>
      <p:sp>
        <p:nvSpPr>
          <p:cNvPr id="18" name="Rectangle 17"/>
          <p:cNvSpPr/>
          <p:nvPr/>
        </p:nvSpPr>
        <p:spPr>
          <a:xfrm>
            <a:off x="4663440" y="3099816"/>
            <a:ext cx="356616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663440" y="3163824"/>
            <a:ext cx="3657600" cy="731520"/>
          </a:xfrm>
          <a:prstGeom prst="rect">
            <a:avLst/>
          </a:prstGeom>
          <a:noFill/>
        </p:spPr>
        <p:txBody>
          <a:bodyPr wrap="square" anchor="t" lIns="0" rIns="0" tIns="0" bIns="0">
            <a:spAutoFit/>
          </a:bodyPr>
          <a:lstStyle/>
          <a:p>
            <a:pPr algn="l">
              <a:lnSpc>
                <a:spcPct val="110000"/>
              </a:lnSpc>
              <a:spcAft>
                <a:spcPts val="200"/>
              </a:spcAft>
            </a:pPr>
            <a:r>
              <a:rPr sz="800" b="0" i="0">
                <a:solidFill>
                  <a:srgbClr val="4A443C"/>
                </a:solidFill>
                <a:latin typeface="Calibri"/>
              </a:rPr>
              <a:t>community before product; 6 months of content</a:t>
            </a:r>
          </a:p>
          <a:p>
            <a:pPr algn="l">
              <a:lnSpc>
                <a:spcPct val="110000"/>
              </a:lnSpc>
              <a:spcAft>
                <a:spcPts val="200"/>
              </a:spcAft>
            </a:pPr>
            <a:r>
              <a:rPr sz="800" b="0" i="0">
                <a:solidFill>
                  <a:srgbClr val="4A443C"/>
                </a:solidFill>
                <a:latin typeface="Calibri"/>
              </a:rPr>
              <a:t>creator spikes (7M-view reel); Shark Tank as brand event</a:t>
            </a:r>
          </a:p>
          <a:p>
            <a:pPr algn="l">
              <a:lnSpc>
                <a:spcPct val="110000"/>
              </a:lnSpc>
              <a:spcAft>
                <a:spcPts val="200"/>
              </a:spcAft>
            </a:pPr>
            <a:r>
              <a:rPr sz="800" b="0" i="0">
                <a:solidFill>
                  <a:srgbClr val="4A443C"/>
                </a:solidFill>
                <a:latin typeface="Calibri"/>
              </a:rPr>
              <a:t>cause-marketing; X as the drop wire</a:t>
            </a:r>
          </a:p>
        </p:txBody>
      </p:sp>
      <p:sp>
        <p:nvSpPr>
          <p:cNvPr id="20" name="Rectangle 19"/>
          <p:cNvSpPr/>
          <p:nvPr/>
        </p:nvSpPr>
        <p:spPr>
          <a:xfrm>
            <a:off x="822960" y="3931920"/>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960" y="4041648"/>
            <a:ext cx="365760" cy="320040"/>
          </a:xfrm>
          <a:prstGeom prst="rect">
            <a:avLst/>
          </a:prstGeom>
          <a:noFill/>
        </p:spPr>
        <p:txBody>
          <a:bodyPr wrap="square" anchor="t" lIns="0" rIns="0" tIns="0" bIns="0">
            <a:spAutoFit/>
          </a:bodyPr>
          <a:lstStyle/>
          <a:p>
            <a:pPr algn="l">
              <a:lnSpc>
                <a:spcPct val="115000"/>
              </a:lnSpc>
              <a:spcAft>
                <a:spcPts val="0"/>
              </a:spcAft>
            </a:pPr>
            <a:r>
              <a:rPr sz="1500" b="0" i="0">
                <a:solidFill>
                  <a:srgbClr val="8C6248"/>
                </a:solidFill>
                <a:latin typeface="Georgia"/>
              </a:rPr>
              <a:t>S</a:t>
            </a:r>
          </a:p>
        </p:txBody>
      </p:sp>
      <p:sp>
        <p:nvSpPr>
          <p:cNvPr id="22" name="TextBox 21"/>
          <p:cNvSpPr txBox="1"/>
          <p:nvPr/>
        </p:nvSpPr>
        <p:spPr>
          <a:xfrm>
            <a:off x="1234440" y="4041648"/>
            <a:ext cx="3383280" cy="1051560"/>
          </a:xfrm>
          <a:prstGeom prst="rect">
            <a:avLst/>
          </a:prstGeom>
          <a:noFill/>
        </p:spPr>
        <p:txBody>
          <a:bodyPr wrap="square" anchor="t" lIns="0" rIns="0" tIns="0" bIns="0">
            <a:spAutoFit/>
          </a:bodyPr>
          <a:lstStyle/>
          <a:p>
            <a:pPr algn="l">
              <a:lnSpc>
                <a:spcPct val="108000"/>
              </a:lnSpc>
              <a:spcAft>
                <a:spcPts val="0"/>
              </a:spcAft>
            </a:pPr>
            <a:r>
              <a:rPr sz="790" b="0" i="0">
                <a:solidFill>
                  <a:srgbClr val="4A443C"/>
                </a:solidFill>
                <a:latin typeface="Calibri"/>
              </a:rPr>
              <a:t>—  own factory → quality, flexibility, duty shield</a:t>
            </a:r>
          </a:p>
          <a:p>
            <a:pPr algn="l">
              <a:lnSpc>
                <a:spcPct val="108000"/>
              </a:lnSpc>
              <a:spcAft>
                <a:spcPts val="0"/>
              </a:spcAft>
            </a:pPr>
            <a:r>
              <a:rPr sz="790" b="0" i="0">
                <a:solidFill>
                  <a:srgbClr val="4A443C"/>
                </a:solidFill>
                <a:latin typeface="Calibri"/>
              </a:rPr>
              <a:t>—  56% gross margin; ~8× revenue growth</a:t>
            </a:r>
          </a:p>
          <a:p>
            <a:pPr algn="l">
              <a:lnSpc>
                <a:spcPct val="108000"/>
              </a:lnSpc>
              <a:spcAft>
                <a:spcPts val="0"/>
              </a:spcAft>
            </a:pPr>
            <a:r>
              <a:rPr sz="790" b="0" i="0">
                <a:solidFill>
                  <a:srgbClr val="4A443C"/>
                </a:solidFill>
                <a:latin typeface="Calibri"/>
              </a:rPr>
              <a:t>—  unmatched cultural IP and content engine</a:t>
            </a:r>
          </a:p>
          <a:p>
            <a:pPr algn="l">
              <a:lnSpc>
                <a:spcPct val="108000"/>
              </a:lnSpc>
              <a:spcAft>
                <a:spcPts val="0"/>
              </a:spcAft>
            </a:pPr>
            <a:r>
              <a:rPr sz="790" b="0" i="0">
                <a:solidFill>
                  <a:srgbClr val="4A443C"/>
                </a:solidFill>
                <a:latin typeface="Calibri"/>
              </a:rPr>
              <a:t>—  a named craft workforce competitors lack</a:t>
            </a:r>
          </a:p>
        </p:txBody>
      </p:sp>
      <p:sp>
        <p:nvSpPr>
          <p:cNvPr id="23" name="TextBox 22"/>
          <p:cNvSpPr txBox="1"/>
          <p:nvPr/>
        </p:nvSpPr>
        <p:spPr>
          <a:xfrm>
            <a:off x="4663440" y="4041648"/>
            <a:ext cx="365760" cy="320040"/>
          </a:xfrm>
          <a:prstGeom prst="rect">
            <a:avLst/>
          </a:prstGeom>
          <a:noFill/>
        </p:spPr>
        <p:txBody>
          <a:bodyPr wrap="square" anchor="t" lIns="0" rIns="0" tIns="0" bIns="0">
            <a:spAutoFit/>
          </a:bodyPr>
          <a:lstStyle/>
          <a:p>
            <a:pPr algn="l">
              <a:lnSpc>
                <a:spcPct val="115000"/>
              </a:lnSpc>
              <a:spcAft>
                <a:spcPts val="0"/>
              </a:spcAft>
            </a:pPr>
            <a:r>
              <a:rPr sz="1500" b="0" i="0">
                <a:solidFill>
                  <a:srgbClr val="8C6248"/>
                </a:solidFill>
                <a:latin typeface="Georgia"/>
              </a:rPr>
              <a:t>W</a:t>
            </a:r>
          </a:p>
        </p:txBody>
      </p:sp>
      <p:sp>
        <p:nvSpPr>
          <p:cNvPr id="24" name="TextBox 23"/>
          <p:cNvSpPr txBox="1"/>
          <p:nvPr/>
        </p:nvSpPr>
        <p:spPr>
          <a:xfrm>
            <a:off x="5074920" y="4041648"/>
            <a:ext cx="3383280" cy="1051560"/>
          </a:xfrm>
          <a:prstGeom prst="rect">
            <a:avLst/>
          </a:prstGeom>
          <a:noFill/>
        </p:spPr>
        <p:txBody>
          <a:bodyPr wrap="square" anchor="t" lIns="0" rIns="0" tIns="0" bIns="0">
            <a:spAutoFit/>
          </a:bodyPr>
          <a:lstStyle/>
          <a:p>
            <a:pPr algn="l">
              <a:lnSpc>
                <a:spcPct val="108000"/>
              </a:lnSpc>
              <a:spcAft>
                <a:spcPts val="0"/>
              </a:spcAft>
            </a:pPr>
            <a:r>
              <a:rPr sz="790" b="0" i="0">
                <a:solidFill>
                  <a:srgbClr val="4A443C"/>
                </a:solidFill>
                <a:latin typeface="Calibri"/>
              </a:rPr>
              <a:t>—  CM2 ~11%; marketing 35% of revenue</a:t>
            </a:r>
          </a:p>
          <a:p>
            <a:pPr algn="l">
              <a:lnSpc>
                <a:spcPct val="108000"/>
              </a:lnSpc>
              <a:spcAft>
                <a:spcPts val="0"/>
              </a:spcAft>
            </a:pPr>
            <a:r>
              <a:rPr sz="790" b="0" i="0">
                <a:solidFill>
                  <a:srgbClr val="4A443C"/>
                </a:solidFill>
                <a:latin typeface="Calibri"/>
              </a:rPr>
              <a:t>—  cash ₹85 lakh vs a retail build-out</a:t>
            </a:r>
          </a:p>
          <a:p>
            <a:pPr algn="l">
              <a:lnSpc>
                <a:spcPct val="108000"/>
              </a:lnSpc>
              <a:spcAft>
                <a:spcPts val="0"/>
              </a:spcAft>
            </a:pPr>
            <a:r>
              <a:rPr sz="790" b="0" i="0">
                <a:solidFill>
                  <a:srgbClr val="4A443C"/>
                </a:solidFill>
                <a:latin typeface="Calibri"/>
              </a:rPr>
              <a:t>—  capacity capped by trained hands</a:t>
            </a:r>
          </a:p>
          <a:p>
            <a:pPr algn="l">
              <a:lnSpc>
                <a:spcPct val="108000"/>
              </a:lnSpc>
              <a:spcAft>
                <a:spcPts val="0"/>
              </a:spcAft>
            </a:pPr>
            <a:r>
              <a:rPr sz="790" b="0" i="0">
                <a:solidFill>
                  <a:srgbClr val="4A443C"/>
                </a:solidFill>
                <a:latin typeface="Calibri"/>
              </a:rPr>
              <a:t>—  100% of SKUs in the 18% GST slab</a:t>
            </a:r>
          </a:p>
        </p:txBody>
      </p:sp>
      <p:sp>
        <p:nvSpPr>
          <p:cNvPr id="25" name="TextBox 24"/>
          <p:cNvSpPr txBox="1"/>
          <p:nvPr/>
        </p:nvSpPr>
        <p:spPr>
          <a:xfrm>
            <a:off x="822960" y="5175504"/>
            <a:ext cx="365760" cy="320040"/>
          </a:xfrm>
          <a:prstGeom prst="rect">
            <a:avLst/>
          </a:prstGeom>
          <a:noFill/>
        </p:spPr>
        <p:txBody>
          <a:bodyPr wrap="square" anchor="t" lIns="0" rIns="0" tIns="0" bIns="0">
            <a:spAutoFit/>
          </a:bodyPr>
          <a:lstStyle/>
          <a:p>
            <a:pPr algn="l">
              <a:lnSpc>
                <a:spcPct val="115000"/>
              </a:lnSpc>
              <a:spcAft>
                <a:spcPts val="0"/>
              </a:spcAft>
            </a:pPr>
            <a:r>
              <a:rPr sz="1500" b="0" i="0">
                <a:solidFill>
                  <a:srgbClr val="8C6248"/>
                </a:solidFill>
                <a:latin typeface="Georgia"/>
              </a:rPr>
              <a:t>O</a:t>
            </a:r>
          </a:p>
        </p:txBody>
      </p:sp>
      <p:sp>
        <p:nvSpPr>
          <p:cNvPr id="26" name="TextBox 25"/>
          <p:cNvSpPr txBox="1"/>
          <p:nvPr/>
        </p:nvSpPr>
        <p:spPr>
          <a:xfrm>
            <a:off x="1234440" y="5175504"/>
            <a:ext cx="3383280" cy="1051560"/>
          </a:xfrm>
          <a:prstGeom prst="rect">
            <a:avLst/>
          </a:prstGeom>
          <a:noFill/>
        </p:spPr>
        <p:txBody>
          <a:bodyPr wrap="square" anchor="t" lIns="0" rIns="0" tIns="0" bIns="0">
            <a:spAutoFit/>
          </a:bodyPr>
          <a:lstStyle/>
          <a:p>
            <a:pPr algn="l">
              <a:lnSpc>
                <a:spcPct val="108000"/>
              </a:lnSpc>
              <a:spcAft>
                <a:spcPts val="0"/>
              </a:spcAft>
            </a:pPr>
            <a:r>
              <a:rPr sz="790" b="0" i="0">
                <a:solidFill>
                  <a:srgbClr val="4A443C"/>
                </a:solidFill>
                <a:latin typeface="Calibri"/>
              </a:rPr>
              <a:t>—  category +12–15%; premium band expanding</a:t>
            </a:r>
          </a:p>
          <a:p>
            <a:pPr algn="l">
              <a:lnSpc>
                <a:spcPct val="108000"/>
              </a:lnSpc>
              <a:spcAft>
                <a:spcPts val="0"/>
              </a:spcAft>
            </a:pPr>
            <a:r>
              <a:rPr sz="790" b="0" i="0">
                <a:solidFill>
                  <a:srgbClr val="4A443C"/>
                </a:solidFill>
                <a:latin typeface="Calibri"/>
              </a:rPr>
              <a:t>—  diaspora + a US store in 12–18 months</a:t>
            </a:r>
          </a:p>
          <a:p>
            <a:pPr algn="l">
              <a:lnSpc>
                <a:spcPct val="108000"/>
              </a:lnSpc>
              <a:spcAft>
                <a:spcPts val="0"/>
              </a:spcAft>
            </a:pPr>
            <a:r>
              <a:rPr sz="790" b="0" i="0">
                <a:solidFill>
                  <a:srgbClr val="4A443C"/>
                </a:solidFill>
                <a:latin typeface="Calibri"/>
              </a:rPr>
              <a:t>—  apparel and accessories lift AOV</a:t>
            </a:r>
          </a:p>
          <a:p>
            <a:pPr algn="l">
              <a:lnSpc>
                <a:spcPct val="108000"/>
              </a:lnSpc>
              <a:spcAft>
                <a:spcPts val="0"/>
              </a:spcAft>
            </a:pPr>
            <a:r>
              <a:rPr sz="790" b="0" i="0">
                <a:solidFill>
                  <a:srgbClr val="4A443C"/>
                </a:solidFill>
                <a:latin typeface="Calibri"/>
              </a:rPr>
              <a:t>—  tier-2 aspiration; experiential retail</a:t>
            </a:r>
          </a:p>
        </p:txBody>
      </p:sp>
      <p:sp>
        <p:nvSpPr>
          <p:cNvPr id="27" name="TextBox 26"/>
          <p:cNvSpPr txBox="1"/>
          <p:nvPr/>
        </p:nvSpPr>
        <p:spPr>
          <a:xfrm>
            <a:off x="4663440" y="5175504"/>
            <a:ext cx="365760" cy="320040"/>
          </a:xfrm>
          <a:prstGeom prst="rect">
            <a:avLst/>
          </a:prstGeom>
          <a:noFill/>
        </p:spPr>
        <p:txBody>
          <a:bodyPr wrap="square" anchor="t" lIns="0" rIns="0" tIns="0" bIns="0">
            <a:spAutoFit/>
          </a:bodyPr>
          <a:lstStyle/>
          <a:p>
            <a:pPr algn="l">
              <a:lnSpc>
                <a:spcPct val="115000"/>
              </a:lnSpc>
              <a:spcAft>
                <a:spcPts val="0"/>
              </a:spcAft>
            </a:pPr>
            <a:r>
              <a:rPr sz="1500" b="0" i="0">
                <a:solidFill>
                  <a:srgbClr val="8C6248"/>
                </a:solidFill>
                <a:latin typeface="Georgia"/>
              </a:rPr>
              <a:t>T</a:t>
            </a:r>
          </a:p>
        </p:txBody>
      </p:sp>
      <p:sp>
        <p:nvSpPr>
          <p:cNvPr id="28" name="TextBox 27"/>
          <p:cNvSpPr txBox="1"/>
          <p:nvPr/>
        </p:nvSpPr>
        <p:spPr>
          <a:xfrm>
            <a:off x="5074920" y="5175504"/>
            <a:ext cx="3383280" cy="1051560"/>
          </a:xfrm>
          <a:prstGeom prst="rect">
            <a:avLst/>
          </a:prstGeom>
          <a:noFill/>
        </p:spPr>
        <p:txBody>
          <a:bodyPr wrap="square" anchor="t" lIns="0" rIns="0" tIns="0" bIns="0">
            <a:spAutoFit/>
          </a:bodyPr>
          <a:lstStyle/>
          <a:p>
            <a:pPr algn="l">
              <a:lnSpc>
                <a:spcPct val="108000"/>
              </a:lnSpc>
              <a:spcAft>
                <a:spcPts val="0"/>
              </a:spcAft>
            </a:pPr>
            <a:r>
              <a:rPr sz="790" b="0" i="0">
                <a:solidFill>
                  <a:srgbClr val="4A443C"/>
                </a:solidFill>
                <a:latin typeface="Calibri"/>
              </a:rPr>
              <a:t>—  global brands out-spend and out-collab overnight</a:t>
            </a:r>
          </a:p>
          <a:p>
            <a:pPr algn="l">
              <a:lnSpc>
                <a:spcPct val="108000"/>
              </a:lnSpc>
              <a:spcAft>
                <a:spcPts val="0"/>
              </a:spcAft>
            </a:pPr>
            <a:r>
              <a:rPr sz="790" b="0" i="0">
                <a:solidFill>
                  <a:srgbClr val="4A443C"/>
                </a:solidFill>
                <a:latin typeface="Calibri"/>
              </a:rPr>
              <a:t>—  funded domestic rivals (Comet, CHK, RapidBox)</a:t>
            </a:r>
          </a:p>
          <a:p>
            <a:pPr algn="l">
              <a:lnSpc>
                <a:spcPct val="108000"/>
              </a:lnSpc>
              <a:spcAft>
                <a:spcPts val="0"/>
              </a:spcAft>
            </a:pPr>
            <a:r>
              <a:rPr sz="790" b="0" i="0">
                <a:solidFill>
                  <a:srgbClr val="4A443C"/>
                </a:solidFill>
                <a:latin typeface="Calibri"/>
              </a:rPr>
              <a:t>—  motifs are copyable; authenticity backlash</a:t>
            </a:r>
          </a:p>
          <a:p>
            <a:pPr algn="l">
              <a:lnSpc>
                <a:spcPct val="108000"/>
              </a:lnSpc>
              <a:spcAft>
                <a:spcPts val="0"/>
              </a:spcAft>
            </a:pPr>
            <a:r>
              <a:rPr sz="790" b="0" i="0">
                <a:solidFill>
                  <a:srgbClr val="4A443C"/>
                </a:solidFill>
                <a:latin typeface="Calibri"/>
              </a:rPr>
              <a:t>—  valuation far ahead of revenue</a:t>
            </a:r>
          </a:p>
        </p:txBody>
      </p:sp>
      <p:sp>
        <p:nvSpPr>
          <p:cNvPr id="29" name="Rectangle 28"/>
          <p:cNvSpPr/>
          <p:nvPr/>
        </p:nvSpPr>
        <p:spPr>
          <a:xfrm>
            <a:off x="4526280" y="4041648"/>
            <a:ext cx="10058"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544568" y="4041648"/>
            <a:ext cx="10058" cy="2267712"/>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22960" y="5138928"/>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_v3_ph-leather-brogues.jpg"/>
          <p:cNvPicPr>
            <a:picLocks noChangeAspect="1"/>
          </p:cNvPicPr>
          <p:nvPr/>
        </p:nvPicPr>
        <p:blipFill>
          <a:blip r:embed="rId2"/>
          <a:stretch>
            <a:fillRect/>
          </a:stretch>
        </p:blipFill>
        <p:spPr>
          <a:xfrm>
            <a:off x="8732520" y="1828800"/>
            <a:ext cx="2651760" cy="4297680"/>
          </a:xfrm>
          <a:prstGeom prst="rect">
            <a:avLst/>
          </a:prstGeom>
        </p:spPr>
      </p:pic>
      <p:sp>
        <p:nvSpPr>
          <p:cNvPr id="34" name="TextBox 33"/>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Hand-finished leather — the product half of the 4Ps.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STRATEGY FORMULATION</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Three growth fronts at once — and one refusal.</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09 / 15</a:t>
            </a:r>
          </a:p>
        </p:txBody>
      </p:sp>
      <p:sp>
        <p:nvSpPr>
          <p:cNvPr id="8" name="TextBox 7"/>
          <p:cNvSpPr txBox="1"/>
          <p:nvPr/>
        </p:nvSpPr>
        <p:spPr>
          <a:xfrm>
            <a:off x="822960" y="1847088"/>
            <a:ext cx="2148840" cy="274320"/>
          </a:xfrm>
          <a:prstGeom prst="rect">
            <a:avLst/>
          </a:prstGeom>
          <a:noFill/>
        </p:spPr>
        <p:txBody>
          <a:bodyPr wrap="square" anchor="t" lIns="0" rIns="0" tIns="0" bIns="0">
            <a:spAutoFit/>
          </a:bodyPr>
          <a:lstStyle/>
          <a:p>
            <a:pPr algn="l">
              <a:lnSpc>
                <a:spcPct val="115000"/>
              </a:lnSpc>
              <a:spcAft>
                <a:spcPts val="0"/>
              </a:spcAft>
            </a:pPr>
            <a:r>
              <a:rPr sz="860" b="1" i="0" spc="100">
                <a:solidFill>
                  <a:srgbClr val="221B15"/>
                </a:solidFill>
                <a:latin typeface="Calibri"/>
              </a:rPr>
              <a:t>MARKET PENETRATION</a:t>
            </a:r>
          </a:p>
        </p:txBody>
      </p:sp>
      <p:sp>
        <p:nvSpPr>
          <p:cNvPr id="9" name="TextBox 8"/>
          <p:cNvSpPr txBox="1"/>
          <p:nvPr/>
        </p:nvSpPr>
        <p:spPr>
          <a:xfrm>
            <a:off x="3017520" y="1847088"/>
            <a:ext cx="685800" cy="274320"/>
          </a:xfrm>
          <a:prstGeom prst="rect">
            <a:avLst/>
          </a:prstGeom>
          <a:noFill/>
        </p:spPr>
        <p:txBody>
          <a:bodyPr wrap="square" anchor="t" lIns="0" rIns="0" tIns="0" bIns="0">
            <a:spAutoFit/>
          </a:bodyPr>
          <a:lstStyle/>
          <a:p>
            <a:pPr algn="l">
              <a:lnSpc>
                <a:spcPct val="115000"/>
              </a:lnSpc>
              <a:spcAft>
                <a:spcPts val="0"/>
              </a:spcAft>
            </a:pPr>
            <a:r>
              <a:rPr sz="860" b="0" i="1">
                <a:solidFill>
                  <a:srgbClr val="8C6248"/>
                </a:solidFill>
                <a:latin typeface="Georgia"/>
              </a:rPr>
              <a:t>NOW</a:t>
            </a:r>
          </a:p>
        </p:txBody>
      </p:sp>
      <p:sp>
        <p:nvSpPr>
          <p:cNvPr id="10" name="TextBox 9"/>
          <p:cNvSpPr txBox="1"/>
          <p:nvPr/>
        </p:nvSpPr>
        <p:spPr>
          <a:xfrm>
            <a:off x="3749040" y="1847088"/>
            <a:ext cx="4617720" cy="411480"/>
          </a:xfrm>
          <a:prstGeom prst="rect">
            <a:avLst/>
          </a:prstGeom>
          <a:noFill/>
        </p:spPr>
        <p:txBody>
          <a:bodyPr wrap="square" anchor="t" lIns="0" rIns="0" tIns="0" bIns="0">
            <a:spAutoFit/>
          </a:bodyPr>
          <a:lstStyle/>
          <a:p>
            <a:pPr algn="l">
              <a:lnSpc>
                <a:spcPct val="110000"/>
              </a:lnSpc>
              <a:spcAft>
                <a:spcPts val="0"/>
              </a:spcAft>
            </a:pPr>
            <a:r>
              <a:rPr sz="860" b="0" i="0">
                <a:solidFill>
                  <a:srgbClr val="4A443C"/>
                </a:solidFill>
                <a:latin typeface="Calibri"/>
              </a:rPr>
              <a:t>deepen Delhi NCR; repeat buyers; accessories lift AOV</a:t>
            </a:r>
          </a:p>
        </p:txBody>
      </p:sp>
      <p:sp>
        <p:nvSpPr>
          <p:cNvPr id="11" name="Rectangle 10"/>
          <p:cNvSpPr/>
          <p:nvPr/>
        </p:nvSpPr>
        <p:spPr>
          <a:xfrm>
            <a:off x="822960" y="2267712"/>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2350008"/>
            <a:ext cx="2148840" cy="274320"/>
          </a:xfrm>
          <a:prstGeom prst="rect">
            <a:avLst/>
          </a:prstGeom>
          <a:noFill/>
        </p:spPr>
        <p:txBody>
          <a:bodyPr wrap="square" anchor="t" lIns="0" rIns="0" tIns="0" bIns="0">
            <a:spAutoFit/>
          </a:bodyPr>
          <a:lstStyle/>
          <a:p>
            <a:pPr algn="l">
              <a:lnSpc>
                <a:spcPct val="115000"/>
              </a:lnSpc>
              <a:spcAft>
                <a:spcPts val="0"/>
              </a:spcAft>
            </a:pPr>
            <a:r>
              <a:rPr sz="860" b="1" i="0" spc="100">
                <a:solidFill>
                  <a:srgbClr val="221B15"/>
                </a:solidFill>
                <a:latin typeface="Calibri"/>
              </a:rPr>
              <a:t>MARKET DEVELOPMENT</a:t>
            </a:r>
          </a:p>
        </p:txBody>
      </p:sp>
      <p:sp>
        <p:nvSpPr>
          <p:cNvPr id="13" name="TextBox 12"/>
          <p:cNvSpPr txBox="1"/>
          <p:nvPr/>
        </p:nvSpPr>
        <p:spPr>
          <a:xfrm>
            <a:off x="3017520" y="2350008"/>
            <a:ext cx="685800" cy="274320"/>
          </a:xfrm>
          <a:prstGeom prst="rect">
            <a:avLst/>
          </a:prstGeom>
          <a:noFill/>
        </p:spPr>
        <p:txBody>
          <a:bodyPr wrap="square" anchor="t" lIns="0" rIns="0" tIns="0" bIns="0">
            <a:spAutoFit/>
          </a:bodyPr>
          <a:lstStyle/>
          <a:p>
            <a:pPr algn="l">
              <a:lnSpc>
                <a:spcPct val="115000"/>
              </a:lnSpc>
              <a:spcAft>
                <a:spcPts val="0"/>
              </a:spcAft>
            </a:pPr>
            <a:r>
              <a:rPr sz="860" b="0" i="1">
                <a:solidFill>
                  <a:srgbClr val="8C6248"/>
                </a:solidFill>
                <a:latin typeface="Georgia"/>
              </a:rPr>
              <a:t>NOW</a:t>
            </a:r>
          </a:p>
        </p:txBody>
      </p:sp>
      <p:sp>
        <p:nvSpPr>
          <p:cNvPr id="14" name="TextBox 13"/>
          <p:cNvSpPr txBox="1"/>
          <p:nvPr/>
        </p:nvSpPr>
        <p:spPr>
          <a:xfrm>
            <a:off x="3749040" y="2350008"/>
            <a:ext cx="4617720" cy="411480"/>
          </a:xfrm>
          <a:prstGeom prst="rect">
            <a:avLst/>
          </a:prstGeom>
          <a:noFill/>
        </p:spPr>
        <p:txBody>
          <a:bodyPr wrap="square" anchor="t" lIns="0" rIns="0" tIns="0" bIns="0">
            <a:spAutoFit/>
          </a:bodyPr>
          <a:lstStyle/>
          <a:p>
            <a:pPr algn="l">
              <a:lnSpc>
                <a:spcPct val="110000"/>
              </a:lnSpc>
              <a:spcAft>
                <a:spcPts val="0"/>
              </a:spcAft>
            </a:pPr>
            <a:r>
              <a:rPr sz="860" b="0" i="0">
                <a:solidFill>
                  <a:srgbClr val="4A443C"/>
                </a:solidFill>
                <a:latin typeface="Calibri"/>
              </a:rPr>
              <a:t>Bengaluru, Mumbai, tier-2; exports 25%; US store in 12–18 months</a:t>
            </a:r>
          </a:p>
        </p:txBody>
      </p:sp>
      <p:sp>
        <p:nvSpPr>
          <p:cNvPr id="15" name="Rectangle 14"/>
          <p:cNvSpPr/>
          <p:nvPr/>
        </p:nvSpPr>
        <p:spPr>
          <a:xfrm>
            <a:off x="822960" y="2770632"/>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22960" y="2852928"/>
            <a:ext cx="2148840" cy="274320"/>
          </a:xfrm>
          <a:prstGeom prst="rect">
            <a:avLst/>
          </a:prstGeom>
          <a:noFill/>
        </p:spPr>
        <p:txBody>
          <a:bodyPr wrap="square" anchor="t" lIns="0" rIns="0" tIns="0" bIns="0">
            <a:spAutoFit/>
          </a:bodyPr>
          <a:lstStyle/>
          <a:p>
            <a:pPr algn="l">
              <a:lnSpc>
                <a:spcPct val="115000"/>
              </a:lnSpc>
              <a:spcAft>
                <a:spcPts val="0"/>
              </a:spcAft>
            </a:pPr>
            <a:r>
              <a:rPr sz="860" b="1" i="0" spc="100">
                <a:solidFill>
                  <a:srgbClr val="221B15"/>
                </a:solidFill>
                <a:latin typeface="Calibri"/>
              </a:rPr>
              <a:t>PRODUCT DEVELOPMENT</a:t>
            </a:r>
          </a:p>
        </p:txBody>
      </p:sp>
      <p:sp>
        <p:nvSpPr>
          <p:cNvPr id="17" name="TextBox 16"/>
          <p:cNvSpPr txBox="1"/>
          <p:nvPr/>
        </p:nvSpPr>
        <p:spPr>
          <a:xfrm>
            <a:off x="3017520" y="2852928"/>
            <a:ext cx="685800" cy="274320"/>
          </a:xfrm>
          <a:prstGeom prst="rect">
            <a:avLst/>
          </a:prstGeom>
          <a:noFill/>
        </p:spPr>
        <p:txBody>
          <a:bodyPr wrap="square" anchor="t" lIns="0" rIns="0" tIns="0" bIns="0">
            <a:spAutoFit/>
          </a:bodyPr>
          <a:lstStyle/>
          <a:p>
            <a:pPr algn="l">
              <a:lnSpc>
                <a:spcPct val="115000"/>
              </a:lnSpc>
              <a:spcAft>
                <a:spcPts val="0"/>
              </a:spcAft>
            </a:pPr>
            <a:r>
              <a:rPr sz="860" b="0" i="1">
                <a:solidFill>
                  <a:srgbClr val="8C6248"/>
                </a:solidFill>
                <a:latin typeface="Georgia"/>
              </a:rPr>
              <a:t>NOW</a:t>
            </a:r>
          </a:p>
        </p:txBody>
      </p:sp>
      <p:sp>
        <p:nvSpPr>
          <p:cNvPr id="18" name="TextBox 17"/>
          <p:cNvSpPr txBox="1"/>
          <p:nvPr/>
        </p:nvSpPr>
        <p:spPr>
          <a:xfrm>
            <a:off x="3749040" y="2852928"/>
            <a:ext cx="4617720" cy="411480"/>
          </a:xfrm>
          <a:prstGeom prst="rect">
            <a:avLst/>
          </a:prstGeom>
          <a:noFill/>
        </p:spPr>
        <p:txBody>
          <a:bodyPr wrap="square" anchor="t" lIns="0" rIns="0" tIns="0" bIns="0">
            <a:spAutoFit/>
          </a:bodyPr>
          <a:lstStyle/>
          <a:p>
            <a:pPr algn="l">
              <a:lnSpc>
                <a:spcPct val="110000"/>
              </a:lnSpc>
              <a:spcAft>
                <a:spcPts val="0"/>
              </a:spcAft>
            </a:pPr>
            <a:r>
              <a:rPr sz="860" b="0" i="0">
                <a:solidFill>
                  <a:srgbClr val="4A443C"/>
                </a:solidFill>
                <a:latin typeface="Calibri"/>
              </a:rPr>
              <a:t>002/003/004, apparel, jerseys, slides, collabs</a:t>
            </a:r>
          </a:p>
        </p:txBody>
      </p:sp>
      <p:sp>
        <p:nvSpPr>
          <p:cNvPr id="19" name="Rectangle 18"/>
          <p:cNvSpPr/>
          <p:nvPr/>
        </p:nvSpPr>
        <p:spPr>
          <a:xfrm>
            <a:off x="822960" y="3273552"/>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960" y="3355848"/>
            <a:ext cx="2148840" cy="274320"/>
          </a:xfrm>
          <a:prstGeom prst="rect">
            <a:avLst/>
          </a:prstGeom>
          <a:noFill/>
        </p:spPr>
        <p:txBody>
          <a:bodyPr wrap="square" anchor="t" lIns="0" rIns="0" tIns="0" bIns="0">
            <a:spAutoFit/>
          </a:bodyPr>
          <a:lstStyle/>
          <a:p>
            <a:pPr algn="l">
              <a:lnSpc>
                <a:spcPct val="115000"/>
              </a:lnSpc>
              <a:spcAft>
                <a:spcPts val="0"/>
              </a:spcAft>
            </a:pPr>
            <a:r>
              <a:rPr sz="860" b="1" i="0" spc="100">
                <a:solidFill>
                  <a:srgbClr val="221B15"/>
                </a:solidFill>
                <a:latin typeface="Calibri"/>
              </a:rPr>
              <a:t>DIVERSIFICATION</a:t>
            </a:r>
          </a:p>
        </p:txBody>
      </p:sp>
      <p:sp>
        <p:nvSpPr>
          <p:cNvPr id="21" name="TextBox 20"/>
          <p:cNvSpPr txBox="1"/>
          <p:nvPr/>
        </p:nvSpPr>
        <p:spPr>
          <a:xfrm>
            <a:off x="3017520" y="3355848"/>
            <a:ext cx="685800" cy="274320"/>
          </a:xfrm>
          <a:prstGeom prst="rect">
            <a:avLst/>
          </a:prstGeom>
          <a:noFill/>
        </p:spPr>
        <p:txBody>
          <a:bodyPr wrap="square" anchor="t" lIns="0" rIns="0" tIns="0" bIns="0">
            <a:spAutoFit/>
          </a:bodyPr>
          <a:lstStyle/>
          <a:p>
            <a:pPr algn="l">
              <a:lnSpc>
                <a:spcPct val="115000"/>
              </a:lnSpc>
              <a:spcAft>
                <a:spcPts val="0"/>
              </a:spcAft>
            </a:pPr>
            <a:r>
              <a:rPr sz="860" b="0" i="1">
                <a:solidFill>
                  <a:srgbClr val="8A8177"/>
                </a:solidFill>
                <a:latin typeface="Georgia"/>
              </a:rPr>
              <a:t>LATER</a:t>
            </a:r>
          </a:p>
        </p:txBody>
      </p:sp>
      <p:sp>
        <p:nvSpPr>
          <p:cNvPr id="22" name="TextBox 21"/>
          <p:cNvSpPr txBox="1"/>
          <p:nvPr/>
        </p:nvSpPr>
        <p:spPr>
          <a:xfrm>
            <a:off x="3749040" y="3355848"/>
            <a:ext cx="4617720" cy="411480"/>
          </a:xfrm>
          <a:prstGeom prst="rect">
            <a:avLst/>
          </a:prstGeom>
          <a:noFill/>
        </p:spPr>
        <p:txBody>
          <a:bodyPr wrap="square" anchor="t" lIns="0" rIns="0" tIns="0" bIns="0">
            <a:spAutoFit/>
          </a:bodyPr>
          <a:lstStyle/>
          <a:p>
            <a:pPr algn="l">
              <a:lnSpc>
                <a:spcPct val="110000"/>
              </a:lnSpc>
              <a:spcAft>
                <a:spcPts val="0"/>
              </a:spcAft>
            </a:pPr>
            <a:r>
              <a:rPr sz="860" b="0" i="0">
                <a:solidFill>
                  <a:srgbClr val="4A443C"/>
                </a:solidFill>
                <a:latin typeface="Calibri"/>
              </a:rPr>
              <a:t>experience retail and community programming; nothing unrelated</a:t>
            </a:r>
          </a:p>
        </p:txBody>
      </p:sp>
      <p:sp>
        <p:nvSpPr>
          <p:cNvPr id="23" name="Rectangle 22"/>
          <p:cNvSpPr/>
          <p:nvPr/>
        </p:nvSpPr>
        <p:spPr>
          <a:xfrm>
            <a:off x="822960" y="3776472"/>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22960" y="3858768"/>
            <a:ext cx="2148840" cy="274320"/>
          </a:xfrm>
          <a:prstGeom prst="rect">
            <a:avLst/>
          </a:prstGeom>
          <a:noFill/>
        </p:spPr>
        <p:txBody>
          <a:bodyPr wrap="square" anchor="t" lIns="0" rIns="0" tIns="0" bIns="0">
            <a:spAutoFit/>
          </a:bodyPr>
          <a:lstStyle/>
          <a:p>
            <a:pPr algn="l">
              <a:lnSpc>
                <a:spcPct val="115000"/>
              </a:lnSpc>
              <a:spcAft>
                <a:spcPts val="0"/>
              </a:spcAft>
            </a:pPr>
            <a:r>
              <a:rPr sz="860" b="1" i="0" spc="100">
                <a:solidFill>
                  <a:srgbClr val="221B15"/>
                </a:solidFill>
                <a:latin typeface="Calibri"/>
              </a:rPr>
              <a:t>RETRENCHMENT</a:t>
            </a:r>
          </a:p>
        </p:txBody>
      </p:sp>
      <p:sp>
        <p:nvSpPr>
          <p:cNvPr id="25" name="TextBox 24"/>
          <p:cNvSpPr txBox="1"/>
          <p:nvPr/>
        </p:nvSpPr>
        <p:spPr>
          <a:xfrm>
            <a:off x="3017520" y="3858768"/>
            <a:ext cx="685800" cy="274320"/>
          </a:xfrm>
          <a:prstGeom prst="rect">
            <a:avLst/>
          </a:prstGeom>
          <a:noFill/>
        </p:spPr>
        <p:txBody>
          <a:bodyPr wrap="square" anchor="t" lIns="0" rIns="0" tIns="0" bIns="0">
            <a:spAutoFit/>
          </a:bodyPr>
          <a:lstStyle/>
          <a:p>
            <a:pPr algn="l">
              <a:lnSpc>
                <a:spcPct val="115000"/>
              </a:lnSpc>
              <a:spcAft>
                <a:spcPts val="0"/>
              </a:spcAft>
            </a:pPr>
            <a:r>
              <a:rPr sz="860" b="0" i="1">
                <a:solidFill>
                  <a:srgbClr val="A0523C"/>
                </a:solidFill>
                <a:latin typeface="Georgia"/>
              </a:rPr>
              <a:t>NEVER</a:t>
            </a:r>
          </a:p>
        </p:txBody>
      </p:sp>
      <p:sp>
        <p:nvSpPr>
          <p:cNvPr id="26" name="TextBox 25"/>
          <p:cNvSpPr txBox="1"/>
          <p:nvPr/>
        </p:nvSpPr>
        <p:spPr>
          <a:xfrm>
            <a:off x="3749040" y="3858768"/>
            <a:ext cx="4617720" cy="411480"/>
          </a:xfrm>
          <a:prstGeom prst="rect">
            <a:avLst/>
          </a:prstGeom>
          <a:noFill/>
        </p:spPr>
        <p:txBody>
          <a:bodyPr wrap="square" anchor="t" lIns="0" rIns="0" tIns="0" bIns="0">
            <a:spAutoFit/>
          </a:bodyPr>
          <a:lstStyle/>
          <a:p>
            <a:pPr algn="l">
              <a:lnSpc>
                <a:spcPct val="110000"/>
              </a:lnSpc>
              <a:spcAft>
                <a:spcPts val="0"/>
              </a:spcAft>
            </a:pPr>
            <a:r>
              <a:rPr sz="860" b="0" i="0">
                <a:solidFill>
                  <a:srgbClr val="4A443C"/>
                </a:solidFill>
                <a:latin typeface="Calibri"/>
              </a:rPr>
              <a:t>no discounting, no marketplace volume, no contract manufacturing</a:t>
            </a:r>
          </a:p>
        </p:txBody>
      </p:sp>
      <p:sp>
        <p:nvSpPr>
          <p:cNvPr id="27" name="Rectangle 26"/>
          <p:cNvSpPr/>
          <p:nvPr/>
        </p:nvSpPr>
        <p:spPr>
          <a:xfrm>
            <a:off x="822960" y="4279392"/>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22960" y="4480560"/>
            <a:ext cx="7543800" cy="640080"/>
          </a:xfrm>
          <a:prstGeom prst="rect">
            <a:avLst/>
          </a:prstGeom>
          <a:noFill/>
        </p:spPr>
        <p:txBody>
          <a:bodyPr wrap="square" anchor="t" lIns="0" rIns="0" tIns="0" bIns="0">
            <a:spAutoFit/>
          </a:bodyPr>
          <a:lstStyle/>
          <a:p>
            <a:pPr algn="l">
              <a:lnSpc>
                <a:spcPct val="122000"/>
              </a:lnSpc>
              <a:spcAft>
                <a:spcPts val="0"/>
              </a:spcAft>
            </a:pPr>
            <a:r>
              <a:rPr sz="1000" b="0" i="1">
                <a:solidFill>
                  <a:srgbClr val="8C6248"/>
                </a:solidFill>
                <a:latin typeface="Georgia"/>
              </a:rPr>
              <a:t>“They would rather stay small than cheap.” Read that row out loud: retrenchment refused as policy is the clearest statement of what this brand is.</a:t>
            </a:r>
          </a:p>
        </p:txBody>
      </p:sp>
      <p:sp>
        <p:nvSpPr>
          <p:cNvPr id="29" name="TextBox 28"/>
          <p:cNvSpPr txBox="1"/>
          <p:nvPr/>
        </p:nvSpPr>
        <p:spPr>
          <a:xfrm>
            <a:off x="822960" y="5257800"/>
            <a:ext cx="7543800" cy="228600"/>
          </a:xfrm>
          <a:prstGeom prst="rect">
            <a:avLst/>
          </a:prstGeom>
          <a:noFill/>
        </p:spPr>
        <p:txBody>
          <a:bodyPr wrap="square" anchor="t" lIns="0" rIns="0" tIns="0" bIns="0">
            <a:spAutoFit/>
          </a:bodyPr>
          <a:lstStyle/>
          <a:p>
            <a:pPr algn="l">
              <a:lnSpc>
                <a:spcPct val="115000"/>
              </a:lnSpc>
              <a:spcAft>
                <a:spcPts val="0"/>
              </a:spcAft>
            </a:pPr>
            <a:r>
              <a:rPr sz="840" b="1" i="0" spc="100">
                <a:solidFill>
                  <a:srgbClr val="221B15"/>
                </a:solidFill>
                <a:latin typeface="Calibri"/>
              </a:rPr>
              <a:t>CORPORATE — where  </a:t>
            </a:r>
            <a:r>
              <a:rPr sz="819" b="0" i="0">
                <a:solidFill>
                  <a:srgbClr val="8A8177"/>
                </a:solidFill>
                <a:latin typeface="Calibri"/>
              </a:rPr>
              <a:t>culture-led premium footwear + apparel; vertically integrated; equity-financed</a:t>
            </a:r>
          </a:p>
        </p:txBody>
      </p:sp>
      <p:sp>
        <p:nvSpPr>
          <p:cNvPr id="30" name="TextBox 29"/>
          <p:cNvSpPr txBox="1"/>
          <p:nvPr/>
        </p:nvSpPr>
        <p:spPr>
          <a:xfrm>
            <a:off x="822960" y="5513832"/>
            <a:ext cx="7543800" cy="228600"/>
          </a:xfrm>
          <a:prstGeom prst="rect">
            <a:avLst/>
          </a:prstGeom>
          <a:noFill/>
        </p:spPr>
        <p:txBody>
          <a:bodyPr wrap="square" anchor="t" lIns="0" rIns="0" tIns="0" bIns="0">
            <a:spAutoFit/>
          </a:bodyPr>
          <a:lstStyle/>
          <a:p>
            <a:pPr algn="l">
              <a:lnSpc>
                <a:spcPct val="115000"/>
              </a:lnSpc>
              <a:spcAft>
                <a:spcPts val="0"/>
              </a:spcAft>
            </a:pPr>
            <a:r>
              <a:rPr sz="840" b="1" i="0" spc="100">
                <a:solidFill>
                  <a:srgbClr val="221B15"/>
                </a:solidFill>
                <a:latin typeface="Calibri"/>
              </a:rPr>
              <a:t>BUSINESS — how  </a:t>
            </a:r>
            <a:r>
              <a:rPr sz="819" b="0" i="0">
                <a:solidFill>
                  <a:srgbClr val="8A8177"/>
                </a:solidFill>
                <a:latin typeface="Calibri"/>
              </a:rPr>
              <a:t>focused differentiation in the ₹4–15k niche; never cost leadership</a:t>
            </a:r>
          </a:p>
        </p:txBody>
      </p:sp>
      <p:sp>
        <p:nvSpPr>
          <p:cNvPr id="31" name="TextBox 30"/>
          <p:cNvSpPr txBox="1"/>
          <p:nvPr/>
        </p:nvSpPr>
        <p:spPr>
          <a:xfrm>
            <a:off x="822960" y="5769864"/>
            <a:ext cx="7543800" cy="228600"/>
          </a:xfrm>
          <a:prstGeom prst="rect">
            <a:avLst/>
          </a:prstGeom>
          <a:noFill/>
        </p:spPr>
        <p:txBody>
          <a:bodyPr wrap="square" anchor="t" lIns="0" rIns="0" tIns="0" bIns="0">
            <a:spAutoFit/>
          </a:bodyPr>
          <a:lstStyle/>
          <a:p>
            <a:pPr algn="l">
              <a:lnSpc>
                <a:spcPct val="115000"/>
              </a:lnSpc>
              <a:spcAft>
                <a:spcPts val="0"/>
              </a:spcAft>
            </a:pPr>
            <a:r>
              <a:rPr sz="840" b="1" i="0" spc="100">
                <a:solidFill>
                  <a:srgbClr val="221B15"/>
                </a:solidFill>
                <a:latin typeface="Calibri"/>
              </a:rPr>
              <a:t>FUNCTIONAL — who  </a:t>
            </a:r>
            <a:r>
              <a:rPr sz="819" b="0" i="0">
                <a:solidFill>
                  <a:srgbClr val="8A8177"/>
                </a:solidFill>
                <a:latin typeface="Calibri"/>
              </a:rPr>
              <a:t>60-day drops · karigar capacity · community marketing · membership retail</a:t>
            </a:r>
          </a:p>
        </p:txBody>
      </p:sp>
      <p:sp>
        <p:nvSpPr>
          <p:cNvPr id="32" name="TextBox 31"/>
          <p:cNvSpPr txBox="1"/>
          <p:nvPr/>
        </p:nvSpPr>
        <p:spPr>
          <a:xfrm>
            <a:off x="822960" y="6053328"/>
            <a:ext cx="7543800" cy="274320"/>
          </a:xfrm>
          <a:prstGeom prst="rect">
            <a:avLst/>
          </a:prstGeom>
          <a:noFill/>
        </p:spPr>
        <p:txBody>
          <a:bodyPr wrap="square" anchor="t" lIns="0" rIns="0" tIns="0" bIns="0">
            <a:spAutoFit/>
          </a:bodyPr>
          <a:lstStyle/>
          <a:p>
            <a:pPr algn="l">
              <a:lnSpc>
                <a:spcPct val="115000"/>
              </a:lnSpc>
              <a:spcAft>
                <a:spcPts val="0"/>
              </a:spcAft>
            </a:pPr>
            <a:r>
              <a:rPr sz="860" b="0" i="0">
                <a:solidFill>
                  <a:srgbClr val="8A8177"/>
                </a:solidFill>
                <a:latin typeface="Calibri"/>
              </a:rPr>
              <a:t>The tension: three growth vectors on ₹85 lakh of cash and a workforce that must be trained, not hired.</a:t>
            </a:r>
          </a:p>
        </p:txBody>
      </p:sp>
      <p:sp>
        <p:nvSpPr>
          <p:cNvPr id="33" name="Rectangle 32"/>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_v3_ph-street-energy.jpg"/>
          <p:cNvPicPr>
            <a:picLocks noChangeAspect="1"/>
          </p:cNvPicPr>
          <p:nvPr/>
        </p:nvPicPr>
        <p:blipFill>
          <a:blip r:embed="rId2"/>
          <a:stretch>
            <a:fillRect/>
          </a:stretch>
        </p:blipFill>
        <p:spPr>
          <a:xfrm>
            <a:off x="8732520" y="1828800"/>
            <a:ext cx="2651760" cy="4297680"/>
          </a:xfrm>
          <a:prstGeom prst="rect">
            <a:avLst/>
          </a:prstGeom>
        </p:spPr>
      </p:pic>
      <p:sp>
        <p:nvSpPr>
          <p:cNvPr id="35" name="TextBox 34"/>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Growth fronts: the street is the market, the market is the street.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PORTFOLIO TOOLS</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One star, two question marks, and a dog to refuse.</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10 / 15</a:t>
            </a:r>
          </a:p>
        </p:txBody>
      </p:sp>
      <p:sp>
        <p:nvSpPr>
          <p:cNvPr id="8" name="Rectangle 7"/>
          <p:cNvSpPr/>
          <p:nvPr/>
        </p:nvSpPr>
        <p:spPr>
          <a:xfrm>
            <a:off x="822960" y="1874519"/>
            <a:ext cx="2377440" cy="2377440"/>
          </a:xfrm>
          <a:prstGeom prst="rect">
            <a:avLst/>
          </a:prstGeom>
          <a:noFill/>
          <a:ln w="12700">
            <a:solidFill>
              <a:srgbClr val="CFC5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2011680" y="1874519"/>
            <a:ext cx="10058" cy="2377440"/>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22960" y="3063239"/>
            <a:ext cx="237744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20239"/>
            <a:ext cx="1097280" cy="182880"/>
          </a:xfrm>
          <a:prstGeom prst="rect">
            <a:avLst/>
          </a:prstGeom>
          <a:noFill/>
        </p:spPr>
        <p:txBody>
          <a:bodyPr wrap="square" anchor="t" lIns="0" rIns="0" tIns="0" bIns="0">
            <a:spAutoFit/>
          </a:bodyPr>
          <a:lstStyle/>
          <a:p>
            <a:pPr algn="l">
              <a:lnSpc>
                <a:spcPct val="115000"/>
              </a:lnSpc>
              <a:spcAft>
                <a:spcPts val="0"/>
              </a:spcAft>
            </a:pPr>
            <a:r>
              <a:rPr sz="680" b="0" i="0" spc="80">
                <a:solidFill>
                  <a:srgbClr val="8A8177"/>
                </a:solidFill>
                <a:latin typeface="Calibri"/>
              </a:rPr>
              <a:t>QUESTION MARKS</a:t>
            </a:r>
          </a:p>
        </p:txBody>
      </p:sp>
      <p:sp>
        <p:nvSpPr>
          <p:cNvPr id="12" name="TextBox 11"/>
          <p:cNvSpPr txBox="1"/>
          <p:nvPr/>
        </p:nvSpPr>
        <p:spPr>
          <a:xfrm>
            <a:off x="2066544" y="1920239"/>
            <a:ext cx="914400" cy="182880"/>
          </a:xfrm>
          <a:prstGeom prst="rect">
            <a:avLst/>
          </a:prstGeom>
          <a:noFill/>
        </p:spPr>
        <p:txBody>
          <a:bodyPr wrap="square" anchor="t" lIns="0" rIns="0" tIns="0" bIns="0">
            <a:spAutoFit/>
          </a:bodyPr>
          <a:lstStyle/>
          <a:p>
            <a:pPr algn="l">
              <a:lnSpc>
                <a:spcPct val="115000"/>
              </a:lnSpc>
              <a:spcAft>
                <a:spcPts val="0"/>
              </a:spcAft>
            </a:pPr>
            <a:r>
              <a:rPr sz="680" b="0" i="0" spc="80">
                <a:solidFill>
                  <a:srgbClr val="8C6248"/>
                </a:solidFill>
                <a:latin typeface="Calibri"/>
              </a:rPr>
              <a:t>STARS</a:t>
            </a:r>
          </a:p>
        </p:txBody>
      </p:sp>
      <p:sp>
        <p:nvSpPr>
          <p:cNvPr id="13" name="TextBox 12"/>
          <p:cNvSpPr txBox="1"/>
          <p:nvPr/>
        </p:nvSpPr>
        <p:spPr>
          <a:xfrm>
            <a:off x="877824" y="3108959"/>
            <a:ext cx="731520" cy="182880"/>
          </a:xfrm>
          <a:prstGeom prst="rect">
            <a:avLst/>
          </a:prstGeom>
          <a:noFill/>
        </p:spPr>
        <p:txBody>
          <a:bodyPr wrap="square" anchor="t" lIns="0" rIns="0" tIns="0" bIns="0">
            <a:spAutoFit/>
          </a:bodyPr>
          <a:lstStyle/>
          <a:p>
            <a:pPr algn="l">
              <a:lnSpc>
                <a:spcPct val="115000"/>
              </a:lnSpc>
              <a:spcAft>
                <a:spcPts val="0"/>
              </a:spcAft>
            </a:pPr>
            <a:r>
              <a:rPr sz="680" b="0" i="0" spc="80">
                <a:solidFill>
                  <a:srgbClr val="8A8177"/>
                </a:solidFill>
                <a:latin typeface="Calibri"/>
              </a:rPr>
              <a:t>DOGS</a:t>
            </a:r>
          </a:p>
        </p:txBody>
      </p:sp>
      <p:sp>
        <p:nvSpPr>
          <p:cNvPr id="14" name="TextBox 13"/>
          <p:cNvSpPr txBox="1"/>
          <p:nvPr/>
        </p:nvSpPr>
        <p:spPr>
          <a:xfrm>
            <a:off x="2066544" y="3108959"/>
            <a:ext cx="1097280" cy="182880"/>
          </a:xfrm>
          <a:prstGeom prst="rect">
            <a:avLst/>
          </a:prstGeom>
          <a:noFill/>
        </p:spPr>
        <p:txBody>
          <a:bodyPr wrap="square" anchor="t" lIns="0" rIns="0" tIns="0" bIns="0">
            <a:spAutoFit/>
          </a:bodyPr>
          <a:lstStyle/>
          <a:p>
            <a:pPr algn="l">
              <a:lnSpc>
                <a:spcPct val="115000"/>
              </a:lnSpc>
              <a:spcAft>
                <a:spcPts val="0"/>
              </a:spcAft>
            </a:pPr>
            <a:r>
              <a:rPr sz="680" b="0" i="0" spc="80">
                <a:solidFill>
                  <a:srgbClr val="8A8177"/>
                </a:solidFill>
                <a:latin typeface="Calibri"/>
              </a:rPr>
              <a:t>CASH COWS</a:t>
            </a:r>
          </a:p>
        </p:txBody>
      </p:sp>
      <p:sp>
        <p:nvSpPr>
          <p:cNvPr id="15" name="Oval 14"/>
          <p:cNvSpPr/>
          <p:nvPr/>
        </p:nvSpPr>
        <p:spPr>
          <a:xfrm>
            <a:off x="2651760" y="2240279"/>
            <a:ext cx="411480" cy="411480"/>
          </a:xfrm>
          <a:prstGeom prst="ellipse">
            <a:avLst/>
          </a:prstGeom>
          <a:noFill/>
          <a:ln w="1524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331720" y="2660903"/>
            <a:ext cx="1051560" cy="320040"/>
          </a:xfrm>
          <a:prstGeom prst="rect">
            <a:avLst/>
          </a:prstGeom>
          <a:noFill/>
        </p:spPr>
        <p:txBody>
          <a:bodyPr wrap="square" anchor="t" lIns="0" rIns="0" tIns="0" bIns="0">
            <a:spAutoFit/>
          </a:bodyPr>
          <a:lstStyle/>
          <a:p>
            <a:pPr algn="ctr">
              <a:lnSpc>
                <a:spcPct val="95000"/>
              </a:lnSpc>
              <a:spcAft>
                <a:spcPts val="0"/>
              </a:spcAft>
            </a:pPr>
            <a:r>
              <a:rPr sz="680" b="0" i="0">
                <a:solidFill>
                  <a:srgbClr val="4A443C"/>
                </a:solidFill>
                <a:latin typeface="Calibri"/>
              </a:rPr>
              <a:t>GL 001</a:t>
            </a:r>
          </a:p>
        </p:txBody>
      </p:sp>
      <p:sp>
        <p:nvSpPr>
          <p:cNvPr id="17" name="Oval 16"/>
          <p:cNvSpPr/>
          <p:nvPr/>
        </p:nvSpPr>
        <p:spPr>
          <a:xfrm>
            <a:off x="1188720" y="2286000"/>
            <a:ext cx="310896" cy="310896"/>
          </a:xfrm>
          <a:prstGeom prst="ellipse">
            <a:avLst/>
          </a:prstGeom>
          <a:noFill/>
          <a:ln w="1524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2606039"/>
            <a:ext cx="950976" cy="320040"/>
          </a:xfrm>
          <a:prstGeom prst="rect">
            <a:avLst/>
          </a:prstGeom>
          <a:noFill/>
        </p:spPr>
        <p:txBody>
          <a:bodyPr wrap="square" anchor="t" lIns="0" rIns="0" tIns="0" bIns="0">
            <a:spAutoFit/>
          </a:bodyPr>
          <a:lstStyle/>
          <a:p>
            <a:pPr algn="ctr">
              <a:lnSpc>
                <a:spcPct val="95000"/>
              </a:lnSpc>
              <a:spcAft>
                <a:spcPts val="0"/>
              </a:spcAft>
            </a:pPr>
            <a:r>
              <a:rPr sz="680" b="0" i="0">
                <a:solidFill>
                  <a:srgbClr val="4A443C"/>
                </a:solidFill>
                <a:latin typeface="Calibri"/>
              </a:rPr>
              <a:t>collabs ·
US/diaspora</a:t>
            </a:r>
          </a:p>
        </p:txBody>
      </p:sp>
      <p:sp>
        <p:nvSpPr>
          <p:cNvPr id="19" name="Oval 18"/>
          <p:cNvSpPr/>
          <p:nvPr/>
        </p:nvSpPr>
        <p:spPr>
          <a:xfrm>
            <a:off x="1234440" y="3383279"/>
            <a:ext cx="274320" cy="274320"/>
          </a:xfrm>
          <a:prstGeom prst="ellipse">
            <a:avLst/>
          </a:prstGeom>
          <a:noFill/>
          <a:ln w="1524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14400" y="3666744"/>
            <a:ext cx="914400" cy="320040"/>
          </a:xfrm>
          <a:prstGeom prst="rect">
            <a:avLst/>
          </a:prstGeom>
          <a:noFill/>
        </p:spPr>
        <p:txBody>
          <a:bodyPr wrap="square" anchor="t" lIns="0" rIns="0" tIns="0" bIns="0">
            <a:spAutoFit/>
          </a:bodyPr>
          <a:lstStyle/>
          <a:p>
            <a:pPr algn="ctr">
              <a:lnSpc>
                <a:spcPct val="95000"/>
              </a:lnSpc>
              <a:spcAft>
                <a:spcPts val="0"/>
              </a:spcAft>
            </a:pPr>
            <a:r>
              <a:rPr sz="680" b="0" i="0">
                <a:solidFill>
                  <a:srgbClr val="4A443C"/>
                </a:solidFill>
                <a:latin typeface="Calibri"/>
              </a:rPr>
              <a:t>apparel</a:t>
            </a:r>
          </a:p>
        </p:txBody>
      </p:sp>
      <p:sp>
        <p:nvSpPr>
          <p:cNvPr id="21" name="Oval 20"/>
          <p:cNvSpPr/>
          <p:nvPr/>
        </p:nvSpPr>
        <p:spPr>
          <a:xfrm>
            <a:off x="1005840" y="3886200"/>
            <a:ext cx="219456" cy="219456"/>
          </a:xfrm>
          <a:prstGeom prst="ellipse">
            <a:avLst/>
          </a:prstGeom>
          <a:noFill/>
          <a:ln w="1524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85800" y="4114800"/>
            <a:ext cx="859536" cy="320040"/>
          </a:xfrm>
          <a:prstGeom prst="rect">
            <a:avLst/>
          </a:prstGeom>
          <a:noFill/>
        </p:spPr>
        <p:txBody>
          <a:bodyPr wrap="square" anchor="t" lIns="0" rIns="0" tIns="0" bIns="0">
            <a:spAutoFit/>
          </a:bodyPr>
          <a:lstStyle/>
          <a:p>
            <a:pPr algn="ctr">
              <a:lnSpc>
                <a:spcPct val="95000"/>
              </a:lnSpc>
              <a:spcAft>
                <a:spcPts val="0"/>
              </a:spcAft>
            </a:pPr>
            <a:r>
              <a:rPr sz="680" b="0" i="0">
                <a:solidFill>
                  <a:srgbClr val="4A443C"/>
                </a:solidFill>
                <a:latin typeface="Calibri"/>
              </a:rPr>
              <a:t>discount
volume</a:t>
            </a:r>
          </a:p>
        </p:txBody>
      </p:sp>
      <p:sp>
        <p:nvSpPr>
          <p:cNvPr id="23" name="TextBox 22"/>
          <p:cNvSpPr txBox="1"/>
          <p:nvPr/>
        </p:nvSpPr>
        <p:spPr>
          <a:xfrm>
            <a:off x="822960" y="4306824"/>
            <a:ext cx="2377440" cy="182880"/>
          </a:xfrm>
          <a:prstGeom prst="rect">
            <a:avLst/>
          </a:prstGeom>
          <a:noFill/>
        </p:spPr>
        <p:txBody>
          <a:bodyPr wrap="square" anchor="t" lIns="0" rIns="0" tIns="0" bIns="0">
            <a:spAutoFit/>
          </a:bodyPr>
          <a:lstStyle/>
          <a:p>
            <a:pPr algn="l">
              <a:lnSpc>
                <a:spcPct val="115000"/>
              </a:lnSpc>
              <a:spcAft>
                <a:spcPts val="0"/>
              </a:spcAft>
            </a:pPr>
            <a:r>
              <a:rPr sz="720" b="0" i="0" spc="100">
                <a:solidFill>
                  <a:srgbClr val="8A8177"/>
                </a:solidFill>
                <a:latin typeface="Calibri"/>
              </a:rPr>
              <a:t>BCG — GROWTH ↑ · SHARE →</a:t>
            </a:r>
          </a:p>
        </p:txBody>
      </p:sp>
      <p:sp>
        <p:nvSpPr>
          <p:cNvPr id="24" name="Rectangle 23"/>
          <p:cNvSpPr/>
          <p:nvPr/>
        </p:nvSpPr>
        <p:spPr>
          <a:xfrm>
            <a:off x="3566160" y="1874519"/>
            <a:ext cx="2377440" cy="2377440"/>
          </a:xfrm>
          <a:prstGeom prst="rect">
            <a:avLst/>
          </a:prstGeom>
          <a:noFill/>
          <a:ln w="12700">
            <a:solidFill>
              <a:srgbClr val="CFC5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358640" y="1874519"/>
            <a:ext cx="10058" cy="2377440"/>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3566160" y="2667000"/>
            <a:ext cx="237744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151120" y="1874519"/>
            <a:ext cx="10058" cy="2377440"/>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566160" y="3459480"/>
            <a:ext cx="237744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611879" y="1911095"/>
            <a:ext cx="1097280" cy="182880"/>
          </a:xfrm>
          <a:prstGeom prst="rect">
            <a:avLst/>
          </a:prstGeom>
          <a:noFill/>
        </p:spPr>
        <p:txBody>
          <a:bodyPr wrap="square" anchor="t" lIns="0" rIns="0" tIns="0" bIns="0">
            <a:spAutoFit/>
          </a:bodyPr>
          <a:lstStyle/>
          <a:p>
            <a:pPr algn="l">
              <a:lnSpc>
                <a:spcPct val="115000"/>
              </a:lnSpc>
              <a:spcAft>
                <a:spcPts val="0"/>
              </a:spcAft>
            </a:pPr>
            <a:r>
              <a:rPr sz="680" b="0" i="0" spc="80">
                <a:solidFill>
                  <a:srgbClr val="8C6248"/>
                </a:solidFill>
                <a:latin typeface="Calibri"/>
              </a:rPr>
              <a:t>INVEST / GROW</a:t>
            </a:r>
          </a:p>
        </p:txBody>
      </p:sp>
      <p:sp>
        <p:nvSpPr>
          <p:cNvPr id="30" name="TextBox 29"/>
          <p:cNvSpPr txBox="1"/>
          <p:nvPr/>
        </p:nvSpPr>
        <p:spPr>
          <a:xfrm>
            <a:off x="4663440" y="4069080"/>
            <a:ext cx="1234440" cy="182880"/>
          </a:xfrm>
          <a:prstGeom prst="rect">
            <a:avLst/>
          </a:prstGeom>
          <a:noFill/>
        </p:spPr>
        <p:txBody>
          <a:bodyPr wrap="square" anchor="t" lIns="0" rIns="0" tIns="0" bIns="0">
            <a:spAutoFit/>
          </a:bodyPr>
          <a:lstStyle/>
          <a:p>
            <a:pPr algn="r">
              <a:lnSpc>
                <a:spcPct val="115000"/>
              </a:lnSpc>
              <a:spcAft>
                <a:spcPts val="0"/>
              </a:spcAft>
            </a:pPr>
            <a:r>
              <a:rPr sz="680" b="0" i="0" spc="80">
                <a:solidFill>
                  <a:srgbClr val="8A8177"/>
                </a:solidFill>
                <a:latin typeface="Calibri"/>
              </a:rPr>
              <a:t>HARVEST / EXIT</a:t>
            </a:r>
          </a:p>
        </p:txBody>
      </p:sp>
      <p:sp>
        <p:nvSpPr>
          <p:cNvPr id="31" name="Oval 30"/>
          <p:cNvSpPr/>
          <p:nvPr/>
        </p:nvSpPr>
        <p:spPr>
          <a:xfrm>
            <a:off x="5355336" y="2078736"/>
            <a:ext cx="384048" cy="384048"/>
          </a:xfrm>
          <a:prstGeom prst="ellipse">
            <a:avLst/>
          </a:prstGeom>
          <a:noFill/>
          <a:ln w="1524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035296" y="2471928"/>
            <a:ext cx="1024127" cy="320040"/>
          </a:xfrm>
          <a:prstGeom prst="rect">
            <a:avLst/>
          </a:prstGeom>
          <a:noFill/>
        </p:spPr>
        <p:txBody>
          <a:bodyPr wrap="square" anchor="t" lIns="0" rIns="0" tIns="0" bIns="0">
            <a:spAutoFit/>
          </a:bodyPr>
          <a:lstStyle/>
          <a:p>
            <a:pPr algn="ctr">
              <a:lnSpc>
                <a:spcPct val="95000"/>
              </a:lnSpc>
              <a:spcAft>
                <a:spcPts val="0"/>
              </a:spcAft>
            </a:pPr>
            <a:r>
              <a:rPr sz="680" b="0" i="0">
                <a:solidFill>
                  <a:srgbClr val="4A443C"/>
                </a:solidFill>
                <a:latin typeface="Calibri"/>
              </a:rPr>
              <a:t>India D2C</a:t>
            </a:r>
          </a:p>
        </p:txBody>
      </p:sp>
      <p:sp>
        <p:nvSpPr>
          <p:cNvPr id="33" name="Oval 32"/>
          <p:cNvSpPr/>
          <p:nvPr/>
        </p:nvSpPr>
        <p:spPr>
          <a:xfrm>
            <a:off x="5391912" y="2907791"/>
            <a:ext cx="310896" cy="310896"/>
          </a:xfrm>
          <a:prstGeom prst="ellipse">
            <a:avLst/>
          </a:prstGeom>
          <a:noFill/>
          <a:ln w="1524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071872" y="3227831"/>
            <a:ext cx="950976" cy="320040"/>
          </a:xfrm>
          <a:prstGeom prst="rect">
            <a:avLst/>
          </a:prstGeom>
          <a:noFill/>
        </p:spPr>
        <p:txBody>
          <a:bodyPr wrap="square" anchor="t" lIns="0" rIns="0" tIns="0" bIns="0">
            <a:spAutoFit/>
          </a:bodyPr>
          <a:lstStyle/>
          <a:p>
            <a:pPr algn="ctr">
              <a:lnSpc>
                <a:spcPct val="95000"/>
              </a:lnSpc>
              <a:spcAft>
                <a:spcPts val="0"/>
              </a:spcAft>
            </a:pPr>
            <a:r>
              <a:rPr sz="680" b="0" i="0">
                <a:solidFill>
                  <a:srgbClr val="4A443C"/>
                </a:solidFill>
                <a:latin typeface="Calibri"/>
              </a:rPr>
              <a:t>exports</a:t>
            </a:r>
          </a:p>
        </p:txBody>
      </p:sp>
      <p:sp>
        <p:nvSpPr>
          <p:cNvPr id="35" name="Oval 34"/>
          <p:cNvSpPr/>
          <p:nvPr/>
        </p:nvSpPr>
        <p:spPr>
          <a:xfrm>
            <a:off x="4608576" y="2916935"/>
            <a:ext cx="292608" cy="292608"/>
          </a:xfrm>
          <a:prstGeom prst="ellipse">
            <a:avLst/>
          </a:prstGeom>
          <a:noFill/>
          <a:ln w="1524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288536" y="3218687"/>
            <a:ext cx="932688" cy="320040"/>
          </a:xfrm>
          <a:prstGeom prst="rect">
            <a:avLst/>
          </a:prstGeom>
          <a:noFill/>
        </p:spPr>
        <p:txBody>
          <a:bodyPr wrap="square" anchor="t" lIns="0" rIns="0" tIns="0" bIns="0">
            <a:spAutoFit/>
          </a:bodyPr>
          <a:lstStyle/>
          <a:p>
            <a:pPr algn="ctr">
              <a:lnSpc>
                <a:spcPct val="95000"/>
              </a:lnSpc>
              <a:spcAft>
                <a:spcPts val="0"/>
              </a:spcAft>
            </a:pPr>
            <a:r>
              <a:rPr sz="680" b="0" i="0">
                <a:solidFill>
                  <a:srgbClr val="4A443C"/>
                </a:solidFill>
                <a:latin typeface="Calibri"/>
              </a:rPr>
              <a:t>apparel</a:t>
            </a:r>
          </a:p>
        </p:txBody>
      </p:sp>
      <p:sp>
        <p:nvSpPr>
          <p:cNvPr id="37" name="Oval 36"/>
          <p:cNvSpPr/>
          <p:nvPr/>
        </p:nvSpPr>
        <p:spPr>
          <a:xfrm>
            <a:off x="3834384" y="3727704"/>
            <a:ext cx="256032" cy="256032"/>
          </a:xfrm>
          <a:prstGeom prst="ellipse">
            <a:avLst/>
          </a:prstGeom>
          <a:noFill/>
          <a:ln w="1524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514344" y="3992880"/>
            <a:ext cx="896112" cy="320040"/>
          </a:xfrm>
          <a:prstGeom prst="rect">
            <a:avLst/>
          </a:prstGeom>
          <a:noFill/>
        </p:spPr>
        <p:txBody>
          <a:bodyPr wrap="square" anchor="t" lIns="0" rIns="0" tIns="0" bIns="0">
            <a:spAutoFit/>
          </a:bodyPr>
          <a:lstStyle/>
          <a:p>
            <a:pPr algn="ctr">
              <a:lnSpc>
                <a:spcPct val="95000"/>
              </a:lnSpc>
              <a:spcAft>
                <a:spcPts val="0"/>
              </a:spcAft>
            </a:pPr>
            <a:r>
              <a:rPr sz="680" b="0" i="0">
                <a:solidFill>
                  <a:srgbClr val="4A443C"/>
                </a:solidFill>
                <a:latin typeface="Calibri"/>
              </a:rPr>
              <a:t>mass basics</a:t>
            </a:r>
          </a:p>
        </p:txBody>
      </p:sp>
      <p:sp>
        <p:nvSpPr>
          <p:cNvPr id="39" name="TextBox 38"/>
          <p:cNvSpPr txBox="1"/>
          <p:nvPr/>
        </p:nvSpPr>
        <p:spPr>
          <a:xfrm>
            <a:off x="3566160" y="4306824"/>
            <a:ext cx="2377440" cy="182880"/>
          </a:xfrm>
          <a:prstGeom prst="rect">
            <a:avLst/>
          </a:prstGeom>
          <a:noFill/>
        </p:spPr>
        <p:txBody>
          <a:bodyPr wrap="square" anchor="t" lIns="0" rIns="0" tIns="0" bIns="0">
            <a:spAutoFit/>
          </a:bodyPr>
          <a:lstStyle/>
          <a:p>
            <a:pPr algn="l">
              <a:lnSpc>
                <a:spcPct val="115000"/>
              </a:lnSpc>
              <a:spcAft>
                <a:spcPts val="0"/>
              </a:spcAft>
            </a:pPr>
            <a:r>
              <a:rPr sz="720" b="0" i="0" spc="100">
                <a:solidFill>
                  <a:srgbClr val="8A8177"/>
                </a:solidFill>
                <a:latin typeface="Calibri"/>
              </a:rPr>
              <a:t>GE — ATTRACTIVENESS ↑ · STRENGTH →</a:t>
            </a:r>
          </a:p>
        </p:txBody>
      </p:sp>
      <p:sp>
        <p:nvSpPr>
          <p:cNvPr id="40" name="TextBox 39"/>
          <p:cNvSpPr txBox="1"/>
          <p:nvPr/>
        </p:nvSpPr>
        <p:spPr>
          <a:xfrm>
            <a:off x="6309360" y="1874519"/>
            <a:ext cx="2880360" cy="228600"/>
          </a:xfrm>
          <a:prstGeom prst="rect">
            <a:avLst/>
          </a:prstGeom>
          <a:noFill/>
        </p:spPr>
        <p:txBody>
          <a:bodyPr wrap="square" anchor="t" lIns="0" rIns="0" tIns="0" bIns="0">
            <a:spAutoFit/>
          </a:bodyPr>
          <a:lstStyle/>
          <a:p>
            <a:pPr algn="l">
              <a:lnSpc>
                <a:spcPct val="115000"/>
              </a:lnSpc>
              <a:spcAft>
                <a:spcPts val="0"/>
              </a:spcAft>
            </a:pPr>
            <a:r>
              <a:rPr sz="880" b="0" i="0" spc="150">
                <a:solidFill>
                  <a:srgbClr val="8C6248"/>
                </a:solidFill>
                <a:latin typeface="Calibri"/>
              </a:rPr>
              <a:t>THE VERDICT, TWICE</a:t>
            </a:r>
          </a:p>
        </p:txBody>
      </p:sp>
      <p:sp>
        <p:nvSpPr>
          <p:cNvPr id="41" name="TextBox 40"/>
          <p:cNvSpPr txBox="1"/>
          <p:nvPr/>
        </p:nvSpPr>
        <p:spPr>
          <a:xfrm>
            <a:off x="6309360" y="2148840"/>
            <a:ext cx="2880360" cy="1554480"/>
          </a:xfrm>
          <a:prstGeom prst="rect">
            <a:avLst/>
          </a:prstGeom>
          <a:noFill/>
        </p:spPr>
        <p:txBody>
          <a:bodyPr wrap="square" anchor="t" lIns="0" rIns="0" tIns="0" bIns="0">
            <a:spAutoFit/>
          </a:bodyPr>
          <a:lstStyle/>
          <a:p>
            <a:pPr algn="l">
              <a:lnSpc>
                <a:spcPct val="122000"/>
              </a:lnSpc>
              <a:spcAft>
                <a:spcPts val="400"/>
              </a:spcAft>
            </a:pPr>
            <a:r>
              <a:rPr sz="819" b="0" i="0">
                <a:solidFill>
                  <a:srgbClr val="4A443C"/>
                </a:solidFill>
                <a:latin typeface="Calibri"/>
              </a:rPr>
              <a:t>Grow — core India D2C: fund capacity and stores.</a:t>
            </a:r>
          </a:p>
          <a:p>
            <a:pPr algn="l">
              <a:lnSpc>
                <a:spcPct val="122000"/>
              </a:lnSpc>
              <a:spcAft>
                <a:spcPts val="400"/>
              </a:spcAft>
            </a:pPr>
            <a:r>
              <a:rPr sz="819" b="0" i="0">
                <a:solidFill>
                  <a:srgbClr val="4A443C"/>
                </a:solidFill>
                <a:latin typeface="Calibri"/>
              </a:rPr>
              <a:t>Build selectively — exports: prove unit economics first.</a:t>
            </a:r>
          </a:p>
          <a:p>
            <a:pPr algn="l">
              <a:lnSpc>
                <a:spcPct val="122000"/>
              </a:lnSpc>
              <a:spcAft>
                <a:spcPts val="400"/>
              </a:spcAft>
            </a:pPr>
            <a:r>
              <a:rPr sz="819" b="0" i="0">
                <a:solidFill>
                  <a:srgbClr val="4A443C"/>
                </a:solidFill>
                <a:latin typeface="Calibri"/>
              </a:rPr>
              <a:t>Selectivity — apparel: fund only what lifts AOV.</a:t>
            </a:r>
          </a:p>
          <a:p>
            <a:pPr algn="l">
              <a:lnSpc>
                <a:spcPct val="122000"/>
              </a:lnSpc>
              <a:spcAft>
                <a:spcPts val="400"/>
              </a:spcAft>
            </a:pPr>
            <a:r>
              <a:rPr sz="819" b="0" i="0">
                <a:solidFill>
                  <a:srgbClr val="4A443C"/>
                </a:solidFill>
                <a:latin typeface="Calibri"/>
              </a:rPr>
              <a:t>Refuse — discount-led volume: absent today; must stay absent.</a:t>
            </a:r>
          </a:p>
        </p:txBody>
      </p:sp>
      <p:sp>
        <p:nvSpPr>
          <p:cNvPr id="42" name="TextBox 41"/>
          <p:cNvSpPr txBox="1"/>
          <p:nvPr/>
        </p:nvSpPr>
        <p:spPr>
          <a:xfrm>
            <a:off x="822960" y="4663440"/>
            <a:ext cx="7543800" cy="1463040"/>
          </a:xfrm>
          <a:prstGeom prst="rect">
            <a:avLst/>
          </a:prstGeom>
          <a:noFill/>
        </p:spPr>
        <p:txBody>
          <a:bodyPr wrap="square" anchor="t" lIns="0" rIns="0" tIns="0" bIns="0">
            <a:spAutoFit/>
          </a:bodyPr>
          <a:lstStyle/>
          <a:p>
            <a:pPr algn="l">
              <a:lnSpc>
                <a:spcPct val="125000"/>
              </a:lnSpc>
              <a:spcAft>
                <a:spcPts val="0"/>
              </a:spcAft>
            </a:pPr>
            <a:r>
              <a:rPr sz="940" b="0" i="1">
                <a:solidFill>
                  <a:srgbClr val="8C6248"/>
                </a:solidFill>
                <a:latin typeface="Georgia"/>
              </a:rPr>
              <a:t>“BCG alone would call a 30-month-old brand a dog — it only scores share and growth. GE is the honest tool for Gully Labs because it scores brand, craft and factory: what they actually own. Used together both say the same thing: concentrate on the star, cap the question marks, refuse the dog.”</a:t>
            </a:r>
          </a:p>
        </p:txBody>
      </p:sp>
      <p:sp>
        <p:nvSpPr>
          <p:cNvPr id="43" name="Rectangle 42"/>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4" name="Picture 43" descr="_v3_ph-portfolio-wall.jpg"/>
          <p:cNvPicPr>
            <a:picLocks noChangeAspect="1"/>
          </p:cNvPicPr>
          <p:nvPr/>
        </p:nvPicPr>
        <p:blipFill>
          <a:blip r:embed="rId2"/>
          <a:stretch>
            <a:fillRect/>
          </a:stretch>
        </p:blipFill>
        <p:spPr>
          <a:xfrm>
            <a:off x="8732520" y="1828800"/>
            <a:ext cx="2651760" cy="4297680"/>
          </a:xfrm>
          <a:prstGeom prst="rect">
            <a:avLst/>
          </a:prstGeom>
        </p:spPr>
      </p:pic>
      <p:sp>
        <p:nvSpPr>
          <p:cNvPr id="45" name="TextBox 44"/>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A wall of single shoes — the industry's own portfolio matrix.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STRATEGY IMPLEMENTATION</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Where strategies like this die.</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11 / 15</a:t>
            </a:r>
          </a:p>
        </p:txBody>
      </p:sp>
      <p:sp>
        <p:nvSpPr>
          <p:cNvPr id="8" name="TextBox 7"/>
          <p:cNvSpPr txBox="1"/>
          <p:nvPr/>
        </p:nvSpPr>
        <p:spPr>
          <a:xfrm>
            <a:off x="822960" y="1828800"/>
            <a:ext cx="5486400" cy="219456"/>
          </a:xfrm>
          <a:prstGeom prst="rect">
            <a:avLst/>
          </a:prstGeom>
          <a:noFill/>
        </p:spPr>
        <p:txBody>
          <a:bodyPr wrap="square" anchor="t" lIns="0" rIns="0" tIns="0" bIns="0">
            <a:spAutoFit/>
          </a:bodyPr>
          <a:lstStyle/>
          <a:p>
            <a:pPr algn="l">
              <a:lnSpc>
                <a:spcPct val="115000"/>
              </a:lnSpc>
              <a:spcAft>
                <a:spcPts val="0"/>
              </a:spcAft>
            </a:pPr>
            <a:r>
              <a:rPr sz="860" b="1" i="0" spc="120">
                <a:solidFill>
                  <a:srgbClr val="221B15"/>
                </a:solidFill>
                <a:latin typeface="Calibri"/>
              </a:rPr>
              <a:t>SCALING CRAFT</a:t>
            </a:r>
          </a:p>
        </p:txBody>
      </p:sp>
      <p:sp>
        <p:nvSpPr>
          <p:cNvPr id="9" name="TextBox 8"/>
          <p:cNvSpPr txBox="1"/>
          <p:nvPr/>
        </p:nvSpPr>
        <p:spPr>
          <a:xfrm>
            <a:off x="822960" y="2048256"/>
            <a:ext cx="5486400" cy="219456"/>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capacity is trained hands, not machines — 1,000 wanted vs 600 made</a:t>
            </a:r>
          </a:p>
        </p:txBody>
      </p:sp>
      <p:sp>
        <p:nvSpPr>
          <p:cNvPr id="10" name="Rectangle 9"/>
          <p:cNvSpPr/>
          <p:nvPr/>
        </p:nvSpPr>
        <p:spPr>
          <a:xfrm>
            <a:off x="822960" y="2304288"/>
            <a:ext cx="56692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2340864"/>
            <a:ext cx="5486400" cy="219456"/>
          </a:xfrm>
          <a:prstGeom prst="rect">
            <a:avLst/>
          </a:prstGeom>
          <a:noFill/>
        </p:spPr>
        <p:txBody>
          <a:bodyPr wrap="square" anchor="t" lIns="0" rIns="0" tIns="0" bIns="0">
            <a:spAutoFit/>
          </a:bodyPr>
          <a:lstStyle/>
          <a:p>
            <a:pPr algn="l">
              <a:lnSpc>
                <a:spcPct val="115000"/>
              </a:lnSpc>
              <a:spcAft>
                <a:spcPts val="0"/>
              </a:spcAft>
            </a:pPr>
            <a:r>
              <a:rPr sz="860" b="1" i="0" spc="120">
                <a:solidFill>
                  <a:srgbClr val="221B15"/>
                </a:solidFill>
                <a:latin typeface="Calibri"/>
              </a:rPr>
              <a:t>FUNDING THE BUILD</a:t>
            </a:r>
          </a:p>
        </p:txBody>
      </p:sp>
      <p:sp>
        <p:nvSpPr>
          <p:cNvPr id="12" name="TextBox 11"/>
          <p:cNvSpPr txBox="1"/>
          <p:nvPr/>
        </p:nvSpPr>
        <p:spPr>
          <a:xfrm>
            <a:off x="822960" y="2560320"/>
            <a:ext cx="5486400" cy="219456"/>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₹85 lakh of cash against three stores and a factory expansion</a:t>
            </a:r>
          </a:p>
        </p:txBody>
      </p:sp>
      <p:sp>
        <p:nvSpPr>
          <p:cNvPr id="13" name="Rectangle 12"/>
          <p:cNvSpPr/>
          <p:nvPr/>
        </p:nvSpPr>
        <p:spPr>
          <a:xfrm>
            <a:off x="822960" y="2816352"/>
            <a:ext cx="56692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2960" y="2852928"/>
            <a:ext cx="5486400" cy="219456"/>
          </a:xfrm>
          <a:prstGeom prst="rect">
            <a:avLst/>
          </a:prstGeom>
          <a:noFill/>
        </p:spPr>
        <p:txBody>
          <a:bodyPr wrap="square" anchor="t" lIns="0" rIns="0" tIns="0" bIns="0">
            <a:spAutoFit/>
          </a:bodyPr>
          <a:lstStyle/>
          <a:p>
            <a:pPr algn="l">
              <a:lnSpc>
                <a:spcPct val="115000"/>
              </a:lnSpc>
              <a:spcAft>
                <a:spcPts val="0"/>
              </a:spcAft>
            </a:pPr>
            <a:r>
              <a:rPr sz="860" b="1" i="0" spc="120">
                <a:solidFill>
                  <a:srgbClr val="221B15"/>
                </a:solidFill>
                <a:latin typeface="Calibri"/>
              </a:rPr>
              <a:t>HOLDING THE LINE</a:t>
            </a:r>
          </a:p>
        </p:txBody>
      </p:sp>
      <p:sp>
        <p:nvSpPr>
          <p:cNvPr id="15" name="TextBox 14"/>
          <p:cNvSpPr txBox="1"/>
          <p:nvPr/>
        </p:nvSpPr>
        <p:spPr>
          <a:xfrm>
            <a:off x="822960" y="3072384"/>
            <a:ext cx="5486400" cy="219456"/>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marketplaces and festivals push discounting; the brand cannot</a:t>
            </a:r>
          </a:p>
        </p:txBody>
      </p:sp>
      <p:sp>
        <p:nvSpPr>
          <p:cNvPr id="16" name="Rectangle 15"/>
          <p:cNvSpPr/>
          <p:nvPr/>
        </p:nvSpPr>
        <p:spPr>
          <a:xfrm>
            <a:off x="822960" y="3328416"/>
            <a:ext cx="56692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2960" y="3364992"/>
            <a:ext cx="5486400" cy="219456"/>
          </a:xfrm>
          <a:prstGeom prst="rect">
            <a:avLst/>
          </a:prstGeom>
          <a:noFill/>
        </p:spPr>
        <p:txBody>
          <a:bodyPr wrap="square" anchor="t" lIns="0" rIns="0" tIns="0" bIns="0">
            <a:spAutoFit/>
          </a:bodyPr>
          <a:lstStyle/>
          <a:p>
            <a:pPr algn="l">
              <a:lnSpc>
                <a:spcPct val="115000"/>
              </a:lnSpc>
              <a:spcAft>
                <a:spcPts val="0"/>
              </a:spcAft>
            </a:pPr>
            <a:r>
              <a:rPr sz="860" b="1" i="0" spc="120">
                <a:solidFill>
                  <a:srgbClr val="221B15"/>
                </a:solidFill>
                <a:latin typeface="Calibri"/>
              </a:rPr>
              <a:t>GOVERNANCE</a:t>
            </a:r>
          </a:p>
        </p:txBody>
      </p:sp>
      <p:sp>
        <p:nvSpPr>
          <p:cNvPr id="18" name="TextBox 17"/>
          <p:cNvSpPr txBox="1"/>
          <p:nvPr/>
        </p:nvSpPr>
        <p:spPr>
          <a:xfrm>
            <a:off x="822960" y="3584448"/>
            <a:ext cx="5486400" cy="219456"/>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founder-trust culture meeting payroll-scale risk (S13)</a:t>
            </a:r>
          </a:p>
        </p:txBody>
      </p:sp>
      <p:sp>
        <p:nvSpPr>
          <p:cNvPr id="19" name="Rectangle 18"/>
          <p:cNvSpPr/>
          <p:nvPr/>
        </p:nvSpPr>
        <p:spPr>
          <a:xfrm>
            <a:off x="822960" y="3840480"/>
            <a:ext cx="56692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960" y="3877056"/>
            <a:ext cx="5486400" cy="219456"/>
          </a:xfrm>
          <a:prstGeom prst="rect">
            <a:avLst/>
          </a:prstGeom>
          <a:noFill/>
        </p:spPr>
        <p:txBody>
          <a:bodyPr wrap="square" anchor="t" lIns="0" rIns="0" tIns="0" bIns="0">
            <a:spAutoFit/>
          </a:bodyPr>
          <a:lstStyle/>
          <a:p>
            <a:pPr algn="l">
              <a:lnSpc>
                <a:spcPct val="115000"/>
              </a:lnSpc>
              <a:spcAft>
                <a:spcPts val="0"/>
              </a:spcAft>
            </a:pPr>
            <a:r>
              <a:rPr sz="860" b="1" i="0" spc="120">
                <a:solidFill>
                  <a:srgbClr val="221B15"/>
                </a:solidFill>
                <a:latin typeface="Calibri"/>
              </a:rPr>
              <a:t>CROSS-BORDER OPS</a:t>
            </a:r>
          </a:p>
        </p:txBody>
      </p:sp>
      <p:sp>
        <p:nvSpPr>
          <p:cNvPr id="21" name="TextBox 20"/>
          <p:cNvSpPr txBox="1"/>
          <p:nvPr/>
        </p:nvSpPr>
        <p:spPr>
          <a:xfrm>
            <a:off x="822960" y="4096512"/>
            <a:ext cx="5486400" cy="219456"/>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6–8 day global delivery, returns, duties, 25% of revenue</a:t>
            </a:r>
          </a:p>
        </p:txBody>
      </p:sp>
      <p:sp>
        <p:nvSpPr>
          <p:cNvPr id="22" name="Rectangle 21"/>
          <p:cNvSpPr/>
          <p:nvPr/>
        </p:nvSpPr>
        <p:spPr>
          <a:xfrm>
            <a:off x="822960" y="4352544"/>
            <a:ext cx="56692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2960" y="4480560"/>
            <a:ext cx="5669280" cy="228600"/>
          </a:xfrm>
          <a:prstGeom prst="rect">
            <a:avLst/>
          </a:prstGeom>
          <a:noFill/>
        </p:spPr>
        <p:txBody>
          <a:bodyPr wrap="square" anchor="t" lIns="0" rIns="0" tIns="0" bIns="0">
            <a:spAutoFit/>
          </a:bodyPr>
          <a:lstStyle/>
          <a:p>
            <a:pPr algn="l">
              <a:lnSpc>
                <a:spcPct val="115000"/>
              </a:lnSpc>
              <a:spcAft>
                <a:spcPts val="0"/>
              </a:spcAft>
            </a:pPr>
            <a:r>
              <a:rPr sz="840" b="0" i="0" spc="130">
                <a:solidFill>
                  <a:srgbClr val="8C6248"/>
                </a:solidFill>
                <a:latin typeface="Calibri"/>
              </a:rPr>
              <a:t>THE FRESH ₹27.5 Cr — CAPACITY FIRST, BRAND SECOND</a:t>
            </a:r>
          </a:p>
        </p:txBody>
      </p:sp>
      <p:sp>
        <p:nvSpPr>
          <p:cNvPr id="24" name="TextBox 23"/>
          <p:cNvSpPr txBox="1"/>
          <p:nvPr/>
        </p:nvSpPr>
        <p:spPr>
          <a:xfrm>
            <a:off x="822960" y="4791455"/>
            <a:ext cx="2103120" cy="201168"/>
          </a:xfrm>
          <a:prstGeom prst="rect">
            <a:avLst/>
          </a:prstGeom>
          <a:noFill/>
        </p:spPr>
        <p:txBody>
          <a:bodyPr wrap="square" anchor="t" lIns="0" rIns="0" tIns="0" bIns="0">
            <a:spAutoFit/>
          </a:bodyPr>
          <a:lstStyle/>
          <a:p>
            <a:pPr algn="l">
              <a:lnSpc>
                <a:spcPct val="115000"/>
              </a:lnSpc>
              <a:spcAft>
                <a:spcPts val="0"/>
              </a:spcAft>
            </a:pPr>
            <a:r>
              <a:rPr sz="780" b="0" i="0">
                <a:solidFill>
                  <a:srgbClr val="4A443C"/>
                </a:solidFill>
                <a:latin typeface="Calibri"/>
              </a:rPr>
              <a:t>production &amp; karigar skilling</a:t>
            </a:r>
          </a:p>
        </p:txBody>
      </p:sp>
      <p:sp>
        <p:nvSpPr>
          <p:cNvPr id="25" name="Rectangle 24"/>
          <p:cNvSpPr/>
          <p:nvPr/>
        </p:nvSpPr>
        <p:spPr>
          <a:xfrm>
            <a:off x="2971800" y="4773168"/>
            <a:ext cx="2377440" cy="1828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486400" y="4773168"/>
            <a:ext cx="731520" cy="201168"/>
          </a:xfrm>
          <a:prstGeom prst="rect">
            <a:avLst/>
          </a:prstGeom>
          <a:noFill/>
        </p:spPr>
        <p:txBody>
          <a:bodyPr wrap="square" anchor="t" lIns="0" rIns="0" tIns="0" bIns="0">
            <a:spAutoFit/>
          </a:bodyPr>
          <a:lstStyle/>
          <a:p>
            <a:pPr algn="l">
              <a:lnSpc>
                <a:spcPct val="115000"/>
              </a:lnSpc>
              <a:spcAft>
                <a:spcPts val="0"/>
              </a:spcAft>
            </a:pPr>
            <a:r>
              <a:rPr sz="900" b="0" i="0">
                <a:solidFill>
                  <a:srgbClr val="221B15"/>
                </a:solidFill>
                <a:latin typeface="Georgia"/>
              </a:rPr>
              <a:t>34%</a:t>
            </a:r>
          </a:p>
        </p:txBody>
      </p:sp>
      <p:sp>
        <p:nvSpPr>
          <p:cNvPr id="27" name="TextBox 26"/>
          <p:cNvSpPr txBox="1"/>
          <p:nvPr/>
        </p:nvSpPr>
        <p:spPr>
          <a:xfrm>
            <a:off x="822960" y="5029199"/>
            <a:ext cx="2103120" cy="201168"/>
          </a:xfrm>
          <a:prstGeom prst="rect">
            <a:avLst/>
          </a:prstGeom>
          <a:noFill/>
        </p:spPr>
        <p:txBody>
          <a:bodyPr wrap="square" anchor="t" lIns="0" rIns="0" tIns="0" bIns="0">
            <a:spAutoFit/>
          </a:bodyPr>
          <a:lstStyle/>
          <a:p>
            <a:pPr algn="l">
              <a:lnSpc>
                <a:spcPct val="115000"/>
              </a:lnSpc>
              <a:spcAft>
                <a:spcPts val="0"/>
              </a:spcAft>
            </a:pPr>
            <a:r>
              <a:rPr sz="780" b="0" i="0">
                <a:solidFill>
                  <a:srgbClr val="4A443C"/>
                </a:solidFill>
                <a:latin typeface="Calibri"/>
              </a:rPr>
              <a:t>brand &amp; content</a:t>
            </a:r>
          </a:p>
        </p:txBody>
      </p:sp>
      <p:sp>
        <p:nvSpPr>
          <p:cNvPr id="28" name="Rectangle 27"/>
          <p:cNvSpPr/>
          <p:nvPr/>
        </p:nvSpPr>
        <p:spPr>
          <a:xfrm>
            <a:off x="2971800" y="5010912"/>
            <a:ext cx="1818042" cy="1828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486400" y="5010912"/>
            <a:ext cx="731520" cy="201168"/>
          </a:xfrm>
          <a:prstGeom prst="rect">
            <a:avLst/>
          </a:prstGeom>
          <a:noFill/>
        </p:spPr>
        <p:txBody>
          <a:bodyPr wrap="square" anchor="t" lIns="0" rIns="0" tIns="0" bIns="0">
            <a:spAutoFit/>
          </a:bodyPr>
          <a:lstStyle/>
          <a:p>
            <a:pPr algn="l">
              <a:lnSpc>
                <a:spcPct val="115000"/>
              </a:lnSpc>
              <a:spcAft>
                <a:spcPts val="0"/>
              </a:spcAft>
            </a:pPr>
            <a:r>
              <a:rPr sz="900" b="0" i="0">
                <a:solidFill>
                  <a:srgbClr val="221B15"/>
                </a:solidFill>
                <a:latin typeface="Georgia"/>
              </a:rPr>
              <a:t>26%</a:t>
            </a:r>
          </a:p>
        </p:txBody>
      </p:sp>
      <p:sp>
        <p:nvSpPr>
          <p:cNvPr id="30" name="TextBox 29"/>
          <p:cNvSpPr txBox="1"/>
          <p:nvPr/>
        </p:nvSpPr>
        <p:spPr>
          <a:xfrm>
            <a:off x="822960" y="5266943"/>
            <a:ext cx="2103120" cy="201168"/>
          </a:xfrm>
          <a:prstGeom prst="rect">
            <a:avLst/>
          </a:prstGeom>
          <a:noFill/>
        </p:spPr>
        <p:txBody>
          <a:bodyPr wrap="square" anchor="t" lIns="0" rIns="0" tIns="0" bIns="0">
            <a:spAutoFit/>
          </a:bodyPr>
          <a:lstStyle/>
          <a:p>
            <a:pPr algn="l">
              <a:lnSpc>
                <a:spcPct val="115000"/>
              </a:lnSpc>
              <a:spcAft>
                <a:spcPts val="0"/>
              </a:spcAft>
            </a:pPr>
            <a:r>
              <a:rPr sz="780" b="0" i="0">
                <a:solidFill>
                  <a:srgbClr val="4A443C"/>
                </a:solidFill>
                <a:latin typeface="Calibri"/>
              </a:rPr>
              <a:t>retail build-out</a:t>
            </a:r>
          </a:p>
        </p:txBody>
      </p:sp>
      <p:sp>
        <p:nvSpPr>
          <p:cNvPr id="31" name="Rectangle 30"/>
          <p:cNvSpPr/>
          <p:nvPr/>
        </p:nvSpPr>
        <p:spPr>
          <a:xfrm>
            <a:off x="2971800" y="5248655"/>
            <a:ext cx="1678192" cy="1828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486400" y="5248655"/>
            <a:ext cx="731520" cy="201168"/>
          </a:xfrm>
          <a:prstGeom prst="rect">
            <a:avLst/>
          </a:prstGeom>
          <a:noFill/>
        </p:spPr>
        <p:txBody>
          <a:bodyPr wrap="square" anchor="t" lIns="0" rIns="0" tIns="0" bIns="0">
            <a:spAutoFit/>
          </a:bodyPr>
          <a:lstStyle/>
          <a:p>
            <a:pPr algn="l">
              <a:lnSpc>
                <a:spcPct val="115000"/>
              </a:lnSpc>
              <a:spcAft>
                <a:spcPts val="0"/>
              </a:spcAft>
            </a:pPr>
            <a:r>
              <a:rPr sz="900" b="0" i="0">
                <a:solidFill>
                  <a:srgbClr val="221B15"/>
                </a:solidFill>
                <a:latin typeface="Georgia"/>
              </a:rPr>
              <a:t>24%</a:t>
            </a:r>
          </a:p>
        </p:txBody>
      </p:sp>
      <p:sp>
        <p:nvSpPr>
          <p:cNvPr id="33" name="TextBox 32"/>
          <p:cNvSpPr txBox="1"/>
          <p:nvPr/>
        </p:nvSpPr>
        <p:spPr>
          <a:xfrm>
            <a:off x="822960" y="5504687"/>
            <a:ext cx="2103120" cy="201168"/>
          </a:xfrm>
          <a:prstGeom prst="rect">
            <a:avLst/>
          </a:prstGeom>
          <a:noFill/>
        </p:spPr>
        <p:txBody>
          <a:bodyPr wrap="square" anchor="t" lIns="0" rIns="0" tIns="0" bIns="0">
            <a:spAutoFit/>
          </a:bodyPr>
          <a:lstStyle/>
          <a:p>
            <a:pPr algn="l">
              <a:lnSpc>
                <a:spcPct val="115000"/>
              </a:lnSpc>
              <a:spcAft>
                <a:spcPts val="0"/>
              </a:spcAft>
            </a:pPr>
            <a:r>
              <a:rPr sz="780" b="0" i="0">
                <a:solidFill>
                  <a:srgbClr val="4A443C"/>
                </a:solidFill>
                <a:latin typeface="Calibri"/>
              </a:rPr>
              <a:t>senior talent &amp; controls</a:t>
            </a:r>
          </a:p>
        </p:txBody>
      </p:sp>
      <p:sp>
        <p:nvSpPr>
          <p:cNvPr id="34" name="Rectangle 33"/>
          <p:cNvSpPr/>
          <p:nvPr/>
        </p:nvSpPr>
        <p:spPr>
          <a:xfrm>
            <a:off x="2971800" y="5486399"/>
            <a:ext cx="699247" cy="1828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486400" y="5486399"/>
            <a:ext cx="731520" cy="201168"/>
          </a:xfrm>
          <a:prstGeom prst="rect">
            <a:avLst/>
          </a:prstGeom>
          <a:noFill/>
        </p:spPr>
        <p:txBody>
          <a:bodyPr wrap="square" anchor="t" lIns="0" rIns="0" tIns="0" bIns="0">
            <a:spAutoFit/>
          </a:bodyPr>
          <a:lstStyle/>
          <a:p>
            <a:pPr algn="l">
              <a:lnSpc>
                <a:spcPct val="115000"/>
              </a:lnSpc>
              <a:spcAft>
                <a:spcPts val="0"/>
              </a:spcAft>
            </a:pPr>
            <a:r>
              <a:rPr sz="900" b="0" i="0">
                <a:solidFill>
                  <a:srgbClr val="221B15"/>
                </a:solidFill>
                <a:latin typeface="Georgia"/>
              </a:rPr>
              <a:t>10%</a:t>
            </a:r>
          </a:p>
        </p:txBody>
      </p:sp>
      <p:sp>
        <p:nvSpPr>
          <p:cNvPr id="36" name="TextBox 35"/>
          <p:cNvSpPr txBox="1"/>
          <p:nvPr/>
        </p:nvSpPr>
        <p:spPr>
          <a:xfrm>
            <a:off x="822960" y="5742431"/>
            <a:ext cx="2103120" cy="201168"/>
          </a:xfrm>
          <a:prstGeom prst="rect">
            <a:avLst/>
          </a:prstGeom>
          <a:noFill/>
        </p:spPr>
        <p:txBody>
          <a:bodyPr wrap="square" anchor="t" lIns="0" rIns="0" tIns="0" bIns="0">
            <a:spAutoFit/>
          </a:bodyPr>
          <a:lstStyle/>
          <a:p>
            <a:pPr algn="l">
              <a:lnSpc>
                <a:spcPct val="115000"/>
              </a:lnSpc>
              <a:spcAft>
                <a:spcPts val="0"/>
              </a:spcAft>
            </a:pPr>
            <a:r>
              <a:rPr sz="780" b="0" i="0">
                <a:solidFill>
                  <a:srgbClr val="4A443C"/>
                </a:solidFill>
                <a:latin typeface="Calibri"/>
              </a:rPr>
              <a:t>working capital</a:t>
            </a:r>
          </a:p>
        </p:txBody>
      </p:sp>
      <p:sp>
        <p:nvSpPr>
          <p:cNvPr id="37" name="Rectangle 36"/>
          <p:cNvSpPr/>
          <p:nvPr/>
        </p:nvSpPr>
        <p:spPr>
          <a:xfrm>
            <a:off x="2971800" y="5724143"/>
            <a:ext cx="419548" cy="1828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486400" y="5724143"/>
            <a:ext cx="731520" cy="201168"/>
          </a:xfrm>
          <a:prstGeom prst="rect">
            <a:avLst/>
          </a:prstGeom>
          <a:noFill/>
        </p:spPr>
        <p:txBody>
          <a:bodyPr wrap="square" anchor="t" lIns="0" rIns="0" tIns="0" bIns="0">
            <a:spAutoFit/>
          </a:bodyPr>
          <a:lstStyle/>
          <a:p>
            <a:pPr algn="l">
              <a:lnSpc>
                <a:spcPct val="115000"/>
              </a:lnSpc>
              <a:spcAft>
                <a:spcPts val="0"/>
              </a:spcAft>
            </a:pPr>
            <a:r>
              <a:rPr sz="900" b="0" i="0">
                <a:solidFill>
                  <a:srgbClr val="221B15"/>
                </a:solidFill>
                <a:latin typeface="Georgia"/>
              </a:rPr>
              <a:t>6%</a:t>
            </a:r>
          </a:p>
        </p:txBody>
      </p:sp>
      <p:sp>
        <p:nvSpPr>
          <p:cNvPr id="39" name="TextBox 38"/>
          <p:cNvSpPr txBox="1"/>
          <p:nvPr/>
        </p:nvSpPr>
        <p:spPr>
          <a:xfrm>
            <a:off x="822960" y="6035040"/>
            <a:ext cx="5669280" cy="182880"/>
          </a:xfrm>
          <a:prstGeom prst="rect">
            <a:avLst/>
          </a:prstGeom>
          <a:noFill/>
        </p:spPr>
        <p:txBody>
          <a:bodyPr wrap="square" anchor="t" lIns="0" rIns="0" tIns="0" bIns="0">
            <a:spAutoFit/>
          </a:bodyPr>
          <a:lstStyle/>
          <a:p>
            <a:pPr algn="l">
              <a:lnSpc>
                <a:spcPct val="115000"/>
              </a:lnSpc>
              <a:spcAft>
                <a:spcPts val="0"/>
              </a:spcAft>
            </a:pPr>
            <a:r>
              <a:rPr sz="720" b="0" i="1">
                <a:solidFill>
                  <a:srgbClr val="8A8177"/>
                </a:solidFill>
                <a:latin typeface="Calibri"/>
              </a:rPr>
              <a:t>illustrative split, inferred from stated uses of proceeds — not a disclosure</a:t>
            </a:r>
          </a:p>
        </p:txBody>
      </p:sp>
      <p:sp>
        <p:nvSpPr>
          <p:cNvPr id="40" name="TextBox 39"/>
          <p:cNvSpPr txBox="1"/>
          <p:nvPr/>
        </p:nvSpPr>
        <p:spPr>
          <a:xfrm>
            <a:off x="6766560" y="1810512"/>
            <a:ext cx="2423160" cy="228600"/>
          </a:xfrm>
          <a:prstGeom prst="rect">
            <a:avLst/>
          </a:prstGeom>
          <a:noFill/>
        </p:spPr>
        <p:txBody>
          <a:bodyPr wrap="square" anchor="t" lIns="0" rIns="0" tIns="0" bIns="0">
            <a:spAutoFit/>
          </a:bodyPr>
          <a:lstStyle/>
          <a:p>
            <a:pPr algn="l">
              <a:lnSpc>
                <a:spcPct val="115000"/>
              </a:lnSpc>
              <a:spcAft>
                <a:spcPts val="0"/>
              </a:spcAft>
            </a:pPr>
            <a:r>
              <a:rPr sz="840" b="0" i="0" spc="130">
                <a:solidFill>
                  <a:srgbClr val="8C6248"/>
                </a:solidFill>
                <a:latin typeface="Calibri"/>
              </a:rPr>
              <a:t>FOUR ACTIONS · BLUE OCEAN</a:t>
            </a:r>
          </a:p>
        </p:txBody>
      </p:sp>
      <p:sp>
        <p:nvSpPr>
          <p:cNvPr id="41" name="TextBox 40"/>
          <p:cNvSpPr txBox="1"/>
          <p:nvPr/>
        </p:nvSpPr>
        <p:spPr>
          <a:xfrm>
            <a:off x="6766560" y="2084831"/>
            <a:ext cx="2423160" cy="201168"/>
          </a:xfrm>
          <a:prstGeom prst="rect">
            <a:avLst/>
          </a:prstGeom>
          <a:noFill/>
        </p:spPr>
        <p:txBody>
          <a:bodyPr wrap="square" anchor="t" lIns="0" rIns="0" tIns="0" bIns="0">
            <a:spAutoFit/>
          </a:bodyPr>
          <a:lstStyle/>
          <a:p>
            <a:pPr algn="l">
              <a:lnSpc>
                <a:spcPct val="115000"/>
              </a:lnSpc>
              <a:spcAft>
                <a:spcPts val="0"/>
              </a:spcAft>
            </a:pPr>
            <a:r>
              <a:rPr sz="800" b="1" i="0" spc="150">
                <a:solidFill>
                  <a:srgbClr val="8C6248"/>
                </a:solidFill>
                <a:latin typeface="Calibri"/>
              </a:rPr>
              <a:t>ELIMINATE</a:t>
            </a:r>
          </a:p>
        </p:txBody>
      </p:sp>
      <p:sp>
        <p:nvSpPr>
          <p:cNvPr id="42" name="TextBox 41"/>
          <p:cNvSpPr txBox="1"/>
          <p:nvPr/>
        </p:nvSpPr>
        <p:spPr>
          <a:xfrm>
            <a:off x="6766560" y="2286000"/>
            <a:ext cx="2423160" cy="457200"/>
          </a:xfrm>
          <a:prstGeom prst="rect">
            <a:avLst/>
          </a:prstGeom>
          <a:noFill/>
        </p:spPr>
        <p:txBody>
          <a:bodyPr wrap="square" anchor="t" lIns="0" rIns="0" tIns="0" bIns="0">
            <a:spAutoFit/>
          </a:bodyPr>
          <a:lstStyle/>
          <a:p>
            <a:pPr algn="l">
              <a:lnSpc>
                <a:spcPct val="110000"/>
              </a:lnSpc>
              <a:spcAft>
                <a:spcPts val="0"/>
              </a:spcAft>
            </a:pPr>
            <a:r>
              <a:rPr sz="780" b="0" i="0">
                <a:solidFill>
                  <a:srgbClr val="4A443C"/>
                </a:solidFill>
                <a:latin typeface="Calibri"/>
              </a:rPr>
              <a:t>celebrity-athlete deals; discount-led growth</a:t>
            </a:r>
          </a:p>
        </p:txBody>
      </p:sp>
      <p:sp>
        <p:nvSpPr>
          <p:cNvPr id="43" name="TextBox 42"/>
          <p:cNvSpPr txBox="1"/>
          <p:nvPr/>
        </p:nvSpPr>
        <p:spPr>
          <a:xfrm>
            <a:off x="6766560" y="2743200"/>
            <a:ext cx="2423160" cy="201168"/>
          </a:xfrm>
          <a:prstGeom prst="rect">
            <a:avLst/>
          </a:prstGeom>
          <a:noFill/>
        </p:spPr>
        <p:txBody>
          <a:bodyPr wrap="square" anchor="t" lIns="0" rIns="0" tIns="0" bIns="0">
            <a:spAutoFit/>
          </a:bodyPr>
          <a:lstStyle/>
          <a:p>
            <a:pPr algn="l">
              <a:lnSpc>
                <a:spcPct val="115000"/>
              </a:lnSpc>
              <a:spcAft>
                <a:spcPts val="0"/>
              </a:spcAft>
            </a:pPr>
            <a:r>
              <a:rPr sz="800" b="1" i="0" spc="150">
                <a:solidFill>
                  <a:srgbClr val="8C6248"/>
                </a:solidFill>
                <a:latin typeface="Calibri"/>
              </a:rPr>
              <a:t>REDUCE</a:t>
            </a:r>
          </a:p>
        </p:txBody>
      </p:sp>
      <p:sp>
        <p:nvSpPr>
          <p:cNvPr id="44" name="TextBox 43"/>
          <p:cNvSpPr txBox="1"/>
          <p:nvPr/>
        </p:nvSpPr>
        <p:spPr>
          <a:xfrm>
            <a:off x="6766560" y="2944368"/>
            <a:ext cx="2423160" cy="457200"/>
          </a:xfrm>
          <a:prstGeom prst="rect">
            <a:avLst/>
          </a:prstGeom>
          <a:noFill/>
        </p:spPr>
        <p:txBody>
          <a:bodyPr wrap="square" anchor="t" lIns="0" rIns="0" tIns="0" bIns="0">
            <a:spAutoFit/>
          </a:bodyPr>
          <a:lstStyle/>
          <a:p>
            <a:pPr algn="l">
              <a:lnSpc>
                <a:spcPct val="110000"/>
              </a:lnSpc>
              <a:spcAft>
                <a:spcPts val="0"/>
              </a:spcAft>
            </a:pPr>
            <a:r>
              <a:rPr sz="780" b="0" i="0">
                <a:solidFill>
                  <a:srgbClr val="4A443C"/>
                </a:solidFill>
                <a:latin typeface="Calibri"/>
              </a:rPr>
              <a:t>SKU sprawl; marketplace dependence</a:t>
            </a:r>
          </a:p>
        </p:txBody>
      </p:sp>
      <p:sp>
        <p:nvSpPr>
          <p:cNvPr id="45" name="TextBox 44"/>
          <p:cNvSpPr txBox="1"/>
          <p:nvPr/>
        </p:nvSpPr>
        <p:spPr>
          <a:xfrm>
            <a:off x="6766560" y="3401568"/>
            <a:ext cx="2423160" cy="201168"/>
          </a:xfrm>
          <a:prstGeom prst="rect">
            <a:avLst/>
          </a:prstGeom>
          <a:noFill/>
        </p:spPr>
        <p:txBody>
          <a:bodyPr wrap="square" anchor="t" lIns="0" rIns="0" tIns="0" bIns="0">
            <a:spAutoFit/>
          </a:bodyPr>
          <a:lstStyle/>
          <a:p>
            <a:pPr algn="l">
              <a:lnSpc>
                <a:spcPct val="115000"/>
              </a:lnSpc>
              <a:spcAft>
                <a:spcPts val="0"/>
              </a:spcAft>
            </a:pPr>
            <a:r>
              <a:rPr sz="800" b="1" i="0" spc="150">
                <a:solidFill>
                  <a:srgbClr val="8C6248"/>
                </a:solidFill>
                <a:latin typeface="Calibri"/>
              </a:rPr>
              <a:t>RAISE</a:t>
            </a:r>
          </a:p>
        </p:txBody>
      </p:sp>
      <p:sp>
        <p:nvSpPr>
          <p:cNvPr id="46" name="TextBox 45"/>
          <p:cNvSpPr txBox="1"/>
          <p:nvPr/>
        </p:nvSpPr>
        <p:spPr>
          <a:xfrm>
            <a:off x="6766560" y="3602736"/>
            <a:ext cx="2423160" cy="457200"/>
          </a:xfrm>
          <a:prstGeom prst="rect">
            <a:avLst/>
          </a:prstGeom>
          <a:noFill/>
        </p:spPr>
        <p:txBody>
          <a:bodyPr wrap="square" anchor="t" lIns="0" rIns="0" tIns="0" bIns="0">
            <a:spAutoFit/>
          </a:bodyPr>
          <a:lstStyle/>
          <a:p>
            <a:pPr algn="l">
              <a:lnSpc>
                <a:spcPct val="110000"/>
              </a:lnSpc>
              <a:spcAft>
                <a:spcPts val="0"/>
              </a:spcAft>
            </a:pPr>
            <a:r>
              <a:rPr sz="780" b="0" i="0">
                <a:solidFill>
                  <a:srgbClr val="4A443C"/>
                </a:solidFill>
                <a:latin typeface="Calibri"/>
              </a:rPr>
              <a:t>craft depth, storytelling, store experience, export service</a:t>
            </a:r>
          </a:p>
        </p:txBody>
      </p:sp>
      <p:sp>
        <p:nvSpPr>
          <p:cNvPr id="47" name="TextBox 46"/>
          <p:cNvSpPr txBox="1"/>
          <p:nvPr/>
        </p:nvSpPr>
        <p:spPr>
          <a:xfrm>
            <a:off x="6766560" y="4059935"/>
            <a:ext cx="2423160" cy="201168"/>
          </a:xfrm>
          <a:prstGeom prst="rect">
            <a:avLst/>
          </a:prstGeom>
          <a:noFill/>
        </p:spPr>
        <p:txBody>
          <a:bodyPr wrap="square" anchor="t" lIns="0" rIns="0" tIns="0" bIns="0">
            <a:spAutoFit/>
          </a:bodyPr>
          <a:lstStyle/>
          <a:p>
            <a:pPr algn="l">
              <a:lnSpc>
                <a:spcPct val="115000"/>
              </a:lnSpc>
              <a:spcAft>
                <a:spcPts val="0"/>
              </a:spcAft>
            </a:pPr>
            <a:r>
              <a:rPr sz="800" b="1" i="0" spc="150">
                <a:solidFill>
                  <a:srgbClr val="8C6248"/>
                </a:solidFill>
                <a:latin typeface="Calibri"/>
              </a:rPr>
              <a:t>CREATE</a:t>
            </a:r>
          </a:p>
        </p:txBody>
      </p:sp>
      <p:sp>
        <p:nvSpPr>
          <p:cNvPr id="48" name="TextBox 47"/>
          <p:cNvSpPr txBox="1"/>
          <p:nvPr/>
        </p:nvSpPr>
        <p:spPr>
          <a:xfrm>
            <a:off x="6766560" y="4261103"/>
            <a:ext cx="2423160" cy="457200"/>
          </a:xfrm>
          <a:prstGeom prst="rect">
            <a:avLst/>
          </a:prstGeom>
          <a:noFill/>
        </p:spPr>
        <p:txBody>
          <a:bodyPr wrap="square" anchor="t" lIns="0" rIns="0" tIns="0" bIns="0">
            <a:spAutoFit/>
          </a:bodyPr>
          <a:lstStyle/>
          <a:p>
            <a:pPr algn="l">
              <a:lnSpc>
                <a:spcPct val="110000"/>
              </a:lnSpc>
              <a:spcAft>
                <a:spcPts val="0"/>
              </a:spcAft>
            </a:pPr>
            <a:r>
              <a:rPr sz="780" b="0" i="0">
                <a:solidFill>
                  <a:srgbClr val="4A443C"/>
                </a:solidFill>
                <a:latin typeface="Calibri"/>
              </a:rPr>
              <a:t>the drop ritual, the karigar celebrity, the Baithak, India-origin sneaker IP</a:t>
            </a:r>
          </a:p>
        </p:txBody>
      </p:sp>
      <p:sp>
        <p:nvSpPr>
          <p:cNvPr id="49" name="TextBox 48"/>
          <p:cNvSpPr txBox="1"/>
          <p:nvPr/>
        </p:nvSpPr>
        <p:spPr>
          <a:xfrm>
            <a:off x="6766560" y="4800600"/>
            <a:ext cx="2423160" cy="201168"/>
          </a:xfrm>
          <a:prstGeom prst="rect">
            <a:avLst/>
          </a:prstGeom>
          <a:noFill/>
        </p:spPr>
        <p:txBody>
          <a:bodyPr wrap="square" anchor="t" lIns="0" rIns="0" tIns="0" bIns="0">
            <a:spAutoFit/>
          </a:bodyPr>
          <a:lstStyle/>
          <a:p>
            <a:pPr algn="l">
              <a:lnSpc>
                <a:spcPct val="115000"/>
              </a:lnSpc>
              <a:spcAft>
                <a:spcPts val="0"/>
              </a:spcAft>
            </a:pPr>
            <a:r>
              <a:rPr sz="760" b="0" i="0" spc="100">
                <a:solidFill>
                  <a:srgbClr val="8A8177"/>
                </a:solidFill>
                <a:latin typeface="Calibri"/>
              </a:rPr>
              <a:t>DESIGN THINKING, LIVED — 2022–23</a:t>
            </a:r>
          </a:p>
        </p:txBody>
      </p:sp>
      <p:sp>
        <p:nvSpPr>
          <p:cNvPr id="50" name="TextBox 49"/>
          <p:cNvSpPr txBox="1"/>
          <p:nvPr/>
        </p:nvSpPr>
        <p:spPr>
          <a:xfrm>
            <a:off x="6766560" y="5029200"/>
            <a:ext cx="2423160" cy="1097280"/>
          </a:xfrm>
          <a:prstGeom prst="rect">
            <a:avLst/>
          </a:prstGeom>
          <a:noFill/>
        </p:spPr>
        <p:txBody>
          <a:bodyPr wrap="square" anchor="t" lIns="0" rIns="0" tIns="0" bIns="0">
            <a:spAutoFit/>
          </a:bodyPr>
          <a:lstStyle/>
          <a:p>
            <a:pPr algn="l">
              <a:lnSpc>
                <a:spcPct val="115000"/>
              </a:lnSpc>
              <a:spcAft>
                <a:spcPts val="0"/>
              </a:spcAft>
            </a:pPr>
            <a:r>
              <a:rPr sz="780" b="0" i="0">
                <a:solidFill>
                  <a:srgbClr val="4A443C"/>
                </a:solidFill>
                <a:latin typeface="Calibri"/>
              </a:rPr>
              <a:t>Six months of community posts → “India needs its own sneaker” → Baithak sessions → 50 pairs at ₹1,000 (worth ₹6,000) → the 250-pair sellout. The method is in the name: Labs.</a:t>
            </a:r>
          </a:p>
        </p:txBody>
      </p:sp>
      <p:sp>
        <p:nvSpPr>
          <p:cNvPr id="51" name="Rectangle 50"/>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_v3_ph-karigar.jpg"/>
          <p:cNvPicPr>
            <a:picLocks noChangeAspect="1"/>
          </p:cNvPicPr>
          <p:nvPr/>
        </p:nvPicPr>
        <p:blipFill>
          <a:blip r:embed="rId2"/>
          <a:stretch>
            <a:fillRect/>
          </a:stretch>
        </p:blipFill>
        <p:spPr>
          <a:xfrm>
            <a:off x="8732520" y="1828800"/>
            <a:ext cx="2651760" cy="4297680"/>
          </a:xfrm>
          <a:prstGeom prst="rect">
            <a:avLst/>
          </a:prstGeom>
        </p:spPr>
      </p:pic>
      <p:sp>
        <p:nvSpPr>
          <p:cNvPr id="53" name="TextBox 52"/>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Scaling craft means scaling hands — the karigar is the bottleneck and the moat.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EVALUATION · MEASURING PERFORMANCE</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Profit alone would have killed it in 2023.</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12 / 15</a:t>
            </a:r>
          </a:p>
        </p:txBody>
      </p:sp>
      <p:sp>
        <p:nvSpPr>
          <p:cNvPr id="8" name="TextBox 7"/>
          <p:cNvSpPr txBox="1"/>
          <p:nvPr/>
        </p:nvSpPr>
        <p:spPr>
          <a:xfrm>
            <a:off x="822960" y="1847088"/>
            <a:ext cx="1783080" cy="228600"/>
          </a:xfrm>
          <a:prstGeom prst="rect">
            <a:avLst/>
          </a:prstGeom>
          <a:noFill/>
        </p:spPr>
        <p:txBody>
          <a:bodyPr wrap="square" anchor="t" lIns="0" rIns="0" tIns="0" bIns="0">
            <a:spAutoFit/>
          </a:bodyPr>
          <a:lstStyle/>
          <a:p>
            <a:pPr algn="l">
              <a:lnSpc>
                <a:spcPct val="115000"/>
              </a:lnSpc>
              <a:spcAft>
                <a:spcPts val="0"/>
              </a:spcAft>
            </a:pPr>
            <a:r>
              <a:rPr sz="860" b="1" i="0" spc="150">
                <a:solidFill>
                  <a:srgbClr val="8C6248"/>
                </a:solidFill>
                <a:latin typeface="Calibri"/>
              </a:rPr>
              <a:t>FINANCIAL</a:t>
            </a:r>
          </a:p>
        </p:txBody>
      </p:sp>
      <p:sp>
        <p:nvSpPr>
          <p:cNvPr id="9" name="Rectangle 8"/>
          <p:cNvSpPr/>
          <p:nvPr/>
        </p:nvSpPr>
        <p:spPr>
          <a:xfrm>
            <a:off x="822960" y="2084831"/>
            <a:ext cx="17830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2194560"/>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revenue</a:t>
            </a:r>
          </a:p>
        </p:txBody>
      </p:sp>
      <p:sp>
        <p:nvSpPr>
          <p:cNvPr id="11" name="TextBox 10"/>
          <p:cNvSpPr txBox="1"/>
          <p:nvPr/>
        </p:nvSpPr>
        <p:spPr>
          <a:xfrm>
            <a:off x="1714500" y="2194560"/>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₹2.9 Cr</a:t>
            </a:r>
          </a:p>
        </p:txBody>
      </p:sp>
      <p:sp>
        <p:nvSpPr>
          <p:cNvPr id="12" name="TextBox 11"/>
          <p:cNvSpPr txBox="1"/>
          <p:nvPr/>
        </p:nvSpPr>
        <p:spPr>
          <a:xfrm>
            <a:off x="2195931" y="2194560"/>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₹16–30 Cr</a:t>
            </a:r>
          </a:p>
        </p:txBody>
      </p:sp>
      <p:sp>
        <p:nvSpPr>
          <p:cNvPr id="13" name="TextBox 12"/>
          <p:cNvSpPr txBox="1"/>
          <p:nvPr/>
        </p:nvSpPr>
        <p:spPr>
          <a:xfrm>
            <a:off x="822960" y="2523744"/>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CM2 margin</a:t>
            </a:r>
          </a:p>
        </p:txBody>
      </p:sp>
      <p:sp>
        <p:nvSpPr>
          <p:cNvPr id="14" name="TextBox 13"/>
          <p:cNvSpPr txBox="1"/>
          <p:nvPr/>
        </p:nvSpPr>
        <p:spPr>
          <a:xfrm>
            <a:off x="1714500" y="2523744"/>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~11%</a:t>
            </a:r>
          </a:p>
        </p:txBody>
      </p:sp>
      <p:sp>
        <p:nvSpPr>
          <p:cNvPr id="15" name="TextBox 14"/>
          <p:cNvSpPr txBox="1"/>
          <p:nvPr/>
        </p:nvSpPr>
        <p:spPr>
          <a:xfrm>
            <a:off x="2195931" y="2523744"/>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18%</a:t>
            </a:r>
          </a:p>
        </p:txBody>
      </p:sp>
      <p:sp>
        <p:nvSpPr>
          <p:cNvPr id="16" name="TextBox 15"/>
          <p:cNvSpPr txBox="1"/>
          <p:nvPr/>
        </p:nvSpPr>
        <p:spPr>
          <a:xfrm>
            <a:off x="822960" y="2852927"/>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marketing / rev</a:t>
            </a:r>
          </a:p>
        </p:txBody>
      </p:sp>
      <p:sp>
        <p:nvSpPr>
          <p:cNvPr id="17" name="TextBox 16"/>
          <p:cNvSpPr txBox="1"/>
          <p:nvPr/>
        </p:nvSpPr>
        <p:spPr>
          <a:xfrm>
            <a:off x="1714500" y="2852927"/>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~35%</a:t>
            </a:r>
          </a:p>
        </p:txBody>
      </p:sp>
      <p:sp>
        <p:nvSpPr>
          <p:cNvPr id="18" name="TextBox 17"/>
          <p:cNvSpPr txBox="1"/>
          <p:nvPr/>
        </p:nvSpPr>
        <p:spPr>
          <a:xfrm>
            <a:off x="2195931" y="2852927"/>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22%</a:t>
            </a:r>
          </a:p>
        </p:txBody>
      </p:sp>
      <p:sp>
        <p:nvSpPr>
          <p:cNvPr id="19" name="TextBox 18"/>
          <p:cNvSpPr txBox="1"/>
          <p:nvPr/>
        </p:nvSpPr>
        <p:spPr>
          <a:xfrm>
            <a:off x="822960" y="3182111"/>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cash</a:t>
            </a:r>
          </a:p>
        </p:txBody>
      </p:sp>
      <p:sp>
        <p:nvSpPr>
          <p:cNvPr id="20" name="TextBox 19"/>
          <p:cNvSpPr txBox="1"/>
          <p:nvPr/>
        </p:nvSpPr>
        <p:spPr>
          <a:xfrm>
            <a:off x="1714500" y="3182111"/>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₹85 lakh</a:t>
            </a:r>
          </a:p>
        </p:txBody>
      </p:sp>
      <p:sp>
        <p:nvSpPr>
          <p:cNvPr id="21" name="TextBox 20"/>
          <p:cNvSpPr txBox="1"/>
          <p:nvPr/>
        </p:nvSpPr>
        <p:spPr>
          <a:xfrm>
            <a:off x="2195931" y="3182111"/>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12-mo runway</a:t>
            </a:r>
          </a:p>
        </p:txBody>
      </p:sp>
      <p:sp>
        <p:nvSpPr>
          <p:cNvPr id="22" name="TextBox 21"/>
          <p:cNvSpPr txBox="1"/>
          <p:nvPr/>
        </p:nvSpPr>
        <p:spPr>
          <a:xfrm>
            <a:off x="2743200" y="1847088"/>
            <a:ext cx="1783080" cy="228600"/>
          </a:xfrm>
          <a:prstGeom prst="rect">
            <a:avLst/>
          </a:prstGeom>
          <a:noFill/>
        </p:spPr>
        <p:txBody>
          <a:bodyPr wrap="square" anchor="t" lIns="0" rIns="0" tIns="0" bIns="0">
            <a:spAutoFit/>
          </a:bodyPr>
          <a:lstStyle/>
          <a:p>
            <a:pPr algn="l">
              <a:lnSpc>
                <a:spcPct val="115000"/>
              </a:lnSpc>
              <a:spcAft>
                <a:spcPts val="0"/>
              </a:spcAft>
            </a:pPr>
            <a:r>
              <a:rPr sz="860" b="1" i="0" spc="150">
                <a:solidFill>
                  <a:srgbClr val="8C6248"/>
                </a:solidFill>
                <a:latin typeface="Calibri"/>
              </a:rPr>
              <a:t>CUSTOMER</a:t>
            </a:r>
          </a:p>
        </p:txBody>
      </p:sp>
      <p:sp>
        <p:nvSpPr>
          <p:cNvPr id="23" name="Rectangle 22"/>
          <p:cNvSpPr/>
          <p:nvPr/>
        </p:nvSpPr>
        <p:spPr>
          <a:xfrm>
            <a:off x="2743200" y="2084831"/>
            <a:ext cx="17830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743200" y="2194560"/>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repeat rate</a:t>
            </a:r>
          </a:p>
        </p:txBody>
      </p:sp>
      <p:sp>
        <p:nvSpPr>
          <p:cNvPr id="25" name="TextBox 24"/>
          <p:cNvSpPr txBox="1"/>
          <p:nvPr/>
        </p:nvSpPr>
        <p:spPr>
          <a:xfrm>
            <a:off x="3634740" y="2194560"/>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n.d.</a:t>
            </a:r>
          </a:p>
        </p:txBody>
      </p:sp>
      <p:sp>
        <p:nvSpPr>
          <p:cNvPr id="26" name="TextBox 25"/>
          <p:cNvSpPr txBox="1"/>
          <p:nvPr/>
        </p:nvSpPr>
        <p:spPr>
          <a:xfrm>
            <a:off x="4116171" y="2194560"/>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25–35%</a:t>
            </a:r>
          </a:p>
        </p:txBody>
      </p:sp>
      <p:sp>
        <p:nvSpPr>
          <p:cNvPr id="27" name="TextBox 26"/>
          <p:cNvSpPr txBox="1"/>
          <p:nvPr/>
        </p:nvSpPr>
        <p:spPr>
          <a:xfrm>
            <a:off x="2743200" y="2523744"/>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7-day sell-through</a:t>
            </a:r>
          </a:p>
        </p:txBody>
      </p:sp>
      <p:sp>
        <p:nvSpPr>
          <p:cNvPr id="28" name="TextBox 27"/>
          <p:cNvSpPr txBox="1"/>
          <p:nvPr/>
        </p:nvSpPr>
        <p:spPr>
          <a:xfrm>
            <a:off x="3634740" y="2523744"/>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variable</a:t>
            </a:r>
          </a:p>
        </p:txBody>
      </p:sp>
      <p:sp>
        <p:nvSpPr>
          <p:cNvPr id="29" name="TextBox 28"/>
          <p:cNvSpPr txBox="1"/>
          <p:nvPr/>
        </p:nvSpPr>
        <p:spPr>
          <a:xfrm>
            <a:off x="4116171" y="2523744"/>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&gt;80%</a:t>
            </a:r>
          </a:p>
        </p:txBody>
      </p:sp>
      <p:sp>
        <p:nvSpPr>
          <p:cNvPr id="30" name="TextBox 29"/>
          <p:cNvSpPr txBox="1"/>
          <p:nvPr/>
        </p:nvSpPr>
        <p:spPr>
          <a:xfrm>
            <a:off x="2743200" y="2852927"/>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export share</a:t>
            </a:r>
          </a:p>
        </p:txBody>
      </p:sp>
      <p:sp>
        <p:nvSpPr>
          <p:cNvPr id="31" name="TextBox 30"/>
          <p:cNvSpPr txBox="1"/>
          <p:nvPr/>
        </p:nvSpPr>
        <p:spPr>
          <a:xfrm>
            <a:off x="3634740" y="2852927"/>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~25%</a:t>
            </a:r>
          </a:p>
        </p:txBody>
      </p:sp>
      <p:sp>
        <p:nvSpPr>
          <p:cNvPr id="32" name="TextBox 31"/>
          <p:cNvSpPr txBox="1"/>
          <p:nvPr/>
        </p:nvSpPr>
        <p:spPr>
          <a:xfrm>
            <a:off x="4116171" y="2852927"/>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35%</a:t>
            </a:r>
          </a:p>
        </p:txBody>
      </p:sp>
      <p:sp>
        <p:nvSpPr>
          <p:cNvPr id="33" name="TextBox 32"/>
          <p:cNvSpPr txBox="1"/>
          <p:nvPr/>
        </p:nvSpPr>
        <p:spPr>
          <a:xfrm>
            <a:off x="2743200" y="3182111"/>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community</a:t>
            </a:r>
          </a:p>
        </p:txBody>
      </p:sp>
      <p:sp>
        <p:nvSpPr>
          <p:cNvPr id="34" name="TextBox 33"/>
          <p:cNvSpPr txBox="1"/>
          <p:nvPr/>
        </p:nvSpPr>
        <p:spPr>
          <a:xfrm>
            <a:off x="3634740" y="3182111"/>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3.6k</a:t>
            </a:r>
          </a:p>
        </p:txBody>
      </p:sp>
      <p:sp>
        <p:nvSpPr>
          <p:cNvPr id="35" name="TextBox 34"/>
          <p:cNvSpPr txBox="1"/>
          <p:nvPr/>
        </p:nvSpPr>
        <p:spPr>
          <a:xfrm>
            <a:off x="4116171" y="3182111"/>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100k</a:t>
            </a:r>
          </a:p>
        </p:txBody>
      </p:sp>
      <p:sp>
        <p:nvSpPr>
          <p:cNvPr id="36" name="TextBox 35"/>
          <p:cNvSpPr txBox="1"/>
          <p:nvPr/>
        </p:nvSpPr>
        <p:spPr>
          <a:xfrm>
            <a:off x="4663440" y="1847088"/>
            <a:ext cx="1783080" cy="228600"/>
          </a:xfrm>
          <a:prstGeom prst="rect">
            <a:avLst/>
          </a:prstGeom>
          <a:noFill/>
        </p:spPr>
        <p:txBody>
          <a:bodyPr wrap="square" anchor="t" lIns="0" rIns="0" tIns="0" bIns="0">
            <a:spAutoFit/>
          </a:bodyPr>
          <a:lstStyle/>
          <a:p>
            <a:pPr algn="l">
              <a:lnSpc>
                <a:spcPct val="115000"/>
              </a:lnSpc>
              <a:spcAft>
                <a:spcPts val="0"/>
              </a:spcAft>
            </a:pPr>
            <a:r>
              <a:rPr sz="860" b="1" i="0" spc="150">
                <a:solidFill>
                  <a:srgbClr val="8C6248"/>
                </a:solidFill>
                <a:latin typeface="Calibri"/>
              </a:rPr>
              <a:t>INTERNAL PROCESS</a:t>
            </a:r>
          </a:p>
        </p:txBody>
      </p:sp>
      <p:sp>
        <p:nvSpPr>
          <p:cNvPr id="37" name="Rectangle 36"/>
          <p:cNvSpPr/>
          <p:nvPr/>
        </p:nvSpPr>
        <p:spPr>
          <a:xfrm>
            <a:off x="4663440" y="2084831"/>
            <a:ext cx="17830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663440" y="2194560"/>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pairs / month</a:t>
            </a:r>
          </a:p>
        </p:txBody>
      </p:sp>
      <p:sp>
        <p:nvSpPr>
          <p:cNvPr id="39" name="TextBox 38"/>
          <p:cNvSpPr txBox="1"/>
          <p:nvPr/>
        </p:nvSpPr>
        <p:spPr>
          <a:xfrm>
            <a:off x="5554979" y="2194560"/>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~5,000</a:t>
            </a:r>
          </a:p>
        </p:txBody>
      </p:sp>
      <p:sp>
        <p:nvSpPr>
          <p:cNvPr id="40" name="TextBox 39"/>
          <p:cNvSpPr txBox="1"/>
          <p:nvPr/>
        </p:nvSpPr>
        <p:spPr>
          <a:xfrm>
            <a:off x="6036411" y="2194560"/>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12,000</a:t>
            </a:r>
          </a:p>
        </p:txBody>
      </p:sp>
      <p:sp>
        <p:nvSpPr>
          <p:cNvPr id="41" name="TextBox 40"/>
          <p:cNvSpPr txBox="1"/>
          <p:nvPr/>
        </p:nvSpPr>
        <p:spPr>
          <a:xfrm>
            <a:off x="4663440" y="2523744"/>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days per pair</a:t>
            </a:r>
          </a:p>
        </p:txBody>
      </p:sp>
      <p:sp>
        <p:nvSpPr>
          <p:cNvPr id="42" name="TextBox 41"/>
          <p:cNvSpPr txBox="1"/>
          <p:nvPr/>
        </p:nvSpPr>
        <p:spPr>
          <a:xfrm>
            <a:off x="5554979" y="2523744"/>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~4</a:t>
            </a:r>
          </a:p>
        </p:txBody>
      </p:sp>
      <p:sp>
        <p:nvSpPr>
          <p:cNvPr id="43" name="TextBox 42"/>
          <p:cNvSpPr txBox="1"/>
          <p:nvPr/>
        </p:nvSpPr>
        <p:spPr>
          <a:xfrm>
            <a:off x="6036411" y="2523744"/>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2.5</a:t>
            </a:r>
          </a:p>
        </p:txBody>
      </p:sp>
      <p:sp>
        <p:nvSpPr>
          <p:cNvPr id="44" name="TextBox 43"/>
          <p:cNvSpPr txBox="1"/>
          <p:nvPr/>
        </p:nvSpPr>
        <p:spPr>
          <a:xfrm>
            <a:off x="4663440" y="2852927"/>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returns</a:t>
            </a:r>
          </a:p>
        </p:txBody>
      </p:sp>
      <p:sp>
        <p:nvSpPr>
          <p:cNvPr id="45" name="TextBox 44"/>
          <p:cNvSpPr txBox="1"/>
          <p:nvPr/>
        </p:nvSpPr>
        <p:spPr>
          <a:xfrm>
            <a:off x="5554979" y="2852927"/>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n.d.</a:t>
            </a:r>
          </a:p>
        </p:txBody>
      </p:sp>
      <p:sp>
        <p:nvSpPr>
          <p:cNvPr id="46" name="TextBox 45"/>
          <p:cNvSpPr txBox="1"/>
          <p:nvPr/>
        </p:nvSpPr>
        <p:spPr>
          <a:xfrm>
            <a:off x="6036411" y="2852927"/>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&lt;5%</a:t>
            </a:r>
          </a:p>
        </p:txBody>
      </p:sp>
      <p:sp>
        <p:nvSpPr>
          <p:cNvPr id="47" name="TextBox 46"/>
          <p:cNvSpPr txBox="1"/>
          <p:nvPr/>
        </p:nvSpPr>
        <p:spPr>
          <a:xfrm>
            <a:off x="4663440" y="3182111"/>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on-time drops</a:t>
            </a:r>
          </a:p>
        </p:txBody>
      </p:sp>
      <p:sp>
        <p:nvSpPr>
          <p:cNvPr id="48" name="TextBox 47"/>
          <p:cNvSpPr txBox="1"/>
          <p:nvPr/>
        </p:nvSpPr>
        <p:spPr>
          <a:xfrm>
            <a:off x="5554979" y="3182111"/>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60-day</a:t>
            </a:r>
          </a:p>
        </p:txBody>
      </p:sp>
      <p:sp>
        <p:nvSpPr>
          <p:cNvPr id="49" name="TextBox 48"/>
          <p:cNvSpPr txBox="1"/>
          <p:nvPr/>
        </p:nvSpPr>
        <p:spPr>
          <a:xfrm>
            <a:off x="6036411" y="3182111"/>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100%</a:t>
            </a:r>
          </a:p>
        </p:txBody>
      </p:sp>
      <p:sp>
        <p:nvSpPr>
          <p:cNvPr id="50" name="TextBox 49"/>
          <p:cNvSpPr txBox="1"/>
          <p:nvPr/>
        </p:nvSpPr>
        <p:spPr>
          <a:xfrm>
            <a:off x="6583679" y="1847088"/>
            <a:ext cx="1783080" cy="228600"/>
          </a:xfrm>
          <a:prstGeom prst="rect">
            <a:avLst/>
          </a:prstGeom>
          <a:noFill/>
        </p:spPr>
        <p:txBody>
          <a:bodyPr wrap="square" anchor="t" lIns="0" rIns="0" tIns="0" bIns="0">
            <a:spAutoFit/>
          </a:bodyPr>
          <a:lstStyle/>
          <a:p>
            <a:pPr algn="l">
              <a:lnSpc>
                <a:spcPct val="115000"/>
              </a:lnSpc>
              <a:spcAft>
                <a:spcPts val="0"/>
              </a:spcAft>
            </a:pPr>
            <a:r>
              <a:rPr sz="860" b="1" i="0" spc="150">
                <a:solidFill>
                  <a:srgbClr val="8C6248"/>
                </a:solidFill>
                <a:latin typeface="Calibri"/>
              </a:rPr>
              <a:t>LEARNING &amp; GROWTH</a:t>
            </a:r>
          </a:p>
        </p:txBody>
      </p:sp>
      <p:sp>
        <p:nvSpPr>
          <p:cNvPr id="51" name="Rectangle 50"/>
          <p:cNvSpPr/>
          <p:nvPr/>
        </p:nvSpPr>
        <p:spPr>
          <a:xfrm>
            <a:off x="6583679" y="2084831"/>
            <a:ext cx="17830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583679" y="2194560"/>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karigars</a:t>
            </a:r>
          </a:p>
        </p:txBody>
      </p:sp>
      <p:sp>
        <p:nvSpPr>
          <p:cNvPr id="53" name="TextBox 52"/>
          <p:cNvSpPr txBox="1"/>
          <p:nvPr/>
        </p:nvSpPr>
        <p:spPr>
          <a:xfrm>
            <a:off x="7475219" y="2194560"/>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~100</a:t>
            </a:r>
          </a:p>
        </p:txBody>
      </p:sp>
      <p:sp>
        <p:nvSpPr>
          <p:cNvPr id="54" name="TextBox 53"/>
          <p:cNvSpPr txBox="1"/>
          <p:nvPr/>
        </p:nvSpPr>
        <p:spPr>
          <a:xfrm>
            <a:off x="7956651" y="2194560"/>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220</a:t>
            </a:r>
          </a:p>
        </p:txBody>
      </p:sp>
      <p:sp>
        <p:nvSpPr>
          <p:cNvPr id="55" name="TextBox 54"/>
          <p:cNvSpPr txBox="1"/>
          <p:nvPr/>
        </p:nvSpPr>
        <p:spPr>
          <a:xfrm>
            <a:off x="6583679" y="2523744"/>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attrition</a:t>
            </a:r>
          </a:p>
        </p:txBody>
      </p:sp>
      <p:sp>
        <p:nvSpPr>
          <p:cNvPr id="56" name="TextBox 55"/>
          <p:cNvSpPr txBox="1"/>
          <p:nvPr/>
        </p:nvSpPr>
        <p:spPr>
          <a:xfrm>
            <a:off x="7475219" y="2523744"/>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n.d.</a:t>
            </a:r>
          </a:p>
        </p:txBody>
      </p:sp>
      <p:sp>
        <p:nvSpPr>
          <p:cNvPr id="57" name="TextBox 56"/>
          <p:cNvSpPr txBox="1"/>
          <p:nvPr/>
        </p:nvSpPr>
        <p:spPr>
          <a:xfrm>
            <a:off x="7956651" y="2523744"/>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&lt;7%</a:t>
            </a:r>
          </a:p>
        </p:txBody>
      </p:sp>
      <p:sp>
        <p:nvSpPr>
          <p:cNvPr id="58" name="TextBox 57"/>
          <p:cNvSpPr txBox="1"/>
          <p:nvPr/>
        </p:nvSpPr>
        <p:spPr>
          <a:xfrm>
            <a:off x="6583679" y="2852927"/>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silhouettes / yr</a:t>
            </a:r>
          </a:p>
        </p:txBody>
      </p:sp>
      <p:sp>
        <p:nvSpPr>
          <p:cNvPr id="59" name="TextBox 58"/>
          <p:cNvSpPr txBox="1"/>
          <p:nvPr/>
        </p:nvSpPr>
        <p:spPr>
          <a:xfrm>
            <a:off x="7475219" y="2852927"/>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2–3</a:t>
            </a:r>
          </a:p>
        </p:txBody>
      </p:sp>
      <p:sp>
        <p:nvSpPr>
          <p:cNvPr id="60" name="TextBox 59"/>
          <p:cNvSpPr txBox="1"/>
          <p:nvPr/>
        </p:nvSpPr>
        <p:spPr>
          <a:xfrm>
            <a:off x="7956651" y="2852927"/>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4</a:t>
            </a:r>
          </a:p>
        </p:txBody>
      </p:sp>
      <p:sp>
        <p:nvSpPr>
          <p:cNvPr id="61" name="TextBox 60"/>
          <p:cNvSpPr txBox="1"/>
          <p:nvPr/>
        </p:nvSpPr>
        <p:spPr>
          <a:xfrm>
            <a:off x="6583679" y="3182111"/>
            <a:ext cx="891540" cy="274320"/>
          </a:xfrm>
          <a:prstGeom prst="rect">
            <a:avLst/>
          </a:prstGeom>
          <a:noFill/>
        </p:spPr>
        <p:txBody>
          <a:bodyPr wrap="square" anchor="t" lIns="0" rIns="0" tIns="0" bIns="0">
            <a:spAutoFit/>
          </a:bodyPr>
          <a:lstStyle/>
          <a:p>
            <a:pPr algn="l">
              <a:lnSpc>
                <a:spcPct val="115000"/>
              </a:lnSpc>
              <a:spcAft>
                <a:spcPts val="0"/>
              </a:spcAft>
            </a:pPr>
            <a:r>
              <a:rPr sz="760" b="1" i="0">
                <a:solidFill>
                  <a:srgbClr val="221B15"/>
                </a:solidFill>
                <a:latin typeface="Calibri"/>
              </a:rPr>
              <a:t>senior hires</a:t>
            </a:r>
          </a:p>
        </p:txBody>
      </p:sp>
      <p:sp>
        <p:nvSpPr>
          <p:cNvPr id="62" name="TextBox 61"/>
          <p:cNvSpPr txBox="1"/>
          <p:nvPr/>
        </p:nvSpPr>
        <p:spPr>
          <a:xfrm>
            <a:off x="7475219" y="3182111"/>
            <a:ext cx="445770" cy="274320"/>
          </a:xfrm>
          <a:prstGeom prst="rect">
            <a:avLst/>
          </a:prstGeom>
          <a:noFill/>
        </p:spPr>
        <p:txBody>
          <a:bodyPr wrap="square" anchor="t" lIns="0" rIns="0" tIns="0" bIns="0">
            <a:spAutoFit/>
          </a:bodyPr>
          <a:lstStyle/>
          <a:p>
            <a:pPr algn="l">
              <a:lnSpc>
                <a:spcPct val="115000"/>
              </a:lnSpc>
              <a:spcAft>
                <a:spcPts val="0"/>
              </a:spcAft>
            </a:pPr>
            <a:r>
              <a:rPr sz="720" b="0" i="0">
                <a:solidFill>
                  <a:srgbClr val="8A8177"/>
                </a:solidFill>
                <a:latin typeface="Calibri"/>
              </a:rPr>
              <a:t>started</a:t>
            </a:r>
          </a:p>
        </p:txBody>
      </p:sp>
      <p:sp>
        <p:nvSpPr>
          <p:cNvPr id="63" name="TextBox 62"/>
          <p:cNvSpPr txBox="1"/>
          <p:nvPr/>
        </p:nvSpPr>
        <p:spPr>
          <a:xfrm>
            <a:off x="7956651" y="3182111"/>
            <a:ext cx="410108" cy="274320"/>
          </a:xfrm>
          <a:prstGeom prst="rect">
            <a:avLst/>
          </a:prstGeom>
          <a:noFill/>
        </p:spPr>
        <p:txBody>
          <a:bodyPr wrap="square" anchor="t" lIns="0" rIns="0" tIns="0" bIns="0">
            <a:spAutoFit/>
          </a:bodyPr>
          <a:lstStyle/>
          <a:p>
            <a:pPr algn="l">
              <a:lnSpc>
                <a:spcPct val="115000"/>
              </a:lnSpc>
              <a:spcAft>
                <a:spcPts val="0"/>
              </a:spcAft>
            </a:pPr>
            <a:r>
              <a:rPr sz="760" b="0" i="0">
                <a:solidFill>
                  <a:srgbClr val="8C6248"/>
                </a:solidFill>
                <a:latin typeface="Georgia"/>
              </a:rPr>
              <a:t>6</a:t>
            </a:r>
          </a:p>
        </p:txBody>
      </p:sp>
      <p:sp>
        <p:nvSpPr>
          <p:cNvPr id="64" name="Rectangle 63"/>
          <p:cNvSpPr/>
          <p:nvPr/>
        </p:nvSpPr>
        <p:spPr>
          <a:xfrm>
            <a:off x="822960" y="3931920"/>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822960" y="4041648"/>
            <a:ext cx="7543800" cy="822960"/>
          </a:xfrm>
          <a:prstGeom prst="rect">
            <a:avLst/>
          </a:prstGeom>
          <a:noFill/>
        </p:spPr>
        <p:txBody>
          <a:bodyPr wrap="square" anchor="t" lIns="0" rIns="0" tIns="0" bIns="0">
            <a:spAutoFit/>
          </a:bodyPr>
          <a:lstStyle/>
          <a:p>
            <a:pPr algn="l">
              <a:lnSpc>
                <a:spcPct val="122000"/>
              </a:lnSpc>
              <a:spcAft>
                <a:spcPts val="0"/>
              </a:spcAft>
            </a:pPr>
            <a:r>
              <a:rPr sz="960" b="0" i="1">
                <a:solidFill>
                  <a:srgbClr val="4A443C"/>
                </a:solidFill>
                <a:latin typeface="Georgia"/>
              </a:rPr>
              <a:t>“A financial-only scorecard would have told them to shut the factory in 2023. The balanced one is what justifies investing in brand, craft and community before profit.” Muted numbers are disclosed baselines; the Georgia targets are our proposed FY27 scoreboard — say that distinction out loud.</a:t>
            </a:r>
          </a:p>
        </p:txBody>
      </p:sp>
      <p:sp>
        <p:nvSpPr>
          <p:cNvPr id="66" name="TextBox 65"/>
          <p:cNvSpPr txBox="1"/>
          <p:nvPr/>
        </p:nvSpPr>
        <p:spPr>
          <a:xfrm>
            <a:off x="822960" y="5029200"/>
            <a:ext cx="7543800" cy="274320"/>
          </a:xfrm>
          <a:prstGeom prst="rect">
            <a:avLst/>
          </a:prstGeom>
          <a:noFill/>
        </p:spPr>
        <p:txBody>
          <a:bodyPr wrap="square" anchor="t" lIns="0" rIns="0" tIns="0" bIns="0">
            <a:spAutoFit/>
          </a:bodyPr>
          <a:lstStyle/>
          <a:p>
            <a:pPr algn="l">
              <a:lnSpc>
                <a:spcPct val="115000"/>
              </a:lnSpc>
              <a:spcAft>
                <a:spcPts val="0"/>
              </a:spcAft>
            </a:pPr>
            <a:r>
              <a:rPr sz="840" b="0" i="0" spc="110">
                <a:solidFill>
                  <a:srgbClr val="8A8177"/>
                </a:solidFill>
                <a:latin typeface="Calibri"/>
              </a:rPr>
              <a:t>READ ONE ROW PER QUADRANT ALOUD: revenue · repeat purchase · pairs per month · karigar attrition.</a:t>
            </a:r>
          </a:p>
        </p:txBody>
      </p:sp>
      <p:sp>
        <p:nvSpPr>
          <p:cNvPr id="67" name="Rectangle 66"/>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8" name="Picture 67" descr="_v3_ph-store-community.jpg"/>
          <p:cNvPicPr>
            <a:picLocks noChangeAspect="1"/>
          </p:cNvPicPr>
          <p:nvPr/>
        </p:nvPicPr>
        <p:blipFill>
          <a:blip r:embed="rId2"/>
          <a:stretch>
            <a:fillRect/>
          </a:stretch>
        </p:blipFill>
        <p:spPr>
          <a:xfrm>
            <a:off x="8732520" y="1828800"/>
            <a:ext cx="2651760" cy="4297680"/>
          </a:xfrm>
          <a:prstGeom prst="rect">
            <a:avLst/>
          </a:prstGeom>
        </p:spPr>
      </p:pic>
      <p:sp>
        <p:nvSpPr>
          <p:cNvPr id="69" name="TextBox 68"/>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The customer perspective, live: the store wall and its community.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EVALUATION · CONTROL &amp; CONTINGENCY</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The week that cost ₹2 lakh.</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13 / 15</a:t>
            </a:r>
          </a:p>
        </p:txBody>
      </p:sp>
      <p:sp>
        <p:nvSpPr>
          <p:cNvPr id="8" name="TextBox 7"/>
          <p:cNvSpPr txBox="1"/>
          <p:nvPr/>
        </p:nvSpPr>
        <p:spPr>
          <a:xfrm>
            <a:off x="822960" y="1810512"/>
            <a:ext cx="5486400" cy="228600"/>
          </a:xfrm>
          <a:prstGeom prst="rect">
            <a:avLst/>
          </a:prstGeom>
          <a:noFill/>
        </p:spPr>
        <p:txBody>
          <a:bodyPr wrap="square" anchor="t" lIns="0" rIns="0" tIns="0" bIns="0">
            <a:spAutoFit/>
          </a:bodyPr>
          <a:lstStyle/>
          <a:p>
            <a:pPr algn="l">
              <a:lnSpc>
                <a:spcPct val="115000"/>
              </a:lnSpc>
              <a:spcAft>
                <a:spcPts val="0"/>
              </a:spcAft>
            </a:pPr>
            <a:r>
              <a:rPr sz="880" b="0" i="0" spc="150">
                <a:solidFill>
                  <a:srgbClr val="8C6248"/>
                </a:solidFill>
                <a:latin typeface="Calibri"/>
              </a:rPr>
              <a:t>STRATEGIC  vs  OPERATIONAL  CONTROL</a:t>
            </a:r>
          </a:p>
        </p:txBody>
      </p:sp>
      <p:sp>
        <p:nvSpPr>
          <p:cNvPr id="9" name="TextBox 8"/>
          <p:cNvSpPr txBox="1"/>
          <p:nvPr/>
        </p:nvSpPr>
        <p:spPr>
          <a:xfrm>
            <a:off x="822960" y="2048256"/>
            <a:ext cx="1051560" cy="274320"/>
          </a:xfrm>
          <a:prstGeom prst="rect">
            <a:avLst/>
          </a:prstGeom>
          <a:noFill/>
        </p:spPr>
        <p:txBody>
          <a:bodyPr wrap="square" anchor="t" lIns="0" rIns="0" tIns="0" bIns="0">
            <a:spAutoFit/>
          </a:bodyPr>
          <a:lstStyle/>
          <a:p>
            <a:pPr algn="l">
              <a:lnSpc>
                <a:spcPct val="115000"/>
              </a:lnSpc>
              <a:spcAft>
                <a:spcPts val="0"/>
              </a:spcAft>
            </a:pPr>
            <a:r>
              <a:rPr sz="819" b="1" i="0" spc="100">
                <a:solidFill>
                  <a:srgbClr val="221B15"/>
                </a:solidFill>
                <a:latin typeface="Calibri"/>
              </a:rPr>
              <a:t>QUESTION</a:t>
            </a:r>
          </a:p>
        </p:txBody>
      </p:sp>
      <p:sp>
        <p:nvSpPr>
          <p:cNvPr id="10" name="TextBox 9"/>
          <p:cNvSpPr txBox="1"/>
          <p:nvPr/>
        </p:nvSpPr>
        <p:spPr>
          <a:xfrm>
            <a:off x="1920240" y="2048256"/>
            <a:ext cx="3108960" cy="365760"/>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are we on the right course?</a:t>
            </a:r>
          </a:p>
        </p:txBody>
      </p:sp>
      <p:sp>
        <p:nvSpPr>
          <p:cNvPr id="11" name="TextBox 10"/>
          <p:cNvSpPr txBox="1"/>
          <p:nvPr/>
        </p:nvSpPr>
        <p:spPr>
          <a:xfrm>
            <a:off x="5120640" y="2048256"/>
            <a:ext cx="3246120" cy="365760"/>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is today’s task done right?</a:t>
            </a:r>
          </a:p>
        </p:txBody>
      </p:sp>
      <p:sp>
        <p:nvSpPr>
          <p:cNvPr id="12" name="Rectangle 11"/>
          <p:cNvSpPr/>
          <p:nvPr/>
        </p:nvSpPr>
        <p:spPr>
          <a:xfrm>
            <a:off x="822960" y="2432304"/>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2960" y="2505456"/>
            <a:ext cx="1051560" cy="274320"/>
          </a:xfrm>
          <a:prstGeom prst="rect">
            <a:avLst/>
          </a:prstGeom>
          <a:noFill/>
        </p:spPr>
        <p:txBody>
          <a:bodyPr wrap="square" anchor="t" lIns="0" rIns="0" tIns="0" bIns="0">
            <a:spAutoFit/>
          </a:bodyPr>
          <a:lstStyle/>
          <a:p>
            <a:pPr algn="l">
              <a:lnSpc>
                <a:spcPct val="115000"/>
              </a:lnSpc>
              <a:spcAft>
                <a:spcPts val="0"/>
              </a:spcAft>
            </a:pPr>
            <a:r>
              <a:rPr sz="819" b="1" i="0" spc="100">
                <a:solidFill>
                  <a:srgbClr val="221B15"/>
                </a:solidFill>
                <a:latin typeface="Calibri"/>
              </a:rPr>
              <a:t>HORIZON</a:t>
            </a:r>
          </a:p>
        </p:txBody>
      </p:sp>
      <p:sp>
        <p:nvSpPr>
          <p:cNvPr id="14" name="TextBox 13"/>
          <p:cNvSpPr txBox="1"/>
          <p:nvPr/>
        </p:nvSpPr>
        <p:spPr>
          <a:xfrm>
            <a:off x="1920240" y="2505456"/>
            <a:ext cx="3108960" cy="365760"/>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1–3 yrs, per drop cycle</a:t>
            </a:r>
          </a:p>
        </p:txBody>
      </p:sp>
      <p:sp>
        <p:nvSpPr>
          <p:cNvPr id="15" name="TextBox 14"/>
          <p:cNvSpPr txBox="1"/>
          <p:nvPr/>
        </p:nvSpPr>
        <p:spPr>
          <a:xfrm>
            <a:off x="5120640" y="2505456"/>
            <a:ext cx="3246120" cy="365760"/>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daily–monthly</a:t>
            </a:r>
          </a:p>
        </p:txBody>
      </p:sp>
      <p:sp>
        <p:nvSpPr>
          <p:cNvPr id="16" name="Rectangle 15"/>
          <p:cNvSpPr/>
          <p:nvPr/>
        </p:nvSpPr>
        <p:spPr>
          <a:xfrm>
            <a:off x="822960" y="2889504"/>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2960" y="2962656"/>
            <a:ext cx="1051560" cy="274320"/>
          </a:xfrm>
          <a:prstGeom prst="rect">
            <a:avLst/>
          </a:prstGeom>
          <a:noFill/>
        </p:spPr>
        <p:txBody>
          <a:bodyPr wrap="square" anchor="t" lIns="0" rIns="0" tIns="0" bIns="0">
            <a:spAutoFit/>
          </a:bodyPr>
          <a:lstStyle/>
          <a:p>
            <a:pPr algn="l">
              <a:lnSpc>
                <a:spcPct val="115000"/>
              </a:lnSpc>
              <a:spcAft>
                <a:spcPts val="0"/>
              </a:spcAft>
            </a:pPr>
            <a:r>
              <a:rPr sz="819" b="1" i="0" spc="100">
                <a:solidFill>
                  <a:srgbClr val="221B15"/>
                </a:solidFill>
                <a:latin typeface="Calibri"/>
              </a:rPr>
              <a:t>OWNER</a:t>
            </a:r>
          </a:p>
        </p:txBody>
      </p:sp>
      <p:sp>
        <p:nvSpPr>
          <p:cNvPr id="18" name="TextBox 17"/>
          <p:cNvSpPr txBox="1"/>
          <p:nvPr/>
        </p:nvSpPr>
        <p:spPr>
          <a:xfrm>
            <a:off x="1920240" y="2962656"/>
            <a:ext cx="3108960" cy="365760"/>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founders + board</a:t>
            </a:r>
          </a:p>
        </p:txBody>
      </p:sp>
      <p:sp>
        <p:nvSpPr>
          <p:cNvPr id="19" name="TextBox 18"/>
          <p:cNvSpPr txBox="1"/>
          <p:nvPr/>
        </p:nvSpPr>
        <p:spPr>
          <a:xfrm>
            <a:off x="5120640" y="2962656"/>
            <a:ext cx="3246120" cy="365760"/>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function heads</a:t>
            </a:r>
          </a:p>
        </p:txBody>
      </p:sp>
      <p:sp>
        <p:nvSpPr>
          <p:cNvPr id="20" name="Rectangle 19"/>
          <p:cNvSpPr/>
          <p:nvPr/>
        </p:nvSpPr>
        <p:spPr>
          <a:xfrm>
            <a:off x="822960" y="3346704"/>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960" y="3419856"/>
            <a:ext cx="1051560" cy="274320"/>
          </a:xfrm>
          <a:prstGeom prst="rect">
            <a:avLst/>
          </a:prstGeom>
          <a:noFill/>
        </p:spPr>
        <p:txBody>
          <a:bodyPr wrap="square" anchor="t" lIns="0" rIns="0" tIns="0" bIns="0">
            <a:spAutoFit/>
          </a:bodyPr>
          <a:lstStyle/>
          <a:p>
            <a:pPr algn="l">
              <a:lnSpc>
                <a:spcPct val="115000"/>
              </a:lnSpc>
              <a:spcAft>
                <a:spcPts val="0"/>
              </a:spcAft>
            </a:pPr>
            <a:r>
              <a:rPr sz="819" b="1" i="0" spc="100">
                <a:solidFill>
                  <a:srgbClr val="221B15"/>
                </a:solidFill>
                <a:latin typeface="Calibri"/>
              </a:rPr>
              <a:t>EXAMPLE</a:t>
            </a:r>
          </a:p>
        </p:txBody>
      </p:sp>
      <p:sp>
        <p:nvSpPr>
          <p:cNvPr id="22" name="TextBox 21"/>
          <p:cNvSpPr txBox="1"/>
          <p:nvPr/>
        </p:nvSpPr>
        <p:spPr>
          <a:xfrm>
            <a:off x="1920240" y="3419856"/>
            <a:ext cx="3108960" cy="365760"/>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Mumbai or margin first?</a:t>
            </a:r>
          </a:p>
        </p:txBody>
      </p:sp>
      <p:sp>
        <p:nvSpPr>
          <p:cNvPr id="23" name="TextBox 22"/>
          <p:cNvSpPr txBox="1"/>
          <p:nvPr/>
        </p:nvSpPr>
        <p:spPr>
          <a:xfrm>
            <a:off x="5120640" y="3419856"/>
            <a:ext cx="3246120" cy="365760"/>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stock counts, discount permissions</a:t>
            </a:r>
          </a:p>
        </p:txBody>
      </p:sp>
      <p:sp>
        <p:nvSpPr>
          <p:cNvPr id="24" name="Rectangle 23"/>
          <p:cNvSpPr/>
          <p:nvPr/>
        </p:nvSpPr>
        <p:spPr>
          <a:xfrm>
            <a:off x="822960" y="3803904"/>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2960" y="3877056"/>
            <a:ext cx="1051560" cy="274320"/>
          </a:xfrm>
          <a:prstGeom prst="rect">
            <a:avLst/>
          </a:prstGeom>
          <a:noFill/>
        </p:spPr>
        <p:txBody>
          <a:bodyPr wrap="square" anchor="t" lIns="0" rIns="0" tIns="0" bIns="0">
            <a:spAutoFit/>
          </a:bodyPr>
          <a:lstStyle/>
          <a:p>
            <a:pPr algn="l">
              <a:lnSpc>
                <a:spcPct val="115000"/>
              </a:lnSpc>
              <a:spcAft>
                <a:spcPts val="0"/>
              </a:spcAft>
            </a:pPr>
            <a:r>
              <a:rPr sz="819" b="1" i="0" spc="100">
                <a:solidFill>
                  <a:srgbClr val="221B15"/>
                </a:solidFill>
                <a:latin typeface="Calibri"/>
              </a:rPr>
              <a:t>FAILURE</a:t>
            </a:r>
          </a:p>
        </p:txBody>
      </p:sp>
      <p:sp>
        <p:nvSpPr>
          <p:cNvPr id="26" name="TextBox 25"/>
          <p:cNvSpPr txBox="1"/>
          <p:nvPr/>
        </p:nvSpPr>
        <p:spPr>
          <a:xfrm>
            <a:off x="1920240" y="3877056"/>
            <a:ext cx="3108960" cy="365760"/>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drift into discount volume</a:t>
            </a:r>
          </a:p>
        </p:txBody>
      </p:sp>
      <p:sp>
        <p:nvSpPr>
          <p:cNvPr id="27" name="TextBox 26"/>
          <p:cNvSpPr txBox="1"/>
          <p:nvPr/>
        </p:nvSpPr>
        <p:spPr>
          <a:xfrm>
            <a:off x="5120640" y="3877056"/>
            <a:ext cx="3246120" cy="365760"/>
          </a:xfrm>
          <a:prstGeom prst="rect">
            <a:avLst/>
          </a:prstGeom>
          <a:noFill/>
        </p:spPr>
        <p:txBody>
          <a:bodyPr wrap="square" anchor="t" lIns="0" rIns="0" tIns="0" bIns="0">
            <a:spAutoFit/>
          </a:bodyPr>
          <a:lstStyle/>
          <a:p>
            <a:pPr algn="l">
              <a:lnSpc>
                <a:spcPct val="115000"/>
              </a:lnSpc>
              <a:spcAft>
                <a:spcPts val="0"/>
              </a:spcAft>
            </a:pPr>
            <a:r>
              <a:rPr sz="819" b="0" i="0">
                <a:solidFill>
                  <a:srgbClr val="4A443C"/>
                </a:solidFill>
                <a:latin typeface="Calibri"/>
              </a:rPr>
              <a:t>the Feb ’26 fraud</a:t>
            </a:r>
          </a:p>
        </p:txBody>
      </p:sp>
      <p:sp>
        <p:nvSpPr>
          <p:cNvPr id="28" name="Rectangle 27"/>
          <p:cNvSpPr/>
          <p:nvPr/>
        </p:nvSpPr>
        <p:spPr>
          <a:xfrm>
            <a:off x="822960" y="4261104"/>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22960" y="4434840"/>
            <a:ext cx="7543800" cy="228600"/>
          </a:xfrm>
          <a:prstGeom prst="rect">
            <a:avLst/>
          </a:prstGeom>
          <a:noFill/>
        </p:spPr>
        <p:txBody>
          <a:bodyPr wrap="square" anchor="t" lIns="0" rIns="0" tIns="0" bIns="0">
            <a:spAutoFit/>
          </a:bodyPr>
          <a:lstStyle/>
          <a:p>
            <a:pPr algn="l">
              <a:lnSpc>
                <a:spcPct val="115000"/>
              </a:lnSpc>
              <a:spcAft>
                <a:spcPts val="0"/>
              </a:spcAft>
            </a:pPr>
            <a:r>
              <a:rPr sz="880" b="0" i="0" spc="150">
                <a:solidFill>
                  <a:srgbClr val="8C6248"/>
                </a:solidFill>
                <a:latin typeface="Calibri"/>
              </a:rPr>
              <a:t>STRATEGY AUDIT — SIX QUESTIONS</a:t>
            </a:r>
          </a:p>
        </p:txBody>
      </p:sp>
      <p:sp>
        <p:nvSpPr>
          <p:cNvPr id="30" name="TextBox 29"/>
          <p:cNvSpPr txBox="1"/>
          <p:nvPr/>
        </p:nvSpPr>
        <p:spPr>
          <a:xfrm>
            <a:off x="822960" y="4681728"/>
            <a:ext cx="7543800" cy="640080"/>
          </a:xfrm>
          <a:prstGeom prst="rect">
            <a:avLst/>
          </a:prstGeom>
          <a:noFill/>
        </p:spPr>
        <p:txBody>
          <a:bodyPr wrap="square" anchor="t" lIns="0" rIns="0" tIns="0" bIns="0">
            <a:spAutoFit/>
          </a:bodyPr>
          <a:lstStyle/>
          <a:p>
            <a:pPr algn="l">
              <a:lnSpc>
                <a:spcPct val="120000"/>
              </a:lnSpc>
              <a:spcAft>
                <a:spcPts val="0"/>
              </a:spcAft>
            </a:pPr>
            <a:r>
              <a:rPr sz="819" b="0" i="0">
                <a:solidFill>
                  <a:srgbClr val="4A443C"/>
                </a:solidFill>
                <a:latin typeface="Calibri"/>
              </a:rPr>
              <a:t>01 mission still relevant? · 02 is the appraisal honest (56% GM, 11% CM2)? · 03 objectives vs resources (₹85 lakh vs 3 stores)? · 04 4Ps internally consistent? · 05 risk acceptable to the board? · 06 are the controls adequate — and independent?</a:t>
            </a:r>
          </a:p>
        </p:txBody>
      </p:sp>
      <p:sp>
        <p:nvSpPr>
          <p:cNvPr id="31" name="TextBox 30"/>
          <p:cNvSpPr txBox="1"/>
          <p:nvPr/>
        </p:nvSpPr>
        <p:spPr>
          <a:xfrm>
            <a:off x="822960" y="5440680"/>
            <a:ext cx="7543800" cy="457200"/>
          </a:xfrm>
          <a:prstGeom prst="rect">
            <a:avLst/>
          </a:prstGeom>
          <a:noFill/>
        </p:spPr>
        <p:txBody>
          <a:bodyPr wrap="square" anchor="t" lIns="0" rIns="0" tIns="0" bIns="0">
            <a:spAutoFit/>
          </a:bodyPr>
          <a:lstStyle/>
          <a:p>
            <a:pPr algn="l">
              <a:lnSpc>
                <a:spcPct val="115000"/>
              </a:lnSpc>
              <a:spcAft>
                <a:spcPts val="0"/>
              </a:spcAft>
            </a:pPr>
            <a:r>
              <a:rPr sz="819" b="1" i="0">
                <a:solidFill>
                  <a:srgbClr val="221B15"/>
                </a:solidFill>
                <a:latin typeface="Calibri"/>
              </a:rPr>
              <a:t>The fraud: </a:t>
            </a:r>
            <a:r>
              <a:rPr sz="819" b="0" i="0">
                <a:solidFill>
                  <a:srgbClr val="4A443C"/>
                </a:solidFill>
                <a:latin typeface="Calibri"/>
              </a:rPr>
              <a:t>a new CS hire used admin access to create 100%-discount codes, shipped ₹2 lakh of sneakers to friends, quit in a week. Fixes: permissioning done; four-eyes on discounts; weekly anomaly reports; written incident protocol.</a:t>
            </a:r>
          </a:p>
        </p:txBody>
      </p:sp>
      <p:sp>
        <p:nvSpPr>
          <p:cNvPr id="32" name="TextBox 31"/>
          <p:cNvSpPr txBox="1"/>
          <p:nvPr/>
        </p:nvSpPr>
        <p:spPr>
          <a:xfrm>
            <a:off x="822960" y="5989320"/>
            <a:ext cx="7543800" cy="365760"/>
          </a:xfrm>
          <a:prstGeom prst="rect">
            <a:avLst/>
          </a:prstGeom>
          <a:noFill/>
        </p:spPr>
        <p:txBody>
          <a:bodyPr wrap="square" anchor="t" lIns="0" rIns="0" tIns="0" bIns="0">
            <a:spAutoFit/>
          </a:bodyPr>
          <a:lstStyle/>
          <a:p>
            <a:pPr algn="l">
              <a:lnSpc>
                <a:spcPct val="112000"/>
              </a:lnSpc>
              <a:spcAft>
                <a:spcPts val="0"/>
              </a:spcAft>
            </a:pPr>
            <a:r>
              <a:rPr sz="800" b="0" i="0">
                <a:solidFill>
                  <a:srgbClr val="8A8177"/>
                </a:solidFill>
                <a:latin typeface="Calibri"/>
              </a:rPr>
              <a:t>Triggers pre-planned: 2 drops &lt;70% sell-through · karigar utilisation &gt;90% a quarter · runway &lt;6 mo → pause store #3, not marketing · sentiment spike → founder reply in 24 h.</a:t>
            </a:r>
          </a:p>
        </p:txBody>
      </p:sp>
      <p:sp>
        <p:nvSpPr>
          <p:cNvPr id="33" name="Rectangle 32"/>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_v3_ph-workbench.jpg"/>
          <p:cNvPicPr>
            <a:picLocks noChangeAspect="1"/>
          </p:cNvPicPr>
          <p:nvPr/>
        </p:nvPicPr>
        <p:blipFill>
          <a:blip r:embed="rId2"/>
          <a:stretch>
            <a:fillRect/>
          </a:stretch>
        </p:blipFill>
        <p:spPr>
          <a:xfrm>
            <a:off x="8732520" y="1828800"/>
            <a:ext cx="2651760" cy="4297680"/>
          </a:xfrm>
          <a:prstGeom prst="rect">
            <a:avLst/>
          </a:prstGeom>
        </p:spPr>
      </p:pic>
      <p:sp>
        <p:nvSpPr>
          <p:cNvPr id="35" name="TextBox 34"/>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Operational control lives at the bench — where the orders are 'paid'.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058400" cy="228600"/>
          </a:xfrm>
          <a:prstGeom prst="rect">
            <a:avLst/>
          </a:prstGeom>
          <a:noFill/>
        </p:spPr>
        <p:txBody>
          <a:bodyPr wrap="square" anchor="t" lIns="0" rIns="0" tIns="0" bIns="0">
            <a:spAutoFit/>
          </a:bodyPr>
          <a:lstStyle/>
          <a:p>
            <a:pPr algn="l">
              <a:lnSpc>
                <a:spcPct val="115000"/>
              </a:lnSpc>
              <a:spcAft>
                <a:spcPts val="0"/>
              </a:spcAft>
            </a:pPr>
            <a:r>
              <a:rPr sz="1000" b="1" i="0" spc="250">
                <a:solidFill>
                  <a:srgbClr val="8C6248"/>
                </a:solidFill>
                <a:latin typeface="Calibri"/>
              </a:rPr>
              <a:t>CONCLUSION</a:t>
            </a:r>
          </a:p>
        </p:txBody>
      </p:sp>
      <p:sp>
        <p:nvSpPr>
          <p:cNvPr id="4" name="TextBox 3"/>
          <p:cNvSpPr txBox="1"/>
          <p:nvPr/>
        </p:nvSpPr>
        <p:spPr>
          <a:xfrm>
            <a:off x="822960" y="896112"/>
            <a:ext cx="10607040" cy="731520"/>
          </a:xfrm>
          <a:prstGeom prst="rect">
            <a:avLst/>
          </a:prstGeom>
          <a:noFill/>
        </p:spPr>
        <p:txBody>
          <a:bodyPr wrap="square" anchor="t" lIns="0" rIns="0" tIns="0" bIns="0">
            <a:spAutoFit/>
          </a:bodyPr>
          <a:lstStyle/>
          <a:p>
            <a:pPr algn="l">
              <a:lnSpc>
                <a:spcPct val="115000"/>
              </a:lnSpc>
              <a:spcAft>
                <a:spcPts val="0"/>
              </a:spcAft>
            </a:pPr>
            <a:r>
              <a:rPr sz="2900" b="0" i="0">
                <a:solidFill>
                  <a:srgbClr val="221B15"/>
                </a:solidFill>
                <a:latin typeface="Georgia"/>
              </a:rPr>
              <a:t>A real strategy; three things between it and scale.</a:t>
            </a:r>
          </a:p>
        </p:txBody>
      </p:sp>
      <p:sp>
        <p:nvSpPr>
          <p:cNvPr id="5" name="Rectangle 4"/>
          <p:cNvSpPr/>
          <p:nvPr/>
        </p:nvSpPr>
        <p:spPr>
          <a:xfrm>
            <a:off x="822960" y="1627632"/>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7" name="TextBox 6"/>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14 / 15</a:t>
            </a:r>
          </a:p>
        </p:txBody>
      </p:sp>
      <p:sp>
        <p:nvSpPr>
          <p:cNvPr id="8" name="TextBox 7"/>
          <p:cNvSpPr txBox="1"/>
          <p:nvPr/>
        </p:nvSpPr>
        <p:spPr>
          <a:xfrm>
            <a:off x="822960" y="1847088"/>
            <a:ext cx="2392680" cy="228600"/>
          </a:xfrm>
          <a:prstGeom prst="rect">
            <a:avLst/>
          </a:prstGeom>
          <a:noFill/>
        </p:spPr>
        <p:txBody>
          <a:bodyPr wrap="square" anchor="t" lIns="0" rIns="0" tIns="0" bIns="0">
            <a:spAutoFit/>
          </a:bodyPr>
          <a:lstStyle/>
          <a:p>
            <a:pPr algn="l">
              <a:lnSpc>
                <a:spcPct val="115000"/>
              </a:lnSpc>
              <a:spcAft>
                <a:spcPts val="0"/>
              </a:spcAft>
            </a:pPr>
            <a:r>
              <a:rPr sz="880" b="1" i="0" spc="150">
                <a:solidFill>
                  <a:srgbClr val="8C6248"/>
                </a:solidFill>
                <a:latin typeface="Calibri"/>
              </a:rPr>
              <a:t>WHAT IS WORKING</a:t>
            </a:r>
          </a:p>
        </p:txBody>
      </p:sp>
      <p:sp>
        <p:nvSpPr>
          <p:cNvPr id="9" name="Rectangle 8"/>
          <p:cNvSpPr/>
          <p:nvPr/>
        </p:nvSpPr>
        <p:spPr>
          <a:xfrm>
            <a:off x="822960" y="2084831"/>
            <a:ext cx="23926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2194560"/>
            <a:ext cx="2392680" cy="1463040"/>
          </a:xfrm>
          <a:prstGeom prst="rect">
            <a:avLst/>
          </a:prstGeom>
          <a:noFill/>
        </p:spPr>
        <p:txBody>
          <a:bodyPr wrap="square" anchor="t" lIns="0" rIns="0" tIns="0" bIns="0">
            <a:spAutoFit/>
          </a:bodyPr>
          <a:lstStyle/>
          <a:p>
            <a:pPr algn="l">
              <a:lnSpc>
                <a:spcPct val="125000"/>
              </a:lnSpc>
              <a:spcAft>
                <a:spcPts val="0"/>
              </a:spcAft>
            </a:pPr>
            <a:r>
              <a:rPr sz="819" b="0" i="0">
                <a:solidFill>
                  <a:srgbClr val="4A443C"/>
                </a:solidFill>
                <a:latin typeface="Calibri"/>
              </a:rPr>
              <a:t>—  positioning no one else occupies</a:t>
            </a:r>
          </a:p>
          <a:p>
            <a:pPr algn="l">
              <a:lnSpc>
                <a:spcPct val="125000"/>
              </a:lnSpc>
              <a:spcAft>
                <a:spcPts val="0"/>
              </a:spcAft>
            </a:pPr>
            <a:r>
              <a:rPr sz="819" b="0" i="0">
                <a:solidFill>
                  <a:srgbClr val="4A443C"/>
                </a:solidFill>
                <a:latin typeface="Calibri"/>
              </a:rPr>
              <a:t>—  56% gross margin — the price is accepted</a:t>
            </a:r>
          </a:p>
          <a:p>
            <a:pPr algn="l">
              <a:lnSpc>
                <a:spcPct val="125000"/>
              </a:lnSpc>
              <a:spcAft>
                <a:spcPts val="0"/>
              </a:spcAft>
            </a:pPr>
            <a:r>
              <a:rPr sz="819" b="0" i="0">
                <a:solidFill>
                  <a:srgbClr val="4A443C"/>
                </a:solidFill>
                <a:latin typeface="Calibri"/>
              </a:rPr>
              <a:t>—  vertical integration = quality + duty shield</a:t>
            </a:r>
          </a:p>
          <a:p>
            <a:pPr algn="l">
              <a:lnSpc>
                <a:spcPct val="125000"/>
              </a:lnSpc>
              <a:spcAft>
                <a:spcPts val="0"/>
              </a:spcAft>
            </a:pPr>
            <a:r>
              <a:rPr sz="819" b="0" i="0">
                <a:solidFill>
                  <a:srgbClr val="4A443C"/>
                </a:solidFill>
                <a:latin typeface="Calibri"/>
              </a:rPr>
              <a:t>—  real growth: 20 lakh → 2.9 Cr → 16 Cr</a:t>
            </a:r>
          </a:p>
        </p:txBody>
      </p:sp>
      <p:sp>
        <p:nvSpPr>
          <p:cNvPr id="11" name="TextBox 10"/>
          <p:cNvSpPr txBox="1"/>
          <p:nvPr/>
        </p:nvSpPr>
        <p:spPr>
          <a:xfrm>
            <a:off x="3398520" y="1847088"/>
            <a:ext cx="2392680" cy="228600"/>
          </a:xfrm>
          <a:prstGeom prst="rect">
            <a:avLst/>
          </a:prstGeom>
          <a:noFill/>
        </p:spPr>
        <p:txBody>
          <a:bodyPr wrap="square" anchor="t" lIns="0" rIns="0" tIns="0" bIns="0">
            <a:spAutoFit/>
          </a:bodyPr>
          <a:lstStyle/>
          <a:p>
            <a:pPr algn="l">
              <a:lnSpc>
                <a:spcPct val="115000"/>
              </a:lnSpc>
              <a:spcAft>
                <a:spcPts val="0"/>
              </a:spcAft>
            </a:pPr>
            <a:r>
              <a:rPr sz="880" b="1" i="0" spc="150">
                <a:solidFill>
                  <a:srgbClr val="8C6248"/>
                </a:solidFill>
                <a:latin typeface="Calibri"/>
              </a:rPr>
              <a:t>WHAT IS NOT</a:t>
            </a:r>
          </a:p>
        </p:txBody>
      </p:sp>
      <p:sp>
        <p:nvSpPr>
          <p:cNvPr id="12" name="Rectangle 11"/>
          <p:cNvSpPr/>
          <p:nvPr/>
        </p:nvSpPr>
        <p:spPr>
          <a:xfrm>
            <a:off x="3398520" y="2084831"/>
            <a:ext cx="23926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98520" y="2194560"/>
            <a:ext cx="2392680" cy="1463040"/>
          </a:xfrm>
          <a:prstGeom prst="rect">
            <a:avLst/>
          </a:prstGeom>
          <a:noFill/>
        </p:spPr>
        <p:txBody>
          <a:bodyPr wrap="square" anchor="t" lIns="0" rIns="0" tIns="0" bIns="0">
            <a:spAutoFit/>
          </a:bodyPr>
          <a:lstStyle/>
          <a:p>
            <a:pPr algn="l">
              <a:lnSpc>
                <a:spcPct val="125000"/>
              </a:lnSpc>
              <a:spcAft>
                <a:spcPts val="0"/>
              </a:spcAft>
            </a:pPr>
            <a:r>
              <a:rPr sz="819" b="0" i="0">
                <a:solidFill>
                  <a:srgbClr val="4A443C"/>
                </a:solidFill>
                <a:latin typeface="Calibri"/>
              </a:rPr>
              <a:t>—  11% CM2 — marketing buys every order</a:t>
            </a:r>
          </a:p>
          <a:p>
            <a:pPr algn="l">
              <a:lnSpc>
                <a:spcPct val="125000"/>
              </a:lnSpc>
              <a:spcAft>
                <a:spcPts val="0"/>
              </a:spcAft>
            </a:pPr>
            <a:r>
              <a:rPr sz="819" b="0" i="0">
                <a:solidFill>
                  <a:srgbClr val="4A443C"/>
                </a:solidFill>
                <a:latin typeface="Calibri"/>
              </a:rPr>
              <a:t>—  capacity capped by trained hands</a:t>
            </a:r>
          </a:p>
          <a:p>
            <a:pPr algn="l">
              <a:lnSpc>
                <a:spcPct val="125000"/>
              </a:lnSpc>
              <a:spcAft>
                <a:spcPts val="0"/>
              </a:spcAft>
            </a:pPr>
            <a:r>
              <a:rPr sz="819" b="0" i="0">
                <a:solidFill>
                  <a:srgbClr val="4A443C"/>
                </a:solidFill>
                <a:latin typeface="Calibri"/>
              </a:rPr>
              <a:t>—  ₹85 lakh vs a three-city build-out</a:t>
            </a:r>
          </a:p>
          <a:p>
            <a:pPr algn="l">
              <a:lnSpc>
                <a:spcPct val="125000"/>
              </a:lnSpc>
              <a:spcAft>
                <a:spcPts val="0"/>
              </a:spcAft>
            </a:pPr>
            <a:r>
              <a:rPr sz="819" b="0" i="0">
                <a:solidFill>
                  <a:srgbClr val="4A443C"/>
                </a:solidFill>
                <a:latin typeface="Calibri"/>
              </a:rPr>
              <a:t>—  governance proven fragile once</a:t>
            </a:r>
          </a:p>
        </p:txBody>
      </p:sp>
      <p:sp>
        <p:nvSpPr>
          <p:cNvPr id="14" name="TextBox 13"/>
          <p:cNvSpPr txBox="1"/>
          <p:nvPr/>
        </p:nvSpPr>
        <p:spPr>
          <a:xfrm>
            <a:off x="5974080" y="1847088"/>
            <a:ext cx="2392680" cy="228600"/>
          </a:xfrm>
          <a:prstGeom prst="rect">
            <a:avLst/>
          </a:prstGeom>
          <a:noFill/>
        </p:spPr>
        <p:txBody>
          <a:bodyPr wrap="square" anchor="t" lIns="0" rIns="0" tIns="0" bIns="0">
            <a:spAutoFit/>
          </a:bodyPr>
          <a:lstStyle/>
          <a:p>
            <a:pPr algn="l">
              <a:lnSpc>
                <a:spcPct val="115000"/>
              </a:lnSpc>
              <a:spcAft>
                <a:spcPts val="0"/>
              </a:spcAft>
            </a:pPr>
            <a:r>
              <a:rPr sz="880" b="1" i="0" spc="150">
                <a:solidFill>
                  <a:srgbClr val="8C6248"/>
                </a:solidFill>
                <a:latin typeface="Calibri"/>
              </a:rPr>
              <a:t>OUR VERDICT</a:t>
            </a:r>
          </a:p>
        </p:txBody>
      </p:sp>
      <p:sp>
        <p:nvSpPr>
          <p:cNvPr id="15" name="Rectangle 14"/>
          <p:cNvSpPr/>
          <p:nvPr/>
        </p:nvSpPr>
        <p:spPr>
          <a:xfrm>
            <a:off x="5974080" y="2084831"/>
            <a:ext cx="239268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974080" y="2194560"/>
            <a:ext cx="2392680" cy="1463040"/>
          </a:xfrm>
          <a:prstGeom prst="rect">
            <a:avLst/>
          </a:prstGeom>
          <a:noFill/>
        </p:spPr>
        <p:txBody>
          <a:bodyPr wrap="square" anchor="t" lIns="0" rIns="0" tIns="0" bIns="0">
            <a:spAutoFit/>
          </a:bodyPr>
          <a:lstStyle/>
          <a:p>
            <a:pPr algn="l">
              <a:lnSpc>
                <a:spcPct val="125000"/>
              </a:lnSpc>
              <a:spcAft>
                <a:spcPts val="0"/>
              </a:spcAft>
            </a:pPr>
            <a:r>
              <a:rPr sz="819" b="0" i="0">
                <a:solidFill>
                  <a:srgbClr val="4A443C"/>
                </a:solidFill>
                <a:latin typeface="Calibri"/>
              </a:rPr>
              <a:t>—  culture is a real advantage — but only</a:t>
            </a:r>
          </a:p>
          <a:p>
            <a:pPr algn="l">
              <a:lnSpc>
                <a:spcPct val="125000"/>
              </a:lnSpc>
              <a:spcAft>
                <a:spcPts val="0"/>
              </a:spcAft>
            </a:pPr>
            <a:r>
              <a:rPr sz="819" b="0" i="0">
                <a:solidFill>
                  <a:srgbClr val="4A443C"/>
                </a:solidFill>
                <a:latin typeface="Calibri"/>
              </a:rPr>
              <a:t>—  welded to factory, karigars and store;</a:t>
            </a:r>
          </a:p>
          <a:p>
            <a:pPr algn="l">
              <a:lnSpc>
                <a:spcPct val="125000"/>
              </a:lnSpc>
              <a:spcAft>
                <a:spcPts val="0"/>
              </a:spcAft>
            </a:pPr>
            <a:r>
              <a:rPr sz="819" b="0" i="0">
                <a:solidFill>
                  <a:srgbClr val="4A443C"/>
                </a:solidFill>
                <a:latin typeface="Calibri"/>
              </a:rPr>
              <a:t>—  remove one and it is a marketing line</a:t>
            </a:r>
          </a:p>
          <a:p>
            <a:pPr algn="l">
              <a:lnSpc>
                <a:spcPct val="125000"/>
              </a:lnSpc>
              <a:spcAft>
                <a:spcPts val="0"/>
              </a:spcAft>
            </a:pPr>
            <a:r>
              <a:rPr sz="819" b="0" i="0">
                <a:solidFill>
                  <a:srgbClr val="4A443C"/>
                </a:solidFill>
                <a:latin typeface="Calibri"/>
              </a:rPr>
              <a:t>—  a better-funded rival copies in a season</a:t>
            </a:r>
          </a:p>
        </p:txBody>
      </p:sp>
      <p:sp>
        <p:nvSpPr>
          <p:cNvPr id="17" name="Rectangle 16"/>
          <p:cNvSpPr/>
          <p:nvPr/>
        </p:nvSpPr>
        <p:spPr>
          <a:xfrm>
            <a:off x="822960" y="3886200"/>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2960" y="4023360"/>
            <a:ext cx="548640" cy="365760"/>
          </a:xfrm>
          <a:prstGeom prst="rect">
            <a:avLst/>
          </a:prstGeom>
          <a:noFill/>
        </p:spPr>
        <p:txBody>
          <a:bodyPr wrap="square" anchor="t" lIns="0" rIns="0" tIns="0" bIns="0">
            <a:spAutoFit/>
          </a:bodyPr>
          <a:lstStyle/>
          <a:p>
            <a:pPr algn="l">
              <a:lnSpc>
                <a:spcPct val="115000"/>
              </a:lnSpc>
              <a:spcAft>
                <a:spcPts val="0"/>
              </a:spcAft>
            </a:pPr>
            <a:r>
              <a:rPr sz="1800" b="0" i="0">
                <a:solidFill>
                  <a:srgbClr val="8C6248"/>
                </a:solidFill>
                <a:latin typeface="Georgia"/>
              </a:rPr>
              <a:t>01</a:t>
            </a:r>
          </a:p>
        </p:txBody>
      </p:sp>
      <p:sp>
        <p:nvSpPr>
          <p:cNvPr id="19" name="TextBox 18"/>
          <p:cNvSpPr txBox="1"/>
          <p:nvPr/>
        </p:nvSpPr>
        <p:spPr>
          <a:xfrm>
            <a:off x="1463040" y="4041648"/>
            <a:ext cx="4114800" cy="228600"/>
          </a:xfrm>
          <a:prstGeom prst="rect">
            <a:avLst/>
          </a:prstGeom>
          <a:noFill/>
        </p:spPr>
        <p:txBody>
          <a:bodyPr wrap="square" anchor="t" lIns="0" rIns="0" tIns="0" bIns="0">
            <a:spAutoFit/>
          </a:bodyPr>
          <a:lstStyle/>
          <a:p>
            <a:pPr algn="l">
              <a:lnSpc>
                <a:spcPct val="115000"/>
              </a:lnSpc>
              <a:spcAft>
                <a:spcPts val="0"/>
              </a:spcAft>
            </a:pPr>
            <a:r>
              <a:rPr sz="919" b="1" i="0" spc="130">
                <a:solidFill>
                  <a:srgbClr val="221B15"/>
                </a:solidFill>
                <a:latin typeface="Calibri"/>
              </a:rPr>
              <a:t>TREAT CRAFT LIKE TECHNOLOGY</a:t>
            </a:r>
          </a:p>
        </p:txBody>
      </p:sp>
      <p:sp>
        <p:nvSpPr>
          <p:cNvPr id="20" name="TextBox 19"/>
          <p:cNvSpPr txBox="1"/>
          <p:nvPr/>
        </p:nvSpPr>
        <p:spPr>
          <a:xfrm>
            <a:off x="1463040" y="4297680"/>
            <a:ext cx="6903720" cy="411480"/>
          </a:xfrm>
          <a:prstGeom prst="rect">
            <a:avLst/>
          </a:prstGeom>
          <a:noFill/>
        </p:spPr>
        <p:txBody>
          <a:bodyPr wrap="square" anchor="t" lIns="0" rIns="0" tIns="0" bIns="0">
            <a:spAutoFit/>
          </a:bodyPr>
          <a:lstStyle/>
          <a:p>
            <a:pPr algn="l">
              <a:lnSpc>
                <a:spcPct val="112000"/>
              </a:lnSpc>
              <a:spcAft>
                <a:spcPts val="0"/>
              </a:spcAft>
            </a:pPr>
            <a:r>
              <a:rPr sz="840" b="0" i="0">
                <a:solidFill>
                  <a:srgbClr val="4A443C"/>
                </a:solidFill>
                <a:latin typeface="Calibri"/>
              </a:rPr>
              <a:t>a karigar academy: certification, retention-linked pay, a documented pipeline — capacity is the ceiling, and the only lever that doesn’t dilute the hand-made claim</a:t>
            </a:r>
          </a:p>
        </p:txBody>
      </p:sp>
      <p:sp>
        <p:nvSpPr>
          <p:cNvPr id="21" name="Rectangle 20"/>
          <p:cNvSpPr/>
          <p:nvPr/>
        </p:nvSpPr>
        <p:spPr>
          <a:xfrm>
            <a:off x="822960" y="4736592"/>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2960" y="4782312"/>
            <a:ext cx="548640" cy="365760"/>
          </a:xfrm>
          <a:prstGeom prst="rect">
            <a:avLst/>
          </a:prstGeom>
          <a:noFill/>
        </p:spPr>
        <p:txBody>
          <a:bodyPr wrap="square" anchor="t" lIns="0" rIns="0" tIns="0" bIns="0">
            <a:spAutoFit/>
          </a:bodyPr>
          <a:lstStyle/>
          <a:p>
            <a:pPr algn="l">
              <a:lnSpc>
                <a:spcPct val="115000"/>
              </a:lnSpc>
              <a:spcAft>
                <a:spcPts val="0"/>
              </a:spcAft>
            </a:pPr>
            <a:r>
              <a:rPr sz="1800" b="0" i="0">
                <a:solidFill>
                  <a:srgbClr val="8C6248"/>
                </a:solidFill>
                <a:latin typeface="Georgia"/>
              </a:rPr>
              <a:t>02</a:t>
            </a:r>
          </a:p>
        </p:txBody>
      </p:sp>
      <p:sp>
        <p:nvSpPr>
          <p:cNvPr id="23" name="TextBox 22"/>
          <p:cNvSpPr txBox="1"/>
          <p:nvPr/>
        </p:nvSpPr>
        <p:spPr>
          <a:xfrm>
            <a:off x="1463040" y="4800600"/>
            <a:ext cx="4114800" cy="228600"/>
          </a:xfrm>
          <a:prstGeom prst="rect">
            <a:avLst/>
          </a:prstGeom>
          <a:noFill/>
        </p:spPr>
        <p:txBody>
          <a:bodyPr wrap="square" anchor="t" lIns="0" rIns="0" tIns="0" bIns="0">
            <a:spAutoFit/>
          </a:bodyPr>
          <a:lstStyle/>
          <a:p>
            <a:pPr algn="l">
              <a:lnSpc>
                <a:spcPct val="115000"/>
              </a:lnSpc>
              <a:spcAft>
                <a:spcPts val="0"/>
              </a:spcAft>
            </a:pPr>
            <a:r>
              <a:rPr sz="919" b="1" i="0" spc="130">
                <a:solidFill>
                  <a:srgbClr val="221B15"/>
                </a:solidFill>
                <a:latin typeface="Calibri"/>
              </a:rPr>
              <a:t>MAKE EXPORTS THE MARGIN ENGINE</a:t>
            </a:r>
          </a:p>
        </p:txBody>
      </p:sp>
      <p:sp>
        <p:nvSpPr>
          <p:cNvPr id="24" name="TextBox 23"/>
          <p:cNvSpPr txBox="1"/>
          <p:nvPr/>
        </p:nvSpPr>
        <p:spPr>
          <a:xfrm>
            <a:off x="1463040" y="5056632"/>
            <a:ext cx="6903720" cy="411480"/>
          </a:xfrm>
          <a:prstGeom prst="rect">
            <a:avLst/>
          </a:prstGeom>
          <a:noFill/>
        </p:spPr>
        <p:txBody>
          <a:bodyPr wrap="square" anchor="t" lIns="0" rIns="0" tIns="0" bIns="0">
            <a:spAutoFit/>
          </a:bodyPr>
          <a:lstStyle/>
          <a:p>
            <a:pPr algn="l">
              <a:lnSpc>
                <a:spcPct val="112000"/>
              </a:lnSpc>
              <a:spcAft>
                <a:spcPts val="0"/>
              </a:spcAft>
            </a:pPr>
            <a:r>
              <a:rPr sz="840" b="0" i="0">
                <a:solidFill>
                  <a:srgbClr val="4A443C"/>
                </a:solidFill>
                <a:latin typeface="Calibri"/>
              </a:rPr>
              <a:t>the diaspora pays $140–220 with no 18% slab and lower CAC; target 35% exports; a US pop-up before a permanent store</a:t>
            </a:r>
          </a:p>
        </p:txBody>
      </p:sp>
      <p:sp>
        <p:nvSpPr>
          <p:cNvPr id="25" name="Rectangle 24"/>
          <p:cNvSpPr/>
          <p:nvPr/>
        </p:nvSpPr>
        <p:spPr>
          <a:xfrm>
            <a:off x="822960" y="5495544"/>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22960" y="5541264"/>
            <a:ext cx="548640" cy="365760"/>
          </a:xfrm>
          <a:prstGeom prst="rect">
            <a:avLst/>
          </a:prstGeom>
          <a:noFill/>
        </p:spPr>
        <p:txBody>
          <a:bodyPr wrap="square" anchor="t" lIns="0" rIns="0" tIns="0" bIns="0">
            <a:spAutoFit/>
          </a:bodyPr>
          <a:lstStyle/>
          <a:p>
            <a:pPr algn="l">
              <a:lnSpc>
                <a:spcPct val="115000"/>
              </a:lnSpc>
              <a:spcAft>
                <a:spcPts val="0"/>
              </a:spcAft>
            </a:pPr>
            <a:r>
              <a:rPr sz="1800" b="0" i="0">
                <a:solidFill>
                  <a:srgbClr val="8C6248"/>
                </a:solidFill>
                <a:latin typeface="Georgia"/>
              </a:rPr>
              <a:t>03</a:t>
            </a:r>
          </a:p>
        </p:txBody>
      </p:sp>
      <p:sp>
        <p:nvSpPr>
          <p:cNvPr id="27" name="TextBox 26"/>
          <p:cNvSpPr txBox="1"/>
          <p:nvPr/>
        </p:nvSpPr>
        <p:spPr>
          <a:xfrm>
            <a:off x="1463040" y="5559552"/>
            <a:ext cx="4114800" cy="228600"/>
          </a:xfrm>
          <a:prstGeom prst="rect">
            <a:avLst/>
          </a:prstGeom>
          <a:noFill/>
        </p:spPr>
        <p:txBody>
          <a:bodyPr wrap="square" anchor="t" lIns="0" rIns="0" tIns="0" bIns="0">
            <a:spAutoFit/>
          </a:bodyPr>
          <a:lstStyle/>
          <a:p>
            <a:pPr algn="l">
              <a:lnSpc>
                <a:spcPct val="115000"/>
              </a:lnSpc>
              <a:spcAft>
                <a:spcPts val="0"/>
              </a:spcAft>
            </a:pPr>
            <a:r>
              <a:rPr sz="919" b="1" i="0" spc="130">
                <a:solidFill>
                  <a:srgbClr val="221B15"/>
                </a:solidFill>
                <a:latin typeface="Calibri"/>
              </a:rPr>
              <a:t>PROTECT THE PREMIUM WITH CONTROLS</a:t>
            </a:r>
          </a:p>
        </p:txBody>
      </p:sp>
      <p:sp>
        <p:nvSpPr>
          <p:cNvPr id="28" name="TextBox 27"/>
          <p:cNvSpPr txBox="1"/>
          <p:nvPr/>
        </p:nvSpPr>
        <p:spPr>
          <a:xfrm>
            <a:off x="1463040" y="5815584"/>
            <a:ext cx="6903720" cy="411480"/>
          </a:xfrm>
          <a:prstGeom prst="rect">
            <a:avLst/>
          </a:prstGeom>
          <a:noFill/>
        </p:spPr>
        <p:txBody>
          <a:bodyPr wrap="square" anchor="t" lIns="0" rIns="0" tIns="0" bIns="0">
            <a:spAutoFit/>
          </a:bodyPr>
          <a:lstStyle/>
          <a:p>
            <a:pPr algn="l">
              <a:lnSpc>
                <a:spcPct val="112000"/>
              </a:lnSpc>
              <a:spcAft>
                <a:spcPts val="0"/>
              </a:spcAft>
            </a:pPr>
            <a:r>
              <a:rPr sz="840" b="0" i="0">
                <a:solidFill>
                  <a:srgbClr val="4A443C"/>
                </a:solidFill>
                <a:latin typeface="Calibri"/>
              </a:rPr>
              <a:t>formal discount authority, an independent audit-minded director, a sell-through-based drop calendar — scarcity only works if nobody believes a sale is coming</a:t>
            </a:r>
          </a:p>
        </p:txBody>
      </p:sp>
      <p:sp>
        <p:nvSpPr>
          <p:cNvPr id="29" name="Rectangle 28"/>
          <p:cNvSpPr/>
          <p:nvPr/>
        </p:nvSpPr>
        <p:spPr>
          <a:xfrm>
            <a:off x="822960" y="6254496"/>
            <a:ext cx="7543800"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_v3_ph-hero-pair.jpg"/>
          <p:cNvPicPr>
            <a:picLocks noChangeAspect="1"/>
          </p:cNvPicPr>
          <p:nvPr/>
        </p:nvPicPr>
        <p:blipFill>
          <a:blip r:embed="rId2"/>
          <a:stretch>
            <a:fillRect/>
          </a:stretch>
        </p:blipFill>
        <p:spPr>
          <a:xfrm>
            <a:off x="8732520" y="1828800"/>
            <a:ext cx="2651760" cy="4297680"/>
          </a:xfrm>
          <a:prstGeom prst="rect">
            <a:avLst/>
          </a:prstGeom>
        </p:spPr>
      </p:pic>
      <p:sp>
        <p:nvSpPr>
          <p:cNvPr id="32" name="TextBox 31"/>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The verdict, in leather: premium held, craft kept, controls added.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914400"/>
            <a:ext cx="7315200" cy="914400"/>
          </a:xfrm>
          <a:prstGeom prst="rect">
            <a:avLst/>
          </a:prstGeom>
          <a:noFill/>
        </p:spPr>
        <p:txBody>
          <a:bodyPr wrap="square" anchor="t" lIns="0" rIns="0" tIns="0" bIns="0">
            <a:spAutoFit/>
          </a:bodyPr>
          <a:lstStyle/>
          <a:p>
            <a:pPr algn="l">
              <a:lnSpc>
                <a:spcPct val="115000"/>
              </a:lnSpc>
              <a:spcAft>
                <a:spcPts val="0"/>
              </a:spcAft>
            </a:pPr>
            <a:r>
              <a:rPr sz="4200" b="0" i="0">
                <a:solidFill>
                  <a:srgbClr val="221B15"/>
                </a:solidFill>
                <a:latin typeface="Georgia"/>
              </a:rPr>
              <a:t>Questions?</a:t>
            </a:r>
          </a:p>
        </p:txBody>
      </p:sp>
      <p:sp>
        <p:nvSpPr>
          <p:cNvPr id="4" name="Rectangle 3"/>
          <p:cNvSpPr/>
          <p:nvPr/>
        </p:nvSpPr>
        <p:spPr>
          <a:xfrm>
            <a:off x="822960" y="2011680"/>
            <a:ext cx="10546049" cy="10058"/>
          </a:xfrm>
          <a:prstGeom prst="rect">
            <a:avLst/>
          </a:prstGeom>
          <a:solidFill>
            <a:srgbClr val="CFC5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2194560"/>
            <a:ext cx="7543800" cy="228600"/>
          </a:xfrm>
          <a:prstGeom prst="rect">
            <a:avLst/>
          </a:prstGeom>
          <a:noFill/>
        </p:spPr>
        <p:txBody>
          <a:bodyPr wrap="square" anchor="t" lIns="0" rIns="0" tIns="0" bIns="0">
            <a:spAutoFit/>
          </a:bodyPr>
          <a:lstStyle/>
          <a:p>
            <a:pPr algn="l">
              <a:lnSpc>
                <a:spcPct val="115000"/>
              </a:lnSpc>
              <a:spcAft>
                <a:spcPts val="0"/>
              </a:spcAft>
            </a:pPr>
            <a:r>
              <a:rPr sz="880" b="0" i="0" spc="150">
                <a:solidFill>
                  <a:srgbClr val="8C6248"/>
                </a:solidFill>
                <a:latin typeface="Calibri"/>
              </a:rPr>
              <a:t>IF ASKED ONLY ONE THING</a:t>
            </a:r>
          </a:p>
        </p:txBody>
      </p:sp>
      <p:sp>
        <p:nvSpPr>
          <p:cNvPr id="6" name="TextBox 5"/>
          <p:cNvSpPr txBox="1"/>
          <p:nvPr/>
        </p:nvSpPr>
        <p:spPr>
          <a:xfrm>
            <a:off x="822960" y="2450592"/>
            <a:ext cx="7543800" cy="1280160"/>
          </a:xfrm>
          <a:prstGeom prst="rect">
            <a:avLst/>
          </a:prstGeom>
          <a:noFill/>
        </p:spPr>
        <p:txBody>
          <a:bodyPr wrap="square" anchor="t" lIns="0" rIns="0" tIns="0" bIns="0">
            <a:spAutoFit/>
          </a:bodyPr>
          <a:lstStyle/>
          <a:p>
            <a:pPr algn="l">
              <a:lnSpc>
                <a:spcPct val="125000"/>
              </a:lnSpc>
              <a:spcAft>
                <a:spcPts val="0"/>
              </a:spcAft>
            </a:pPr>
            <a:r>
              <a:rPr sz="1000" b="0" i="1">
                <a:solidFill>
                  <a:srgbClr val="4A443C"/>
                </a:solidFill>
                <a:latin typeface="Georgia"/>
              </a:rPr>
              <a:t>“Is the strategy sustainable?” — The strategy is coherent and the environment favourable; the risk is not strategic but financial and organisational. A brand with 56% gross margin, 11% contribution and ₹85 lakh of cash is one bad quarter from choosing between its stores and its positioning. Evaluation exists to catch that moment early.</a:t>
            </a:r>
          </a:p>
        </p:txBody>
      </p:sp>
      <p:sp>
        <p:nvSpPr>
          <p:cNvPr id="7" name="TextBox 6"/>
          <p:cNvSpPr txBox="1"/>
          <p:nvPr/>
        </p:nvSpPr>
        <p:spPr>
          <a:xfrm>
            <a:off x="822960" y="3977639"/>
            <a:ext cx="7543800" cy="228600"/>
          </a:xfrm>
          <a:prstGeom prst="rect">
            <a:avLst/>
          </a:prstGeom>
          <a:noFill/>
        </p:spPr>
        <p:txBody>
          <a:bodyPr wrap="square" anchor="t" lIns="0" rIns="0" tIns="0" bIns="0">
            <a:spAutoFit/>
          </a:bodyPr>
          <a:lstStyle/>
          <a:p>
            <a:pPr algn="l">
              <a:lnSpc>
                <a:spcPct val="115000"/>
              </a:lnSpc>
              <a:spcAft>
                <a:spcPts val="0"/>
              </a:spcAft>
            </a:pPr>
            <a:r>
              <a:rPr sz="880" b="0" i="0" spc="150">
                <a:solidFill>
                  <a:srgbClr val="8C6248"/>
                </a:solidFill>
                <a:latin typeface="Calibri"/>
              </a:rPr>
              <a:t>BACKUP, READY TO JUMP TO</a:t>
            </a:r>
          </a:p>
        </p:txBody>
      </p:sp>
      <p:sp>
        <p:nvSpPr>
          <p:cNvPr id="8" name="TextBox 7"/>
          <p:cNvSpPr txBox="1"/>
          <p:nvPr/>
        </p:nvSpPr>
        <p:spPr>
          <a:xfrm>
            <a:off x="822960" y="4224528"/>
            <a:ext cx="7543800" cy="731520"/>
          </a:xfrm>
          <a:prstGeom prst="rect">
            <a:avLst/>
          </a:prstGeom>
          <a:noFill/>
        </p:spPr>
        <p:txBody>
          <a:bodyPr wrap="square" anchor="t" lIns="0" rIns="0" tIns="0" bIns="0">
            <a:spAutoFit/>
          </a:bodyPr>
          <a:lstStyle/>
          <a:p>
            <a:pPr algn="l">
              <a:lnSpc>
                <a:spcPct val="120000"/>
              </a:lnSpc>
              <a:spcAft>
                <a:spcPts val="0"/>
              </a:spcAft>
            </a:pPr>
            <a:r>
              <a:rPr sz="860" b="0" i="0">
                <a:solidFill>
                  <a:srgbClr val="4A443C"/>
                </a:solidFill>
                <a:latin typeface="Calibri"/>
              </a:rPr>
              <a:t>unit economics (100→56→46→11) · funding &amp; cap table (₹8.7 Cr seed · ₹26.5 Cr A @ ₹147 Cr · Shark Tank ₹175 Cr) · GST math (~₹600–1,200/pair) · competitor deep-dive (Comet ₹29 Cr FY25) · why own the factory (35% duty shield)</a:t>
            </a:r>
          </a:p>
        </p:txBody>
      </p:sp>
      <p:sp>
        <p:nvSpPr>
          <p:cNvPr id="9" name="TextBox 8"/>
          <p:cNvSpPr txBox="1"/>
          <p:nvPr/>
        </p:nvSpPr>
        <p:spPr>
          <a:xfrm>
            <a:off x="822960" y="5029200"/>
            <a:ext cx="7543800" cy="228600"/>
          </a:xfrm>
          <a:prstGeom prst="rect">
            <a:avLst/>
          </a:prstGeom>
          <a:noFill/>
        </p:spPr>
        <p:txBody>
          <a:bodyPr wrap="square" anchor="t" lIns="0" rIns="0" tIns="0" bIns="0">
            <a:spAutoFit/>
          </a:bodyPr>
          <a:lstStyle/>
          <a:p>
            <a:pPr algn="l">
              <a:lnSpc>
                <a:spcPct val="115000"/>
              </a:lnSpc>
              <a:spcAft>
                <a:spcPts val="0"/>
              </a:spcAft>
            </a:pPr>
            <a:r>
              <a:rPr sz="880" b="0" i="0" spc="150">
                <a:solidFill>
                  <a:srgbClr val="8C6248"/>
                </a:solidFill>
                <a:latin typeface="Calibri"/>
              </a:rPr>
              <a:t>SOURCES CHECKED FOR THIS STUDY</a:t>
            </a:r>
          </a:p>
        </p:txBody>
      </p:sp>
      <p:sp>
        <p:nvSpPr>
          <p:cNvPr id="10" name="TextBox 9"/>
          <p:cNvSpPr txBox="1"/>
          <p:nvPr/>
        </p:nvSpPr>
        <p:spPr>
          <a:xfrm>
            <a:off x="822960" y="5266944"/>
            <a:ext cx="7543800" cy="1005840"/>
          </a:xfrm>
          <a:prstGeom prst="rect">
            <a:avLst/>
          </a:prstGeom>
          <a:noFill/>
        </p:spPr>
        <p:txBody>
          <a:bodyPr wrap="square" anchor="t" lIns="0" rIns="0" tIns="0" bIns="0">
            <a:spAutoFit/>
          </a:bodyPr>
          <a:lstStyle/>
          <a:p>
            <a:pPr algn="l">
              <a:lnSpc>
                <a:spcPct val="120000"/>
              </a:lnSpc>
              <a:spcAft>
                <a:spcPts val="200"/>
              </a:spcAft>
            </a:pPr>
            <a:r>
              <a:rPr sz="800" b="0" i="0">
                <a:solidFill>
                  <a:srgbClr val="4A443C"/>
                </a:solidFill>
                <a:latin typeface="Calibri"/>
              </a:rPr>
              <a:t>gullylabs.com · global.gullylabs.com (story, pricing, ranges) · @GullyLabs on X — 3,640 followers, to 19 Sep 2026</a:t>
            </a:r>
          </a:p>
          <a:p>
            <a:pPr algn="l">
              <a:lnSpc>
                <a:spcPct val="120000"/>
              </a:lnSpc>
              <a:spcAft>
                <a:spcPts val="200"/>
              </a:spcAft>
            </a:pPr>
            <a:r>
              <a:rPr sz="800" b="0" i="0">
                <a:solidFill>
                  <a:srgbClr val="4A443C"/>
                </a:solidFill>
                <a:latin typeface="Calibri"/>
              </a:rPr>
              <a:t>Financial Express, 28 Jan 2026 — FY24/25 financials, unit economics · Inc42, 23 Jan 2026 — founding, capacity, FY26/27 targets</a:t>
            </a:r>
          </a:p>
          <a:p>
            <a:pPr algn="l">
              <a:lnSpc>
                <a:spcPct val="120000"/>
              </a:lnSpc>
              <a:spcAft>
                <a:spcPts val="200"/>
              </a:spcAft>
            </a:pPr>
            <a:r>
              <a:rPr sz="800" b="0" i="0">
                <a:solidFill>
                  <a:srgbClr val="4A443C"/>
                </a:solidFill>
                <a:latin typeface="Calibri"/>
              </a:rPr>
              <a:t>Indian Retailer — seed, Series A, flagship store · Mint, 22 Feb 2026 — the ₹2 lakh fraud</a:t>
            </a:r>
          </a:p>
          <a:p>
            <a:pPr algn="l">
              <a:lnSpc>
                <a:spcPct val="120000"/>
              </a:lnSpc>
              <a:spcAft>
                <a:spcPts val="200"/>
              </a:spcAft>
            </a:pPr>
            <a:r>
              <a:rPr sz="800" b="0" i="0">
                <a:solidFill>
                  <a:srgbClr val="4A443C"/>
                </a:solidFill>
                <a:latin typeface="Calibri"/>
              </a:rPr>
              <a:t>PIB, Sep 2025 — GST rationalisation · Tracxn — competitor set · AD India — flagship interior (photo)</a:t>
            </a:r>
          </a:p>
        </p:txBody>
      </p:sp>
      <p:sp>
        <p:nvSpPr>
          <p:cNvPr id="11" name="TextBox 10"/>
          <p:cNvSpPr txBox="1"/>
          <p:nvPr/>
        </p:nvSpPr>
        <p:spPr>
          <a:xfrm>
            <a:off x="822960" y="6199632"/>
            <a:ext cx="7543800" cy="228600"/>
          </a:xfrm>
          <a:prstGeom prst="rect">
            <a:avLst/>
          </a:prstGeom>
          <a:noFill/>
        </p:spPr>
        <p:txBody>
          <a:bodyPr wrap="square" anchor="t" lIns="0" rIns="0" tIns="0" bIns="0">
            <a:spAutoFit/>
          </a:bodyPr>
          <a:lstStyle/>
          <a:p>
            <a:pPr algn="l">
              <a:lnSpc>
                <a:spcPct val="115000"/>
              </a:lnSpc>
              <a:spcAft>
                <a:spcPts val="0"/>
              </a:spcAft>
            </a:pPr>
            <a:r>
              <a:rPr sz="860" b="0" i="0">
                <a:solidFill>
                  <a:srgbClr val="8A8177"/>
                </a:solidFill>
                <a:latin typeface="Calibri"/>
              </a:rPr>
              <a:t>Thank you — Aisha · Rohan · Meera · Kabir · Business Policy &amp; Strategic Management, September 2026</a:t>
            </a:r>
          </a:p>
        </p:txBody>
      </p:sp>
      <p:sp>
        <p:nvSpPr>
          <p:cNvPr id="12" name="Rectangle 11"/>
          <p:cNvSpPr/>
          <p:nvPr/>
        </p:nvSpPr>
        <p:spPr>
          <a:xfrm>
            <a:off x="8805672" y="1901952"/>
            <a:ext cx="2651760" cy="4297680"/>
          </a:xfrm>
          <a:prstGeom prst="rect">
            <a:avLst/>
          </a:prstGeom>
          <a:noFill/>
          <a:ln w="12700">
            <a:solidFill>
              <a:srgbClr val="8C62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_v3_ph-sneaker-store.jpg"/>
          <p:cNvPicPr>
            <a:picLocks noChangeAspect="1"/>
          </p:cNvPicPr>
          <p:nvPr/>
        </p:nvPicPr>
        <p:blipFill>
          <a:blip r:embed="rId2"/>
          <a:stretch>
            <a:fillRect/>
          </a:stretch>
        </p:blipFill>
        <p:spPr>
          <a:xfrm>
            <a:off x="8732520" y="1828800"/>
            <a:ext cx="2651760" cy="4297680"/>
          </a:xfrm>
          <a:prstGeom prst="rect">
            <a:avLst/>
          </a:prstGeom>
        </p:spPr>
      </p:pic>
      <p:sp>
        <p:nvSpPr>
          <p:cNvPr id="14" name="TextBox 13"/>
          <p:cNvSpPr txBox="1"/>
          <p:nvPr/>
        </p:nvSpPr>
        <p:spPr>
          <a:xfrm>
            <a:off x="8732520" y="6199632"/>
            <a:ext cx="3017520" cy="228600"/>
          </a:xfrm>
          <a:prstGeom prst="rect">
            <a:avLst/>
          </a:prstGeom>
          <a:noFill/>
        </p:spPr>
        <p:txBody>
          <a:bodyPr wrap="square" anchor="t" lIns="0" rIns="0" tIns="0" bIns="0">
            <a:spAutoFit/>
          </a:bodyPr>
          <a:lstStyle/>
          <a:p>
            <a:pPr algn="l">
              <a:lnSpc>
                <a:spcPct val="100000"/>
              </a:lnSpc>
              <a:spcAft>
                <a:spcPts val="0"/>
              </a:spcAft>
            </a:pPr>
            <a:r>
              <a:rPr sz="760" b="0" i="0">
                <a:solidFill>
                  <a:srgbClr val="8A8177"/>
                </a:solidFill>
                <a:latin typeface="Calibri"/>
              </a:rPr>
              <a:t>Every wall in this category is a portfolio — yours must be a story.</a:t>
            </a:r>
          </a:p>
        </p:txBody>
      </p:sp>
      <p:sp>
        <p:nvSpPr>
          <p:cNvPr id="15" name="TextBox 14"/>
          <p:cNvSpPr txBox="1"/>
          <p:nvPr/>
        </p:nvSpPr>
        <p:spPr>
          <a:xfrm>
            <a:off x="822960" y="6455664"/>
            <a:ext cx="6400800" cy="182880"/>
          </a:xfrm>
          <a:prstGeom prst="rect">
            <a:avLst/>
          </a:prstGeom>
          <a:noFill/>
        </p:spPr>
        <p:txBody>
          <a:bodyPr wrap="square" anchor="t" lIns="0" rIns="0" tIns="0" bIns="0">
            <a:spAutoFit/>
          </a:bodyPr>
          <a:lstStyle/>
          <a:p>
            <a:pPr algn="l">
              <a:lnSpc>
                <a:spcPct val="115000"/>
              </a:lnSpc>
              <a:spcAft>
                <a:spcPts val="0"/>
              </a:spcAft>
            </a:pPr>
            <a:r>
              <a:rPr sz="850" b="0" i="0" spc="150">
                <a:solidFill>
                  <a:srgbClr val="8A8177"/>
                </a:solidFill>
                <a:latin typeface="Calibri"/>
              </a:rPr>
              <a:t>GULLY LABS — CULTURE AS CAPITAL</a:t>
            </a:r>
          </a:p>
        </p:txBody>
      </p:sp>
      <p:sp>
        <p:nvSpPr>
          <p:cNvPr id="16" name="TextBox 15"/>
          <p:cNvSpPr txBox="1"/>
          <p:nvPr/>
        </p:nvSpPr>
        <p:spPr>
          <a:xfrm>
            <a:off x="10088849" y="6455664"/>
            <a:ext cx="1280160" cy="182880"/>
          </a:xfrm>
          <a:prstGeom prst="rect">
            <a:avLst/>
          </a:prstGeom>
          <a:noFill/>
        </p:spPr>
        <p:txBody>
          <a:bodyPr wrap="square" anchor="t" lIns="0" rIns="0" tIns="0" bIns="0">
            <a:spAutoFit/>
          </a:bodyPr>
          <a:lstStyle/>
          <a:p>
            <a:pPr algn="r">
              <a:lnSpc>
                <a:spcPct val="115000"/>
              </a:lnSpc>
              <a:spcAft>
                <a:spcPts val="0"/>
              </a:spcAft>
            </a:pPr>
            <a:r>
              <a:rPr sz="850" b="0" i="0" spc="150">
                <a:solidFill>
                  <a:srgbClr val="8A8177"/>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